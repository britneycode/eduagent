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-91440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1439" y="228600"/>
            <a:ext cx="1463041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97279" y="228600"/>
            <a:ext cx="1463041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210312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10896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411480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12064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12648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13232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13816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14400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14984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50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" y="1828800"/>
            <a:ext cx="11430000" cy="0"/>
          </a:xfrm>
          <a:prstGeom prst="line">
            <a:avLst/>
          </a:prstGeom>
          <a:ln w="50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" y="2743200"/>
            <a:ext cx="11430000" cy="0"/>
          </a:xfrm>
          <a:prstGeom prst="line">
            <a:avLst/>
          </a:prstGeom>
          <a:ln w="50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65760" y="3657600"/>
            <a:ext cx="11430000" cy="0"/>
          </a:xfrm>
          <a:prstGeom prst="line">
            <a:avLst/>
          </a:prstGeom>
          <a:ln w="50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5760" y="4572000"/>
            <a:ext cx="11430000" cy="0"/>
          </a:xfrm>
          <a:prstGeom prst="line">
            <a:avLst/>
          </a:prstGeom>
          <a:ln w="50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5760" y="5486400"/>
            <a:ext cx="11430000" cy="0"/>
          </a:xfrm>
          <a:prstGeom prst="line">
            <a:avLst/>
          </a:prstGeom>
          <a:ln w="50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583680" y="1188720"/>
            <a:ext cx="621792" cy="62179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381475"/>
            <a:ext cx="621792" cy="217627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1993392"/>
            <a:ext cx="1170432" cy="16459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894576" y="1499616"/>
            <a:ext cx="1737360" cy="502920"/>
          </a:xfrm>
          <a:prstGeom prst="line">
            <a:avLst/>
          </a:prstGeom>
          <a:ln w="12700">
            <a:solidFill>
              <a:srgbClr val="08D6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321040" y="1691640"/>
            <a:ext cx="621792" cy="62179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884395"/>
            <a:ext cx="621792" cy="217627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2496312"/>
            <a:ext cx="1170432" cy="16459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8631936" y="1389888"/>
            <a:ext cx="1600200" cy="612648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921240" y="1078992"/>
            <a:ext cx="621792" cy="62179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40" y="1271747"/>
            <a:ext cx="621792" cy="217627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65208" y="1883664"/>
            <a:ext cx="1170432" cy="16459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H="1">
            <a:off x="7671816" y="1389888"/>
            <a:ext cx="2560320" cy="1709927"/>
          </a:xfrm>
          <a:prstGeom prst="line">
            <a:avLst/>
          </a:prstGeom>
          <a:ln w="12700">
            <a:solidFill>
              <a:srgbClr val="08C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360920" y="2788920"/>
            <a:ext cx="621792" cy="62179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2981675"/>
            <a:ext cx="621792" cy="217627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04888" y="3593591"/>
            <a:ext cx="1170432" cy="16459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7671816" y="3099815"/>
            <a:ext cx="1828800" cy="274321"/>
          </a:xfrm>
          <a:prstGeom prst="line">
            <a:avLst/>
          </a:prstGeom>
          <a:ln w="12700">
            <a:solidFill>
              <a:srgbClr val="F5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9189720" y="3063240"/>
            <a:ext cx="621792" cy="62179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3255995"/>
            <a:ext cx="621792" cy="217627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33688" y="3867912"/>
            <a:ext cx="1170432" cy="16459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H="1">
            <a:off x="6711696" y="3374136"/>
            <a:ext cx="2788920" cy="1527047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400800" y="4590288"/>
            <a:ext cx="621792" cy="62179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783043"/>
            <a:ext cx="621792" cy="217627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44768" y="5394959"/>
            <a:ext cx="1170432" cy="16459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6711696" y="4901183"/>
            <a:ext cx="1874520" cy="484633"/>
          </a:xfrm>
          <a:prstGeom prst="line">
            <a:avLst/>
          </a:prstGeom>
          <a:ln w="12700">
            <a:solidFill>
              <a:srgbClr val="08D6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8275320" y="5074920"/>
            <a:ext cx="621792" cy="62179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5267675"/>
            <a:ext cx="621792" cy="217627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19288" y="5879592"/>
            <a:ext cx="1170432" cy="16459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8586216" y="4928616"/>
            <a:ext cx="1965960" cy="457200"/>
          </a:xfrm>
          <a:prstGeom prst="line">
            <a:avLst/>
          </a:prstGeom>
          <a:ln w="12700">
            <a:solidFill>
              <a:srgbClr val="27D1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10241280" y="4617720"/>
            <a:ext cx="621792" cy="62179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27D1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41280" y="4810475"/>
            <a:ext cx="621792" cy="217627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85248" y="5422392"/>
            <a:ext cx="1170432" cy="16459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27D1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5074920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1097280"/>
            <a:ext cx="484632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200" b="1">
                <a:solidFill>
                  <a:srgbClr val="08D6F5"/>
                </a:solidFill>
                <a:latin typeface="Microsoft YaHei UI"/>
              </a:rPr>
              <a:t>EduAgent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" y="184708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面向高等教育的个性化多 Agent 学习系统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" y="2267712"/>
            <a:ext cx="530352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B8CAE6"/>
                </a:solidFill>
                <a:latin typeface="Microsoft YaHei"/>
              </a:rPr>
              <a:t>从“生成答案”升级为“理解学生、组织知识、陪伴学习”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3232" y="2907792"/>
            <a:ext cx="1024128" cy="34747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8952" y="2971800"/>
            <a:ext cx="932688" cy="2651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08D6F5"/>
                </a:solidFill>
                <a:latin typeface="Microsoft YaHei"/>
              </a:rPr>
              <a:t>LLM Wiki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938528" y="2907792"/>
            <a:ext cx="1024128" cy="34747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84248" y="2971800"/>
            <a:ext cx="932688" cy="2651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8B5CF6"/>
                </a:solidFill>
                <a:latin typeface="Microsoft YaHei"/>
              </a:rPr>
              <a:t>LangGraph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163824" y="2907792"/>
            <a:ext cx="1024128" cy="34747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9544" y="2971800"/>
            <a:ext cx="932688" cy="2651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08C99D"/>
                </a:solidFill>
                <a:latin typeface="Microsoft YaHei"/>
              </a:rPr>
              <a:t>8维画像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389120" y="2907792"/>
            <a:ext cx="1024128" cy="34747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34840" y="2971800"/>
            <a:ext cx="932688" cy="2651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F5A400"/>
                </a:solidFill>
                <a:latin typeface="Microsoft YaHei"/>
              </a:rPr>
              <a:t>13 passed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13232" y="3703320"/>
            <a:ext cx="4498848" cy="105156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7552" y="3968496"/>
            <a:ext cx="173736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8D6F5"/>
                </a:solidFill>
                <a:latin typeface="Microsoft YaHei"/>
              </a:rPr>
              <a:t>参赛答辩核心证明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7552" y="4315968"/>
            <a:ext cx="356616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19" b="0">
                <a:solidFill>
                  <a:srgbClr val="B8CAE6"/>
                </a:solidFill>
                <a:latin typeface="Microsoft YaHei"/>
              </a:rPr>
              <a:t>智能体价值 · AI 技术融合 · 工程实现 · 运行证据 · 演示闭环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6144768"/>
            <a:ext cx="256032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E83A8"/>
                </a:solidFill>
                <a:latin typeface="Microsoft YaHei"/>
              </a:rPr>
              <a:t>赛事演示优化版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02336"/>
            <a:ext cx="54864" cy="420624"/>
          </a:xfrm>
          <a:prstGeom prst="roundRect">
            <a:avLst/>
          </a:prstGeom>
          <a:solidFill>
            <a:srgbClr val="2F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873252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 UI"/>
              </a:rPr>
              <a:t>为什么现在需要 EduAgent？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B8CAE6"/>
                </a:solidFill>
                <a:latin typeface="Microsoft YaHei"/>
              </a:rPr>
              <a:t>学生真正缺的不是更多资料，而是能把目标、知识、资源和反馈串起来的学习组织能力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502920"/>
            <a:ext cx="1828800" cy="329184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566928"/>
            <a:ext cx="1737360" cy="2468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F7BFF"/>
                </a:solidFill>
                <a:latin typeface="Microsoft YaHei"/>
              </a:rPr>
              <a:t>需求痛点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246120" cy="1874519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" y="1847088"/>
            <a:ext cx="530352" cy="53035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11497"/>
            <a:ext cx="530352" cy="18562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828800"/>
            <a:ext cx="20116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资源分散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2651760" cy="6035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B8CAE6"/>
                </a:solidFill>
                <a:latin typeface="Microsoft YaHei"/>
              </a:rPr>
              <a:t>教材、课件、习题和网络资料割裂，学生难以找到适合当前基础的内容。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600200"/>
            <a:ext cx="3246120" cy="1874519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81144" y="1847088"/>
            <a:ext cx="530352" cy="53035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2011497"/>
            <a:ext cx="530352" cy="18562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1828800"/>
            <a:ext cx="20116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千人一面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487168"/>
            <a:ext cx="2651760" cy="6035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B8CAE6"/>
                </a:solidFill>
                <a:latin typeface="Microsoft YaHei"/>
              </a:rPr>
              <a:t>通用问答只给标准答案，无法理解年级、基础、风格和薄弱点。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600200"/>
            <a:ext cx="3246120" cy="1874519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11896" y="1847088"/>
            <a:ext cx="530352" cy="53035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2011497"/>
            <a:ext cx="530352" cy="18562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1828800"/>
            <a:ext cx="20116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缺少闭环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487168"/>
            <a:ext cx="2651760" cy="6035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B8CAE6"/>
                </a:solidFill>
                <a:latin typeface="Microsoft YaHei"/>
              </a:rPr>
              <a:t>测验、错题、路径和资源推荐彼此断裂，学习过程难以持续优化。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977639"/>
            <a:ext cx="10972800" cy="1225296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251960"/>
            <a:ext cx="182880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8C99D"/>
                </a:solidFill>
                <a:latin typeface="Microsoft YaHei"/>
              </a:rPr>
              <a:t>EduAgent 的评审价值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224528"/>
            <a:ext cx="8138160" cy="4206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用智能体编排把“学生画像 → 知识检索 → 资源生成 → 测验反馈 → 路径优化”做成一条可运行、可观察、可复用的学习链路。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6510528"/>
            <a:ext cx="33832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6E83A8"/>
                </a:solidFill>
                <a:latin typeface="Microsoft YaHei"/>
              </a:rPr>
              <a:t>02 · 需求痛点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6510528"/>
            <a:ext cx="8686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0">
                <a:solidFill>
                  <a:srgbClr val="6E83A8"/>
                </a:solidFill>
                <a:latin typeface="Microsoft YaHei"/>
              </a:rPr>
              <a:t>EduAgent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02336"/>
            <a:ext cx="54864" cy="420624"/>
          </a:xfrm>
          <a:prstGeom prst="roundRect">
            <a:avLst/>
          </a:prstGeom>
          <a:solidFill>
            <a:srgbClr val="2F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873252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 UI"/>
              </a:rPr>
              <a:t>产品定位：一个可持续学习中枢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B8CAE6"/>
                </a:solidFill>
                <a:latin typeface="Microsoft YaHei"/>
              </a:rPr>
              <a:t>先理解学生，再组织知识，再生成资源，最后把反馈写回画像和路径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502920"/>
            <a:ext cx="1828800" cy="329184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566928"/>
            <a:ext cx="1737360" cy="2468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F7BFF"/>
                </a:solidFill>
                <a:latin typeface="Microsoft YaHei"/>
              </a:rPr>
              <a:t>价值闭环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89320" y="1508760"/>
            <a:ext cx="1702571" cy="982980"/>
          </a:xfrm>
          <a:prstGeom prst="line">
            <a:avLst/>
          </a:prstGeom>
          <a:ln w="1905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91891" y="2491740"/>
            <a:ext cx="0" cy="1965960"/>
          </a:xfrm>
          <a:prstGeom prst="line">
            <a:avLst/>
          </a:prstGeom>
          <a:ln w="1905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5989320" y="4457700"/>
            <a:ext cx="1702571" cy="982979"/>
          </a:xfrm>
          <a:prstGeom prst="line">
            <a:avLst/>
          </a:prstGeom>
          <a:ln w="1905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4286748" y="4457700"/>
            <a:ext cx="1702572" cy="982979"/>
          </a:xfrm>
          <a:prstGeom prst="line">
            <a:avLst/>
          </a:prstGeom>
          <a:ln w="1905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286748" y="2491739"/>
            <a:ext cx="0" cy="1965961"/>
          </a:xfrm>
          <a:prstGeom prst="line">
            <a:avLst/>
          </a:prstGeom>
          <a:ln w="1905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286748" y="1508760"/>
            <a:ext cx="1702572" cy="982979"/>
          </a:xfrm>
          <a:prstGeom prst="line">
            <a:avLst/>
          </a:prstGeom>
          <a:ln w="1905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239512" y="2724912"/>
            <a:ext cx="1499616" cy="1499616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392" y="3218687"/>
            <a:ext cx="1143000" cy="5120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Learning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Hub</a:t>
            </a:r>
          </a:p>
        </p:txBody>
      </p:sp>
      <p:sp>
        <p:nvSpPr>
          <p:cNvPr id="16" name="Oval 15"/>
          <p:cNvSpPr/>
          <p:nvPr/>
        </p:nvSpPr>
        <p:spPr>
          <a:xfrm>
            <a:off x="5605272" y="1124712"/>
            <a:ext cx="768096" cy="768096"/>
          </a:xfrm>
          <a:prstGeom prst="ellipse">
            <a:avLst/>
          </a:prstGeom>
          <a:solidFill>
            <a:srgbClr val="111D31"/>
          </a:solidFill>
          <a:ln w="1524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05272" y="1362821"/>
            <a:ext cx="768096" cy="26883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画像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1947672"/>
            <a:ext cx="1426464" cy="4206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0">
                <a:solidFill>
                  <a:srgbClr val="B8CAE6"/>
                </a:solidFill>
                <a:latin typeface="Microsoft YaHei"/>
              </a:rPr>
              <a:t>Profile</a:t>
            </a:r>
          </a:p>
          <a:p>
            <a:pPr algn="ctr"/>
            <a:r>
              <a:rPr sz="800" b="0">
                <a:solidFill>
                  <a:srgbClr val="B8CAE6"/>
                </a:solidFill>
                <a:latin typeface="Microsoft YaHei"/>
              </a:rPr>
              <a:t>抽取学习者状态</a:t>
            </a:r>
          </a:p>
        </p:txBody>
      </p:sp>
      <p:sp>
        <p:nvSpPr>
          <p:cNvPr id="19" name="Oval 18"/>
          <p:cNvSpPr/>
          <p:nvPr/>
        </p:nvSpPr>
        <p:spPr>
          <a:xfrm>
            <a:off x="7307843" y="2107692"/>
            <a:ext cx="768096" cy="768096"/>
          </a:xfrm>
          <a:prstGeom prst="ellipse">
            <a:avLst/>
          </a:prstGeom>
          <a:solidFill>
            <a:srgbClr val="111D31"/>
          </a:solidFill>
          <a:ln w="1524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07843" y="2345801"/>
            <a:ext cx="768096" cy="26883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路由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8659" y="2930652"/>
            <a:ext cx="1426464" cy="4206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0">
                <a:solidFill>
                  <a:srgbClr val="B8CAE6"/>
                </a:solidFill>
                <a:latin typeface="Microsoft YaHei"/>
              </a:rPr>
              <a:t>Router</a:t>
            </a:r>
          </a:p>
          <a:p>
            <a:pPr algn="ctr"/>
            <a:r>
              <a:rPr sz="800" b="0">
                <a:solidFill>
                  <a:srgbClr val="B8CAE6"/>
                </a:solidFill>
                <a:latin typeface="Microsoft YaHei"/>
              </a:rPr>
              <a:t>识别意图和主题</a:t>
            </a:r>
          </a:p>
        </p:txBody>
      </p:sp>
      <p:sp>
        <p:nvSpPr>
          <p:cNvPr id="22" name="Oval 21"/>
          <p:cNvSpPr/>
          <p:nvPr/>
        </p:nvSpPr>
        <p:spPr>
          <a:xfrm>
            <a:off x="7307843" y="4073652"/>
            <a:ext cx="768096" cy="768096"/>
          </a:xfrm>
          <a:prstGeom prst="ellipse">
            <a:avLst/>
          </a:prstGeom>
          <a:solidFill>
            <a:srgbClr val="111D31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7843" y="4311761"/>
            <a:ext cx="768096" cy="26883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检索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8659" y="4896612"/>
            <a:ext cx="1426464" cy="4206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0">
                <a:solidFill>
                  <a:srgbClr val="B8CAE6"/>
                </a:solidFill>
                <a:latin typeface="Microsoft YaHei"/>
              </a:rPr>
              <a:t>Wiki/RAG</a:t>
            </a:r>
          </a:p>
          <a:p>
            <a:pPr algn="ctr"/>
            <a:r>
              <a:rPr sz="800" b="0">
                <a:solidFill>
                  <a:srgbClr val="B8CAE6"/>
                </a:solidFill>
                <a:latin typeface="Microsoft YaHei"/>
              </a:rPr>
              <a:t>课程知识约束</a:t>
            </a:r>
          </a:p>
        </p:txBody>
      </p:sp>
      <p:sp>
        <p:nvSpPr>
          <p:cNvPr id="25" name="Oval 24"/>
          <p:cNvSpPr/>
          <p:nvPr/>
        </p:nvSpPr>
        <p:spPr>
          <a:xfrm>
            <a:off x="5605272" y="5056631"/>
            <a:ext cx="768096" cy="768096"/>
          </a:xfrm>
          <a:prstGeom prst="ellipse">
            <a:avLst/>
          </a:prstGeom>
          <a:solidFill>
            <a:srgbClr val="111D31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05272" y="5294741"/>
            <a:ext cx="768096" cy="26883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规划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5879592"/>
            <a:ext cx="1426464" cy="4206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0">
                <a:solidFill>
                  <a:srgbClr val="B8CAE6"/>
                </a:solidFill>
                <a:latin typeface="Microsoft YaHei"/>
              </a:rPr>
              <a:t>Planner</a:t>
            </a:r>
          </a:p>
          <a:p>
            <a:pPr algn="ctr"/>
            <a:r>
              <a:rPr sz="800" b="0">
                <a:solidFill>
                  <a:srgbClr val="B8CAE6"/>
                </a:solidFill>
                <a:latin typeface="Microsoft YaHei"/>
              </a:rPr>
              <a:t>拆解资源任务</a:t>
            </a:r>
          </a:p>
        </p:txBody>
      </p:sp>
      <p:sp>
        <p:nvSpPr>
          <p:cNvPr id="28" name="Oval 27"/>
          <p:cNvSpPr/>
          <p:nvPr/>
        </p:nvSpPr>
        <p:spPr>
          <a:xfrm>
            <a:off x="3902700" y="4073652"/>
            <a:ext cx="768096" cy="768096"/>
          </a:xfrm>
          <a:prstGeom prst="ellipse">
            <a:avLst/>
          </a:prstGeom>
          <a:solidFill>
            <a:srgbClr val="111D31"/>
          </a:solidFill>
          <a:ln w="1524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02700" y="4311761"/>
            <a:ext cx="768096" cy="26883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73516" y="4896612"/>
            <a:ext cx="1426464" cy="4206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0">
                <a:solidFill>
                  <a:srgbClr val="B8CAE6"/>
                </a:solidFill>
                <a:latin typeface="Microsoft YaHei"/>
              </a:rPr>
              <a:t>Doc/Quiz/Code/Media</a:t>
            </a:r>
          </a:p>
          <a:p>
            <a:pPr algn="ctr"/>
            <a:r>
              <a:rPr sz="800" b="0">
                <a:solidFill>
                  <a:srgbClr val="B8CAE6"/>
                </a:solidFill>
                <a:latin typeface="Microsoft YaHei"/>
              </a:rPr>
              <a:t>输出资源包</a:t>
            </a:r>
          </a:p>
        </p:txBody>
      </p:sp>
      <p:sp>
        <p:nvSpPr>
          <p:cNvPr id="31" name="Oval 30"/>
          <p:cNvSpPr/>
          <p:nvPr/>
        </p:nvSpPr>
        <p:spPr>
          <a:xfrm>
            <a:off x="3902700" y="2107691"/>
            <a:ext cx="768096" cy="768096"/>
          </a:xfrm>
          <a:prstGeom prst="ellipse">
            <a:avLst/>
          </a:prstGeom>
          <a:solidFill>
            <a:srgbClr val="111D31"/>
          </a:solidFill>
          <a:ln w="15240">
            <a:solidFill>
              <a:srgbClr val="27D1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02700" y="2345801"/>
            <a:ext cx="768096" cy="26883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反馈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3516" y="2930651"/>
            <a:ext cx="1426464" cy="4206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0">
                <a:solidFill>
                  <a:srgbClr val="B8CAE6"/>
                </a:solidFill>
                <a:latin typeface="Microsoft YaHei"/>
              </a:rPr>
              <a:t>Quiz/Analytics</a:t>
            </a:r>
          </a:p>
          <a:p>
            <a:pPr algn="ctr"/>
            <a:r>
              <a:rPr sz="800" b="0">
                <a:solidFill>
                  <a:srgbClr val="B8CAE6"/>
                </a:solidFill>
                <a:latin typeface="Microsoft YaHei"/>
              </a:rPr>
              <a:t>错题与路径更新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2011680"/>
            <a:ext cx="2971800" cy="2304288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2267712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8C99D"/>
                </a:solidFill>
                <a:latin typeface="Microsoft YaHei"/>
              </a:rPr>
              <a:t>与普通问答的区别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" y="2807208"/>
            <a:ext cx="73152" cy="73152"/>
          </a:xfrm>
          <a:prstGeom prst="ellipse">
            <a:avLst/>
          </a:prstGeom>
          <a:solidFill>
            <a:srgbClr val="08D6F5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" y="2770632"/>
            <a:ext cx="209397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B8CAE6"/>
                </a:solidFill>
                <a:latin typeface="Microsoft YaHei"/>
              </a:rPr>
              <a:t>不是只回答一个问题</a:t>
            </a:r>
          </a:p>
        </p:txBody>
      </p:sp>
      <p:sp>
        <p:nvSpPr>
          <p:cNvPr id="38" name="Oval 37"/>
          <p:cNvSpPr/>
          <p:nvPr/>
        </p:nvSpPr>
        <p:spPr>
          <a:xfrm>
            <a:off x="932688" y="3090672"/>
            <a:ext cx="73152" cy="73152"/>
          </a:xfrm>
          <a:prstGeom prst="ellipse">
            <a:avLst/>
          </a:prstGeom>
          <a:solidFill>
            <a:srgbClr val="08D6F5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" y="3054096"/>
            <a:ext cx="209397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B8CAE6"/>
                </a:solidFill>
                <a:latin typeface="Microsoft YaHei"/>
              </a:rPr>
              <a:t>每次交互都会进入画像和路径</a:t>
            </a:r>
          </a:p>
        </p:txBody>
      </p:sp>
      <p:sp>
        <p:nvSpPr>
          <p:cNvPr id="40" name="Oval 39"/>
          <p:cNvSpPr/>
          <p:nvPr/>
        </p:nvSpPr>
        <p:spPr>
          <a:xfrm>
            <a:off x="932688" y="3374136"/>
            <a:ext cx="73152" cy="73152"/>
          </a:xfrm>
          <a:prstGeom prst="ellipse">
            <a:avLst/>
          </a:prstGeom>
          <a:solidFill>
            <a:srgbClr val="08D6F5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8992" y="3337560"/>
            <a:ext cx="209397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B8CAE6"/>
                </a:solidFill>
                <a:latin typeface="Microsoft YaHei"/>
              </a:rPr>
              <a:t>资源生成有课程知识来源约束</a:t>
            </a:r>
          </a:p>
        </p:txBody>
      </p:sp>
      <p:sp>
        <p:nvSpPr>
          <p:cNvPr id="42" name="Oval 41"/>
          <p:cNvSpPr/>
          <p:nvPr/>
        </p:nvSpPr>
        <p:spPr>
          <a:xfrm>
            <a:off x="932688" y="3657600"/>
            <a:ext cx="73152" cy="73152"/>
          </a:xfrm>
          <a:prstGeom prst="ellipse">
            <a:avLst/>
          </a:prstGeom>
          <a:solidFill>
            <a:srgbClr val="08D6F5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8992" y="3621024"/>
            <a:ext cx="209397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B8CAE6"/>
                </a:solidFill>
                <a:latin typeface="Microsoft YaHei"/>
              </a:rPr>
              <a:t>测验结果会改变下一轮推荐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6510528"/>
            <a:ext cx="33832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6E83A8"/>
                </a:solidFill>
                <a:latin typeface="Microsoft YaHei"/>
              </a:rPr>
              <a:t>03 · 产品定位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16768" y="6510528"/>
            <a:ext cx="8686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0">
                <a:solidFill>
                  <a:srgbClr val="6E83A8"/>
                </a:solidFill>
                <a:latin typeface="Microsoft YaHei"/>
              </a:rPr>
              <a:t>EduAgent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02336"/>
            <a:ext cx="54864" cy="420624"/>
          </a:xfrm>
          <a:prstGeom prst="roundRect">
            <a:avLst/>
          </a:prstGeom>
          <a:solidFill>
            <a:srgbClr val="2F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873252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 UI"/>
              </a:rPr>
              <a:t>系统架构：前端体验、API、Agent 与知识中枢分层解耦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B8CAE6"/>
                </a:solidFill>
                <a:latin typeface="Microsoft YaHei"/>
              </a:rPr>
              <a:t>用清晰工程边界把 AI 能力嵌入可运行 Web 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502920"/>
            <a:ext cx="1828800" cy="329184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566928"/>
            <a:ext cx="1737360" cy="2468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F7BFF"/>
                </a:solidFill>
                <a:latin typeface="Microsoft YaHei"/>
              </a:rPr>
              <a:t>实现方法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417320"/>
            <a:ext cx="10927080" cy="78638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72768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前端体验层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1536192"/>
            <a:ext cx="310896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B8CAE6"/>
                </a:solidFill>
                <a:latin typeface="Microsoft YaHei"/>
              </a:rPr>
              <a:t>Next.js / React</a:t>
            </a:r>
          </a:p>
          <a:p>
            <a:pPr algn="l"/>
            <a:r>
              <a:rPr sz="1000" b="0">
                <a:solidFill>
                  <a:srgbClr val="B8CAE6"/>
                </a:solidFill>
                <a:latin typeface="Microsoft YaHei"/>
              </a:rPr>
              <a:t>聊天、资源、Wiki、画像、路径、分析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2" y="1581912"/>
            <a:ext cx="429768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2F7BFF"/>
                </a:solidFill>
                <a:latin typeface="Consolas"/>
              </a:rPr>
              <a:t>frontend/src/app/  ·  frontend/src/components/</a:t>
            </a:r>
          </a:p>
        </p:txBody>
      </p:sp>
      <p:sp>
        <p:nvSpPr>
          <p:cNvPr id="12" name="Oval 11"/>
          <p:cNvSpPr/>
          <p:nvPr/>
        </p:nvSpPr>
        <p:spPr>
          <a:xfrm>
            <a:off x="10533888" y="1600200"/>
            <a:ext cx="411480" cy="411480"/>
          </a:xfrm>
          <a:prstGeom prst="ellipse">
            <a:avLst/>
          </a:prstGeom>
          <a:solidFill>
            <a:srgbClr val="0D253F"/>
          </a:solidFill>
          <a:ln w="1524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33888" y="1727758"/>
            <a:ext cx="411480" cy="14401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496312"/>
            <a:ext cx="10927080" cy="78638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651760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API 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2615184"/>
            <a:ext cx="310896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B8CAE6"/>
                </a:solidFill>
                <a:latin typeface="Microsoft YaHei"/>
              </a:rPr>
              <a:t>FastAPI + SSE</a:t>
            </a:r>
          </a:p>
          <a:p>
            <a:pPr algn="l"/>
            <a:r>
              <a:rPr sz="1000" b="0">
                <a:solidFill>
                  <a:srgbClr val="B8CAE6"/>
                </a:solidFill>
                <a:latin typeface="Microsoft YaHei"/>
              </a:rPr>
              <a:t>资源生成、测验提交、画像与学习路径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2432" y="2660904"/>
            <a:ext cx="429768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08D6F5"/>
                </a:solidFill>
                <a:latin typeface="Consolas"/>
              </a:rPr>
              <a:t>backend/app/api/chat.py  ·  learning.py  ·  wiki.py</a:t>
            </a:r>
          </a:p>
        </p:txBody>
      </p:sp>
      <p:sp>
        <p:nvSpPr>
          <p:cNvPr id="18" name="Oval 17"/>
          <p:cNvSpPr/>
          <p:nvPr/>
        </p:nvSpPr>
        <p:spPr>
          <a:xfrm>
            <a:off x="10533888" y="2679192"/>
            <a:ext cx="411480" cy="411480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33888" y="2806750"/>
            <a:ext cx="411480" cy="14401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575304"/>
            <a:ext cx="10927080" cy="78638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73075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Agent 编排层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3694176"/>
            <a:ext cx="310896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B8CAE6"/>
                </a:solidFill>
                <a:latin typeface="Microsoft YaHei"/>
              </a:rPr>
              <a:t>LangGraph StateGraph</a:t>
            </a:r>
          </a:p>
          <a:p>
            <a:pPr algn="l"/>
            <a:r>
              <a:rPr sz="1000" b="0">
                <a:solidFill>
                  <a:srgbClr val="B8CAE6"/>
                </a:solidFill>
                <a:latin typeface="Microsoft YaHei"/>
              </a:rPr>
              <a:t>Router / Profile / Planner / Doc / Quiz / Code / Media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3739896"/>
            <a:ext cx="429768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8B5CF6"/>
                </a:solidFill>
                <a:latin typeface="Consolas"/>
              </a:rPr>
              <a:t>backend/app/agents/orchestrator.py</a:t>
            </a:r>
          </a:p>
        </p:txBody>
      </p:sp>
      <p:sp>
        <p:nvSpPr>
          <p:cNvPr id="24" name="Oval 23"/>
          <p:cNvSpPr/>
          <p:nvPr/>
        </p:nvSpPr>
        <p:spPr>
          <a:xfrm>
            <a:off x="10533888" y="3758184"/>
            <a:ext cx="411480" cy="411480"/>
          </a:xfrm>
          <a:prstGeom prst="ellipse">
            <a:avLst/>
          </a:prstGeom>
          <a:solidFill>
            <a:srgbClr val="0D253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33888" y="3885742"/>
            <a:ext cx="411480" cy="14401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4654296"/>
            <a:ext cx="10927080" cy="78638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809744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知识与数据层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4773168"/>
            <a:ext cx="310896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B8CAE6"/>
                </a:solidFill>
                <a:latin typeface="Microsoft YaHei"/>
              </a:rPr>
              <a:t>LLM Wiki + RAG + DB</a:t>
            </a:r>
          </a:p>
          <a:p>
            <a:pPr algn="l"/>
            <a:r>
              <a:rPr sz="1000" b="0">
                <a:solidFill>
                  <a:srgbClr val="B8CAE6"/>
                </a:solidFill>
                <a:latin typeface="Microsoft YaHei"/>
              </a:rPr>
              <a:t>知识图谱、向量检索、BM25、课程隔离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2432" y="4818888"/>
            <a:ext cx="429768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08C99D"/>
                </a:solidFill>
                <a:latin typeface="Consolas"/>
              </a:rPr>
              <a:t>backend/app/wiki/  ·  backend/app/models/</a:t>
            </a:r>
          </a:p>
        </p:txBody>
      </p:sp>
      <p:sp>
        <p:nvSpPr>
          <p:cNvPr id="30" name="Oval 29"/>
          <p:cNvSpPr/>
          <p:nvPr/>
        </p:nvSpPr>
        <p:spPr>
          <a:xfrm>
            <a:off x="10533888" y="4837176"/>
            <a:ext cx="411480" cy="411480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33888" y="4964734"/>
            <a:ext cx="411480" cy="14401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6510528"/>
            <a:ext cx="33832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6E83A8"/>
                </a:solidFill>
                <a:latin typeface="Microsoft YaHei"/>
              </a:rPr>
              <a:t>04 · 系统架构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16768" y="6510528"/>
            <a:ext cx="8686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0">
                <a:solidFill>
                  <a:srgbClr val="6E83A8"/>
                </a:solidFill>
                <a:latin typeface="Microsoft YaHei"/>
              </a:rPr>
              <a:t>EduAgent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02336"/>
            <a:ext cx="54864" cy="420624"/>
          </a:xfrm>
          <a:prstGeom prst="roundRect">
            <a:avLst/>
          </a:prstGeom>
          <a:solidFill>
            <a:srgbClr val="2F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873252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 UI"/>
              </a:rPr>
              <a:t>多 Agent 协同：一次请求的可观测状态流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B8CAE6"/>
                </a:solidFill>
                <a:latin typeface="Microsoft YaHei"/>
              </a:rPr>
              <a:t>评委能看到每个智能体做了什么，而不是只看到最终回答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502920"/>
            <a:ext cx="1828800" cy="329184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566928"/>
            <a:ext cx="1737360" cy="2468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F7BFF"/>
                </a:solidFill>
                <a:latin typeface="Microsoft YaHei"/>
              </a:rPr>
              <a:t>智能体实现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901952"/>
            <a:ext cx="658368" cy="658368"/>
          </a:xfrm>
          <a:prstGeom prst="ellipse">
            <a:avLst/>
          </a:prstGeom>
          <a:solidFill>
            <a:srgbClr val="0D253F"/>
          </a:solidFill>
          <a:ln w="1524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06046"/>
            <a:ext cx="658368" cy="2304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651760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935224"/>
            <a:ext cx="1115568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50" b="0">
                <a:solidFill>
                  <a:srgbClr val="B8CAE6"/>
                </a:solidFill>
                <a:latin typeface="Microsoft YaHei"/>
              </a:rPr>
              <a:t>识别意图/主题/资源类型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15568" y="2231136"/>
            <a:ext cx="758951" cy="0"/>
          </a:xfrm>
          <a:prstGeom prst="line">
            <a:avLst/>
          </a:prstGeom>
          <a:ln w="1524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874519" y="1901952"/>
            <a:ext cx="658368" cy="658368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2106046"/>
            <a:ext cx="658368" cy="2304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2651760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2935224"/>
            <a:ext cx="1115568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50" b="0">
                <a:solidFill>
                  <a:srgbClr val="B8CAE6"/>
                </a:solidFill>
                <a:latin typeface="Microsoft YaHei"/>
              </a:rPr>
              <a:t>抽取画像候选更新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32887" y="2231136"/>
            <a:ext cx="758952" cy="0"/>
          </a:xfrm>
          <a:prstGeom prst="line">
            <a:avLst/>
          </a:prstGeom>
          <a:ln w="1524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291840" y="1901952"/>
            <a:ext cx="658368" cy="658368"/>
          </a:xfrm>
          <a:prstGeom prst="ellipse">
            <a:avLst/>
          </a:prstGeom>
          <a:solidFill>
            <a:srgbClr val="0D253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106046"/>
            <a:ext cx="658368" cy="2304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Pl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2651760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2935224"/>
            <a:ext cx="1115568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50" b="0">
                <a:solidFill>
                  <a:srgbClr val="B8CAE6"/>
                </a:solidFill>
                <a:latin typeface="Microsoft YaHei"/>
              </a:rPr>
              <a:t>拆解资源生成任务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50208" y="2231136"/>
            <a:ext cx="758952" cy="0"/>
          </a:xfrm>
          <a:prstGeom prst="line">
            <a:avLst/>
          </a:prstGeom>
          <a:ln w="1524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709160" y="1901952"/>
            <a:ext cx="658368" cy="658368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2106046"/>
            <a:ext cx="658368" cy="2304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2651760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935224"/>
            <a:ext cx="1115568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50" b="0">
                <a:solidFill>
                  <a:srgbClr val="B8CAE6"/>
                </a:solidFill>
                <a:latin typeface="Microsoft YaHei"/>
              </a:rPr>
              <a:t>先生成讲义骨架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67528" y="2231136"/>
            <a:ext cx="758952" cy="0"/>
          </a:xfrm>
          <a:prstGeom prst="line">
            <a:avLst/>
          </a:prstGeom>
          <a:ln w="1524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126480" y="1901952"/>
            <a:ext cx="658368" cy="658368"/>
          </a:xfrm>
          <a:prstGeom prst="ellipse">
            <a:avLst/>
          </a:prstGeom>
          <a:solidFill>
            <a:srgbClr val="0D253F"/>
          </a:solidFill>
          <a:ln w="1524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2106046"/>
            <a:ext cx="658368" cy="2304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Qu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1888" y="2651760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Quiz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2935224"/>
            <a:ext cx="1115568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50" b="0">
                <a:solidFill>
                  <a:srgbClr val="B8CAE6"/>
                </a:solidFill>
                <a:latin typeface="Microsoft YaHei"/>
              </a:rPr>
              <a:t>结构化练习题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84848" y="2231136"/>
            <a:ext cx="758952" cy="0"/>
          </a:xfrm>
          <a:prstGeom prst="line">
            <a:avLst/>
          </a:prstGeom>
          <a:ln w="1524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543800" y="1901952"/>
            <a:ext cx="658368" cy="658368"/>
          </a:xfrm>
          <a:prstGeom prst="ellipse">
            <a:avLst/>
          </a:prstGeom>
          <a:solidFill>
            <a:srgbClr val="0D253F"/>
          </a:solidFill>
          <a:ln w="15240">
            <a:solidFill>
              <a:srgbClr val="27D1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2106046"/>
            <a:ext cx="658368" cy="2304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9208" y="2651760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2935224"/>
            <a:ext cx="1115568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50" b="0">
                <a:solidFill>
                  <a:srgbClr val="B8CAE6"/>
                </a:solidFill>
                <a:latin typeface="Microsoft YaHei"/>
              </a:rPr>
              <a:t>沙箱友好代码示例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02168" y="2231136"/>
            <a:ext cx="758952" cy="0"/>
          </a:xfrm>
          <a:prstGeom prst="line">
            <a:avLst/>
          </a:prstGeom>
          <a:ln w="1524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961120" y="1901952"/>
            <a:ext cx="658368" cy="658368"/>
          </a:xfrm>
          <a:prstGeom prst="ellipse">
            <a:avLst/>
          </a:prstGeom>
          <a:solidFill>
            <a:srgbClr val="0D253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0" y="2106046"/>
            <a:ext cx="658368" cy="2304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96528" y="2651760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Media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935224"/>
            <a:ext cx="1115568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50" b="0">
                <a:solidFill>
                  <a:srgbClr val="B8CAE6"/>
                </a:solidFill>
                <a:latin typeface="Microsoft YaHei"/>
              </a:rPr>
              <a:t>导图/PPT/动画/视频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19488" y="2231136"/>
            <a:ext cx="758952" cy="0"/>
          </a:xfrm>
          <a:prstGeom prst="line">
            <a:avLst/>
          </a:prstGeom>
          <a:ln w="1524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0378440" y="1901952"/>
            <a:ext cx="658368" cy="658368"/>
          </a:xfrm>
          <a:prstGeom prst="ellipse">
            <a:avLst/>
          </a:prstGeom>
          <a:solidFill>
            <a:srgbClr val="0D253F"/>
          </a:solidFill>
          <a:ln w="1524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78440" y="2106046"/>
            <a:ext cx="658368" cy="2304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Fi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13848" y="2651760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Finalize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2935224"/>
            <a:ext cx="1115568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50" b="0">
                <a:solidFill>
                  <a:srgbClr val="B8CAE6"/>
                </a:solidFill>
                <a:latin typeface="Microsoft YaHei"/>
              </a:rPr>
              <a:t>保存资源与事件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4096512"/>
            <a:ext cx="3337560" cy="1024128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334256"/>
            <a:ext cx="155448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8D6F5"/>
                </a:solidFill>
                <a:latin typeface="Microsoft YaHei"/>
              </a:rPr>
              <a:t>前端可观测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4681728"/>
            <a:ext cx="265176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B8CAE6"/>
                </a:solidFill>
                <a:latin typeface="Microsoft YaHei"/>
              </a:rPr>
              <a:t>AgentFlow / AgentStatus 展示节点、状态、耗时与错误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4096512"/>
            <a:ext cx="3337560" cy="1024128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17720" y="4334256"/>
            <a:ext cx="155448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8C99D"/>
                </a:solidFill>
                <a:latin typeface="Microsoft YaHei"/>
              </a:rPr>
              <a:t>后端可追踪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17720" y="4681728"/>
            <a:ext cx="265176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B8CAE6"/>
                </a:solidFill>
                <a:latin typeface="Microsoft YaHei"/>
              </a:rPr>
              <a:t>agent_run_events 记录 Agent 链路、资源与异常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92440" y="4096512"/>
            <a:ext cx="3017520" cy="1024128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66760" y="4334256"/>
            <a:ext cx="155448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5A400"/>
                </a:solidFill>
                <a:latin typeface="Microsoft YaHei"/>
              </a:rPr>
              <a:t>演示检查点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4681728"/>
            <a:ext cx="233172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B8CAE6"/>
                </a:solidFill>
                <a:latin typeface="Microsoft YaHei"/>
              </a:rPr>
              <a:t>/chat 出现 Router/Profile/Planner/Doc/Quiz/Code 状态流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" y="6510528"/>
            <a:ext cx="33832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6E83A8"/>
                </a:solidFill>
                <a:latin typeface="Microsoft YaHei"/>
              </a:rPr>
              <a:t>05 · Agent 状态流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16768" y="6510528"/>
            <a:ext cx="8686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0">
                <a:solidFill>
                  <a:srgbClr val="6E83A8"/>
                </a:solidFill>
                <a:latin typeface="Microsoft YaHei"/>
              </a:rPr>
              <a:t>EduAgent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02336"/>
            <a:ext cx="54864" cy="420624"/>
          </a:xfrm>
          <a:prstGeom prst="roundRect">
            <a:avLst/>
          </a:prstGeom>
          <a:solidFill>
            <a:srgbClr val="2F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873252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 UI"/>
              </a:rPr>
              <a:t>为什么不是一个大模型直接回答？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B8CAE6"/>
                </a:solidFill>
                <a:latin typeface="Microsoft YaHei"/>
              </a:rPr>
              <a:t>多智能体把复杂学习任务拆成可验证、可扩展、可回退的专业分工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502920"/>
            <a:ext cx="1828800" cy="329184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566928"/>
            <a:ext cx="1737360" cy="2468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F7BFF"/>
                </a:solidFill>
                <a:latin typeface="Microsoft YaHei"/>
              </a:rPr>
              <a:t>应用价值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2377440" cy="53035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600200"/>
            <a:ext cx="2157984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B8CAE6"/>
                </a:solidFill>
                <a:latin typeface="Microsoft YaHei"/>
              </a:rPr>
              <a:t>评审关心点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5808" y="1417320"/>
            <a:ext cx="3657600" cy="53035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6" y="1600200"/>
            <a:ext cx="3438144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  <a:latin typeface="Microsoft YaHei"/>
              </a:rPr>
              <a:t>单一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93407" y="1417320"/>
            <a:ext cx="4251960" cy="53035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03136" y="1600200"/>
            <a:ext cx="4032504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08C99D"/>
                </a:solidFill>
                <a:latin typeface="Microsoft YaHei"/>
              </a:rPr>
              <a:t>EduAgent 多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057400"/>
            <a:ext cx="2377440" cy="60350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212848"/>
            <a:ext cx="2157984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理解学生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35808" y="2057400"/>
            <a:ext cx="3657600" cy="60350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5536" y="2212848"/>
            <a:ext cx="3438144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0">
                <a:solidFill>
                  <a:srgbClr val="B8CAE6"/>
                </a:solidFill>
                <a:latin typeface="Microsoft YaHei"/>
              </a:rPr>
              <a:t>每次对话重新猜测上下文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93407" y="2057400"/>
            <a:ext cx="4251960" cy="60350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2212848"/>
            <a:ext cx="4032504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0">
                <a:solidFill>
                  <a:srgbClr val="B8CAE6"/>
                </a:solidFill>
                <a:latin typeface="Microsoft YaHei"/>
              </a:rPr>
              <a:t>Profile Agent 抽取 8 维画像并确认写回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816352"/>
            <a:ext cx="2377440" cy="60350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971800"/>
            <a:ext cx="2157984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组织知识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35808" y="2816352"/>
            <a:ext cx="3657600" cy="60350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2971800"/>
            <a:ext cx="3438144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0">
                <a:solidFill>
                  <a:srgbClr val="B8CAE6"/>
                </a:solidFill>
                <a:latin typeface="Microsoft YaHei"/>
              </a:rPr>
              <a:t>容易脱离课程来源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93407" y="2816352"/>
            <a:ext cx="4251960" cy="60350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2971800"/>
            <a:ext cx="4032504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0">
                <a:solidFill>
                  <a:srgbClr val="B8CAE6"/>
                </a:solidFill>
                <a:latin typeface="Microsoft YaHei"/>
              </a:rPr>
              <a:t>Wiki/RAG/BM25/Rerank 提供来源片段与置信度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575304"/>
            <a:ext cx="2377440" cy="60350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730752"/>
            <a:ext cx="2157984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生成资源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35808" y="3575304"/>
            <a:ext cx="3657600" cy="60350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3730752"/>
            <a:ext cx="3438144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0">
                <a:solidFill>
                  <a:srgbClr val="B8CAE6"/>
                </a:solidFill>
                <a:latin typeface="Microsoft YaHei"/>
              </a:rPr>
              <a:t>一段答案承载所有需求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93407" y="3575304"/>
            <a:ext cx="4251960" cy="60350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03136" y="3730752"/>
            <a:ext cx="4032504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0">
                <a:solidFill>
                  <a:srgbClr val="B8CAE6"/>
                </a:solidFill>
                <a:latin typeface="Microsoft YaHei"/>
              </a:rPr>
              <a:t>Doc/Quiz/Code/Media 分工生成互补资源包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334256"/>
            <a:ext cx="2377440" cy="60350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489704"/>
            <a:ext cx="2157984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学习反馈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35808" y="4334256"/>
            <a:ext cx="3657600" cy="60350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6" y="4489704"/>
            <a:ext cx="3438144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0">
                <a:solidFill>
                  <a:srgbClr val="B8CAE6"/>
                </a:solidFill>
                <a:latin typeface="Microsoft YaHei"/>
              </a:rPr>
              <a:t>分数和后续学习割裂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93407" y="4334256"/>
            <a:ext cx="4251960" cy="60350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03136" y="4489704"/>
            <a:ext cx="4032504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0">
                <a:solidFill>
                  <a:srgbClr val="B8CAE6"/>
                </a:solidFill>
                <a:latin typeface="Microsoft YaHei"/>
              </a:rPr>
              <a:t>错题、weak_points、路径和 Analytics 联动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486400"/>
            <a:ext cx="10287000" cy="475488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641848"/>
            <a:ext cx="978408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5A400"/>
                </a:solidFill>
                <a:latin typeface="Microsoft YaHei"/>
              </a:rPr>
              <a:t>一句话：EduAgent 的价值不是“模型更会说”，而是“系统更会组织学习过程”。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6510528"/>
            <a:ext cx="33832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6E83A8"/>
                </a:solidFill>
                <a:latin typeface="Microsoft YaHei"/>
              </a:rPr>
              <a:t>06 · 智能体应用价值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16768" y="6510528"/>
            <a:ext cx="8686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0">
                <a:solidFill>
                  <a:srgbClr val="6E83A8"/>
                </a:solidFill>
                <a:latin typeface="Microsoft YaHei"/>
              </a:rPr>
              <a:t>EduAgent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02336"/>
            <a:ext cx="54864" cy="420624"/>
          </a:xfrm>
          <a:prstGeom prst="roundRect">
            <a:avLst/>
          </a:prstGeom>
          <a:solidFill>
            <a:srgbClr val="2F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873252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 UI"/>
              </a:rPr>
              <a:t>LLM Wiki：所有 Agent 共享的可信知识底座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B8CAE6"/>
                </a:solidFill>
                <a:latin typeface="Microsoft YaHei"/>
              </a:rPr>
              <a:t>生成前检索、生成中约束、生成后引用，让学习内容可核对、可追溯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502920"/>
            <a:ext cx="1828800" cy="329184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566928"/>
            <a:ext cx="1737360" cy="2468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F7BFF"/>
                </a:solidFill>
                <a:latin typeface="Microsoft YaHei"/>
              </a:rPr>
              <a:t>可信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444752" cy="114300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011680"/>
            <a:ext cx="438912" cy="43891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7742"/>
            <a:ext cx="438912" cy="1536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542032"/>
            <a:ext cx="11430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课程资料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16352"/>
            <a:ext cx="122529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40" b="0">
                <a:solidFill>
                  <a:srgbClr val="B8CAE6"/>
                </a:solidFill>
                <a:latin typeface="Microsoft YaHei"/>
              </a:rPr>
              <a:t>上传/解析/章节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93392" y="2395728"/>
            <a:ext cx="429768" cy="0"/>
          </a:xfrm>
          <a:prstGeom prst="line">
            <a:avLst/>
          </a:prstGeom>
          <a:ln w="177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23160" y="1828800"/>
            <a:ext cx="1444752" cy="114300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98648" y="2011680"/>
            <a:ext cx="438912" cy="43891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8648" y="2147742"/>
            <a:ext cx="438912" cy="1536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9464" y="2542032"/>
            <a:ext cx="11430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知识图谱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2888" y="2816352"/>
            <a:ext cx="122529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40" b="0">
                <a:solidFill>
                  <a:srgbClr val="B8CAE6"/>
                </a:solidFill>
                <a:latin typeface="Microsoft YaHei"/>
              </a:rPr>
              <a:t>课程→章节→知识点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67912" y="2395728"/>
            <a:ext cx="429767" cy="0"/>
          </a:xfrm>
          <a:prstGeom prst="line">
            <a:avLst/>
          </a:prstGeom>
          <a:ln w="177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97679" y="1828800"/>
            <a:ext cx="1444752" cy="114300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73167" y="2011680"/>
            <a:ext cx="438912" cy="43891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7" y="2147742"/>
            <a:ext cx="438912" cy="1536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3" y="2542032"/>
            <a:ext cx="11430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混合检索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7" y="2816352"/>
            <a:ext cx="122529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40" b="0">
                <a:solidFill>
                  <a:srgbClr val="B8CAE6"/>
                </a:solidFill>
                <a:latin typeface="Microsoft YaHei"/>
              </a:rPr>
              <a:t>向量 + BM25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42431" y="2395728"/>
            <a:ext cx="429768" cy="0"/>
          </a:xfrm>
          <a:prstGeom prst="line">
            <a:avLst/>
          </a:prstGeom>
          <a:ln w="177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72199" y="1828800"/>
            <a:ext cx="1444752" cy="114300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47688" y="2011680"/>
            <a:ext cx="438912" cy="43891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2147742"/>
            <a:ext cx="438912" cy="1536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3" y="2542032"/>
            <a:ext cx="11430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Rerank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7" y="2816352"/>
            <a:ext cx="122529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40" b="0">
                <a:solidFill>
                  <a:srgbClr val="B8CAE6"/>
                </a:solidFill>
                <a:latin typeface="Microsoft YaHei"/>
              </a:rPr>
              <a:t>相关性排序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616951" y="2395728"/>
            <a:ext cx="429768" cy="0"/>
          </a:xfrm>
          <a:prstGeom prst="line">
            <a:avLst/>
          </a:prstGeom>
          <a:ln w="177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46719" y="1828800"/>
            <a:ext cx="1444752" cy="114300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22207" y="2011680"/>
            <a:ext cx="438912" cy="43891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22207" y="2147742"/>
            <a:ext cx="438912" cy="1536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3" y="2542032"/>
            <a:ext cx="11430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来源面板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7" y="2816352"/>
            <a:ext cx="122529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40" b="0">
                <a:solidFill>
                  <a:srgbClr val="B8CAE6"/>
                </a:solidFill>
                <a:latin typeface="Microsoft YaHei"/>
              </a:rPr>
              <a:t>snippet + confidence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491472" y="2395728"/>
            <a:ext cx="429767" cy="0"/>
          </a:xfrm>
          <a:prstGeom prst="line">
            <a:avLst/>
          </a:prstGeom>
          <a:ln w="177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921240" y="1828800"/>
            <a:ext cx="1444752" cy="114300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27D1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96728" y="2011680"/>
            <a:ext cx="438912" cy="43891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27D1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96728" y="2147742"/>
            <a:ext cx="438912" cy="1536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67544" y="2542032"/>
            <a:ext cx="11430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安全提示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30967" y="2816352"/>
            <a:ext cx="122529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40" b="0">
                <a:solidFill>
                  <a:srgbClr val="B8CAE6"/>
                </a:solidFill>
                <a:latin typeface="Microsoft YaHei"/>
              </a:rPr>
              <a:t>低置信/虚构引用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4160520"/>
            <a:ext cx="4800600" cy="109728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70432" y="4416552"/>
            <a:ext cx="128016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8D6F5"/>
                </a:solidFill>
                <a:latin typeface="Microsoft YaHei"/>
              </a:rPr>
              <a:t>工程证据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4334256"/>
            <a:ext cx="297180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19" b="0">
                <a:solidFill>
                  <a:srgbClr val="B8CAE6"/>
                </a:solidFill>
                <a:latin typeface="Consolas"/>
              </a:rPr>
              <a:t>backend/app/wiki/rag_engine.py</a:t>
            </a:r>
          </a:p>
          <a:p>
            <a:pPr algn="l"/>
            <a:r>
              <a:rPr sz="819" b="0">
                <a:solidFill>
                  <a:srgbClr val="B8CAE6"/>
                </a:solidFill>
                <a:latin typeface="Consolas"/>
              </a:rPr>
              <a:t>backend/app/wiki/wiki_service.py</a:t>
            </a:r>
          </a:p>
          <a:p>
            <a:pPr algn="l"/>
            <a:r>
              <a:rPr sz="819" b="0">
                <a:solidFill>
                  <a:srgbClr val="B8CAE6"/>
                </a:solidFill>
                <a:latin typeface="Consolas"/>
              </a:rPr>
              <a:t>backend/tests/evals/fixtures/rag_cases.json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4160520"/>
            <a:ext cx="4480560" cy="109728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28232" y="4416552"/>
            <a:ext cx="128016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8C99D"/>
                </a:solidFill>
                <a:latin typeface="Microsoft YaHei"/>
              </a:rPr>
              <a:t>评审抓手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4352544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30" b="0">
                <a:solidFill>
                  <a:srgbClr val="B8CAE6"/>
                </a:solidFill>
                <a:latin typeface="Microsoft YaHei"/>
              </a:rPr>
              <a:t>现场搜索“反向传播 链式法则 梯度”，展示课程级来源片段、置信度和隔离效果。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" y="6510528"/>
            <a:ext cx="33832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6E83A8"/>
                </a:solidFill>
                <a:latin typeface="Microsoft YaHei"/>
              </a:rPr>
              <a:t>07 · LLM Wiki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16768" y="6510528"/>
            <a:ext cx="8686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0">
                <a:solidFill>
                  <a:srgbClr val="6E83A8"/>
                </a:solidFill>
                <a:latin typeface="Microsoft YaHei"/>
              </a:rPr>
              <a:t>EduAgent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02336"/>
            <a:ext cx="54864" cy="420624"/>
          </a:xfrm>
          <a:prstGeom prst="roundRect">
            <a:avLst/>
          </a:prstGeom>
          <a:solidFill>
            <a:srgbClr val="2F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873252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 UI"/>
              </a:rPr>
              <a:t>8 维动态学生画像：个性化生成的抓手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B8CAE6"/>
                </a:solidFill>
                <a:latin typeface="Microsoft YaHei"/>
              </a:rPr>
              <a:t>画像来自对话和学习行为，不要求学生先填长问卷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502920"/>
            <a:ext cx="1828800" cy="329184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566928"/>
            <a:ext cx="1737360" cy="2468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F7BFF"/>
                </a:solidFill>
                <a:latin typeface="Microsoft YaHei"/>
              </a:rPr>
              <a:t>个性化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2286000" cy="713232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" y="1728216"/>
            <a:ext cx="310896" cy="310896"/>
          </a:xfrm>
          <a:prstGeom prst="ellipse">
            <a:avLst/>
          </a:prstGeom>
          <a:solidFill>
            <a:srgbClr val="0D253F"/>
          </a:solidFill>
          <a:ln w="1524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824593"/>
            <a:ext cx="310896" cy="10881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792224"/>
            <a:ext cx="1371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知识基础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572768"/>
            <a:ext cx="2286000" cy="713232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1728216"/>
            <a:ext cx="310896" cy="310896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824593"/>
            <a:ext cx="310896" cy="10881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1792224"/>
            <a:ext cx="1371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认知风格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572768"/>
            <a:ext cx="2286000" cy="713232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45352" y="1728216"/>
            <a:ext cx="310896" cy="310896"/>
          </a:xfrm>
          <a:prstGeom prst="ellipse">
            <a:avLst/>
          </a:prstGeom>
          <a:solidFill>
            <a:srgbClr val="0D253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824593"/>
            <a:ext cx="310896" cy="10881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1792224"/>
            <a:ext cx="1371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学习目标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572768"/>
            <a:ext cx="2286000" cy="713232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42832" y="1728216"/>
            <a:ext cx="310896" cy="310896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2832" y="1824593"/>
            <a:ext cx="310896" cy="10881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1792224"/>
            <a:ext cx="1371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易错点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2560320"/>
            <a:ext cx="2286000" cy="713232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0392" y="2715768"/>
            <a:ext cx="310896" cy="310896"/>
          </a:xfrm>
          <a:prstGeom prst="ellipse">
            <a:avLst/>
          </a:prstGeom>
          <a:solidFill>
            <a:srgbClr val="0D253F"/>
          </a:solidFill>
          <a:ln w="1524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2812145"/>
            <a:ext cx="310896" cy="10881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2779776"/>
            <a:ext cx="1371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学习节奏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2560320"/>
            <a:ext cx="2286000" cy="713232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47872" y="2715768"/>
            <a:ext cx="310896" cy="310896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7872" y="2812145"/>
            <a:ext cx="310896" cy="10881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0208" y="2779776"/>
            <a:ext cx="1371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兴趣方向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2560320"/>
            <a:ext cx="2286000" cy="713232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45352" y="2715768"/>
            <a:ext cx="310896" cy="310896"/>
          </a:xfrm>
          <a:prstGeom prst="ellipse">
            <a:avLst/>
          </a:prstGeom>
          <a:solidFill>
            <a:srgbClr val="0D253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352" y="2812145"/>
            <a:ext cx="310896" cy="10881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47688" y="2779776"/>
            <a:ext cx="1371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编程能力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2560320"/>
            <a:ext cx="2286000" cy="713232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42832" y="2715768"/>
            <a:ext cx="310896" cy="310896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2832" y="2812145"/>
            <a:ext cx="310896" cy="10881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2779776"/>
            <a:ext cx="1371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时间投入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3886200"/>
            <a:ext cx="5074920" cy="106070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" y="4160520"/>
            <a:ext cx="128016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8C99D"/>
                </a:solidFill>
                <a:latin typeface="Microsoft YaHei"/>
              </a:rPr>
              <a:t>更新机制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74519" y="4160520"/>
            <a:ext cx="342900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B8CAE6"/>
                </a:solidFill>
                <a:latin typeface="Microsoft YaHei"/>
              </a:rPr>
              <a:t>LLM 结构化抽取 → 正则兜底 → 学生确认 → 写入画像与学习路径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3886200"/>
            <a:ext cx="4526280" cy="1060704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28232" y="4160520"/>
            <a:ext cx="128016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8D6F5"/>
                </a:solidFill>
                <a:latin typeface="Microsoft YaHei"/>
              </a:rPr>
              <a:t>演示样例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078224"/>
            <a:ext cx="28346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30" b="0">
                <a:solidFill>
                  <a:srgbClr val="B8CAE6"/>
                </a:solidFill>
                <a:latin typeface="Microsoft YaHei"/>
              </a:rPr>
              <a:t>计算机专业大三 · 机器学习基础一般 · 链式法则薄弱 · 每周 6 小时 · 偏好图文结合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" y="5413248"/>
            <a:ext cx="9966960" cy="457200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07008" y="5559552"/>
            <a:ext cx="941832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5A400"/>
                </a:solidFill>
                <a:latin typeface="Microsoft YaHei"/>
              </a:rPr>
              <a:t>画像改变资源深度、题目难度、代码复杂度、呈现形式和路径节奏。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" y="6510528"/>
            <a:ext cx="33832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6E83A8"/>
                </a:solidFill>
                <a:latin typeface="Microsoft YaHei"/>
              </a:rPr>
              <a:t>08 · 学生画像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16768" y="6510528"/>
            <a:ext cx="8686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0">
                <a:solidFill>
                  <a:srgbClr val="6E83A8"/>
                </a:solidFill>
                <a:latin typeface="Microsoft YaHei"/>
              </a:rPr>
              <a:t>EduAgent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02336"/>
            <a:ext cx="54864" cy="420624"/>
          </a:xfrm>
          <a:prstGeom prst="roundRect">
            <a:avLst/>
          </a:prstGeom>
          <a:solidFill>
            <a:srgbClr val="2F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873252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 UI"/>
              </a:rPr>
              <a:t>一次学习目标，生成一组互补的多模态资源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B8CAE6"/>
                </a:solidFill>
                <a:latin typeface="Microsoft YaHei"/>
              </a:rPr>
              <a:t>资源包式学习比单段答案更适合高校课程理解与复习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502920"/>
            <a:ext cx="1828800" cy="329184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566928"/>
            <a:ext cx="1737360" cy="2468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F7BFF"/>
                </a:solidFill>
                <a:latin typeface="Microsoft YaHei"/>
              </a:rPr>
              <a:t>多模态资源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1572768"/>
            <a:ext cx="2304288" cy="841248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792224"/>
            <a:ext cx="347472" cy="34747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99940"/>
            <a:ext cx="347472" cy="12161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773936"/>
            <a:ext cx="128016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学习文档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075688"/>
            <a:ext cx="1371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19" b="0">
                <a:solidFill>
                  <a:srgbClr val="B8CAE6"/>
                </a:solidFill>
                <a:latin typeface="Microsoft YaHei"/>
              </a:rPr>
              <a:t>概念/步骤/误区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9856" y="1572768"/>
            <a:ext cx="2304288" cy="841248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4448" y="1792224"/>
            <a:ext cx="347472" cy="34747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899940"/>
            <a:ext cx="347472" cy="12161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1773936"/>
            <a:ext cx="128016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思维导图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1648" y="2075688"/>
            <a:ext cx="1371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19" b="0">
                <a:solidFill>
                  <a:srgbClr val="B8CAE6"/>
                </a:solidFill>
                <a:latin typeface="Microsoft YaHei"/>
              </a:rPr>
              <a:t>Mermaid 知识结构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572768"/>
            <a:ext cx="2304288" cy="841248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27648" y="1792224"/>
            <a:ext cx="347472" cy="34747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899940"/>
            <a:ext cx="347472" cy="12161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1773936"/>
            <a:ext cx="128016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练习题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2075688"/>
            <a:ext cx="1371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19" b="0">
                <a:solidFill>
                  <a:srgbClr val="B8CAE6"/>
                </a:solidFill>
                <a:latin typeface="Microsoft YaHei"/>
              </a:rPr>
              <a:t>选择/判断/简答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6256" y="1572768"/>
            <a:ext cx="2304288" cy="841248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70848" y="1792224"/>
            <a:ext cx="347472" cy="34747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0848" y="1899940"/>
            <a:ext cx="347472" cy="12161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1773936"/>
            <a:ext cx="128016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代码示例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2075688"/>
            <a:ext cx="1371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19" b="0">
                <a:solidFill>
                  <a:srgbClr val="B8CAE6"/>
                </a:solidFill>
                <a:latin typeface="Microsoft YaHei"/>
              </a:rPr>
              <a:t>可运行 Python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" y="2743200"/>
            <a:ext cx="2304288" cy="841248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1247" y="2962656"/>
            <a:ext cx="347472" cy="34747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3070372"/>
            <a:ext cx="347472" cy="12161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2944368"/>
            <a:ext cx="128016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PPT 课件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246120"/>
            <a:ext cx="1371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19" b="0">
                <a:solidFill>
                  <a:srgbClr val="B8CAE6"/>
                </a:solidFill>
                <a:latin typeface="Microsoft YaHei"/>
              </a:rPr>
              <a:t>演示大纲/复习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19856" y="2743200"/>
            <a:ext cx="2304288" cy="841248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84448" y="2962656"/>
            <a:ext cx="347472" cy="34747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84448" y="3070372"/>
            <a:ext cx="347472" cy="12161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1648" y="2944368"/>
            <a:ext cx="128016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动画分镜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1648" y="3246120"/>
            <a:ext cx="1371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19" b="0">
                <a:solidFill>
                  <a:srgbClr val="B8CAE6"/>
                </a:solidFill>
                <a:latin typeface="Microsoft YaHei"/>
              </a:rPr>
              <a:t>镜头/旁白/素材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6" y="2743200"/>
            <a:ext cx="2304288" cy="841248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27648" y="2962656"/>
            <a:ext cx="347472" cy="34747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3070372"/>
            <a:ext cx="347472" cy="12161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4848" y="2944368"/>
            <a:ext cx="128016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拓展阅读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8" y="3246120"/>
            <a:ext cx="1371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19" b="0">
                <a:solidFill>
                  <a:srgbClr val="B8CAE6"/>
                </a:solidFill>
                <a:latin typeface="Microsoft YaHei"/>
              </a:rPr>
              <a:t>参考资料推荐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06256" y="2743200"/>
            <a:ext cx="2304288" cy="841248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27D1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070848" y="2962656"/>
            <a:ext cx="347472" cy="347472"/>
          </a:xfrm>
          <a:prstGeom prst="ellipse">
            <a:avLst/>
          </a:prstGeom>
          <a:solidFill>
            <a:srgbClr val="0D253F"/>
          </a:solidFill>
          <a:ln w="15240">
            <a:solidFill>
              <a:srgbClr val="27D1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70848" y="3070372"/>
            <a:ext cx="347472" cy="12161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28048" y="2944368"/>
            <a:ext cx="128016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相关视频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8048" y="3246120"/>
            <a:ext cx="1371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19" b="0">
                <a:solidFill>
                  <a:srgbClr val="B8CAE6"/>
                </a:solidFill>
                <a:latin typeface="Microsoft YaHei"/>
              </a:rPr>
              <a:t>凭证缺失时降级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6656" y="4462272"/>
            <a:ext cx="10698480" cy="100584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" y="4681728"/>
            <a:ext cx="7955279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8C99D"/>
                </a:solidFill>
                <a:latin typeface="Microsoft YaHei"/>
              </a:rPr>
              <a:t>资源生成不是“越多越好”，而是围绕同一主题形成互补学习路径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5074920"/>
            <a:ext cx="90982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B8CAE6"/>
                </a:solidFill>
                <a:latin typeface="Consolas"/>
              </a:rPr>
              <a:t>证据：backend/app/agents/doc_agent.py · quiz_agent.py · code_agent.py · media_agent.py · frontend/src/components/chat/ResourceCard.tsx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" y="6510528"/>
            <a:ext cx="33832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6E83A8"/>
                </a:solidFill>
                <a:latin typeface="Microsoft YaHei"/>
              </a:rPr>
              <a:t>09 · 多模态资源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16768" y="6510528"/>
            <a:ext cx="8686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0">
                <a:solidFill>
                  <a:srgbClr val="6E83A8"/>
                </a:solidFill>
                <a:latin typeface="Microsoft YaHei"/>
              </a:rPr>
              <a:t>EduAgent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02336"/>
            <a:ext cx="54864" cy="420624"/>
          </a:xfrm>
          <a:prstGeom prst="roundRect">
            <a:avLst/>
          </a:prstGeom>
          <a:solidFill>
            <a:srgbClr val="2F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873252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 UI"/>
              </a:rPr>
              <a:t>学习反馈闭环：测验结果进入错题、画像、路径和仪表盘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B8CAE6"/>
                </a:solidFill>
                <a:latin typeface="Microsoft YaHei"/>
              </a:rPr>
              <a:t>学习效果评估不只是分数，而是下一轮个性化推荐的输入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502920"/>
            <a:ext cx="1828800" cy="329184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566928"/>
            <a:ext cx="1737360" cy="2468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F7BFF"/>
                </a:solidFill>
                <a:latin typeface="Microsoft YaHei"/>
              </a:rPr>
              <a:t>学习闭环</a:t>
            </a:r>
          </a:p>
        </p:txBody>
      </p:sp>
      <p:sp>
        <p:nvSpPr>
          <p:cNvPr id="8" name="Oval 7"/>
          <p:cNvSpPr/>
          <p:nvPr/>
        </p:nvSpPr>
        <p:spPr>
          <a:xfrm>
            <a:off x="5596128" y="1024128"/>
            <a:ext cx="786384" cy="786384"/>
          </a:xfrm>
          <a:prstGeom prst="ellipse">
            <a:avLst/>
          </a:prstGeom>
          <a:solidFill>
            <a:srgbClr val="111D31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96128" y="1267907"/>
            <a:ext cx="786384" cy="27523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2392" y="1856232"/>
            <a:ext cx="113385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生成练习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2664" y="2112264"/>
            <a:ext cx="135331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50" b="0">
                <a:solidFill>
                  <a:srgbClr val="B8CAE6"/>
                </a:solidFill>
                <a:latin typeface="Microsoft YaHei"/>
              </a:rPr>
              <a:t>Quiz Agent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9320" y="1417320"/>
            <a:ext cx="1623381" cy="937260"/>
          </a:xfrm>
          <a:prstGeom prst="line">
            <a:avLst/>
          </a:prstGeom>
          <a:ln w="177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219509" y="1961388"/>
            <a:ext cx="786384" cy="786384"/>
          </a:xfrm>
          <a:prstGeom prst="ellipse">
            <a:avLst/>
          </a:prstGeom>
          <a:solidFill>
            <a:srgbClr val="111D31"/>
          </a:solidFill>
          <a:ln w="1524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9509" y="2205167"/>
            <a:ext cx="786384" cy="27523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5773" y="2793492"/>
            <a:ext cx="113385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提交答案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6045" y="3049524"/>
            <a:ext cx="135331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50" b="0">
                <a:solidFill>
                  <a:srgbClr val="B8CAE6"/>
                </a:solidFill>
                <a:latin typeface="Microsoft YaHei"/>
              </a:rPr>
              <a:t>InteractiveQuiz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12701" y="2354580"/>
            <a:ext cx="0" cy="1874520"/>
          </a:xfrm>
          <a:prstGeom prst="line">
            <a:avLst/>
          </a:prstGeom>
          <a:ln w="177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219509" y="3835908"/>
            <a:ext cx="786384" cy="786384"/>
          </a:xfrm>
          <a:prstGeom prst="ellipse">
            <a:avLst/>
          </a:prstGeom>
          <a:solidFill>
            <a:srgbClr val="111D31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9509" y="4079687"/>
            <a:ext cx="786384" cy="27523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773" y="4668012"/>
            <a:ext cx="113385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自动评分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6045" y="4924044"/>
            <a:ext cx="135331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50" b="0">
                <a:solidFill>
                  <a:srgbClr val="B8CAE6"/>
                </a:solidFill>
                <a:latin typeface="Microsoft YaHei"/>
              </a:rPr>
              <a:t>score + explanation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989320" y="4229100"/>
            <a:ext cx="1623381" cy="937260"/>
          </a:xfrm>
          <a:prstGeom prst="line">
            <a:avLst/>
          </a:prstGeom>
          <a:ln w="177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596128" y="4773168"/>
            <a:ext cx="786384" cy="786384"/>
          </a:xfrm>
          <a:prstGeom prst="ellipse">
            <a:avLst/>
          </a:prstGeom>
          <a:solidFill>
            <a:srgbClr val="111D31"/>
          </a:solidFill>
          <a:ln w="1524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6128" y="5016947"/>
            <a:ext cx="786384" cy="27523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2392" y="5605272"/>
            <a:ext cx="113385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错题复习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5861304"/>
            <a:ext cx="135331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50" b="0">
                <a:solidFill>
                  <a:srgbClr val="B8CAE6"/>
                </a:solidFill>
                <a:latin typeface="Microsoft YaHei"/>
              </a:rPr>
              <a:t>weak_points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4365938" y="4229100"/>
            <a:ext cx="1623382" cy="937260"/>
          </a:xfrm>
          <a:prstGeom prst="line">
            <a:avLst/>
          </a:prstGeom>
          <a:ln w="177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972746" y="3835908"/>
            <a:ext cx="786384" cy="786384"/>
          </a:xfrm>
          <a:prstGeom prst="ellipse">
            <a:avLst/>
          </a:prstGeom>
          <a:solidFill>
            <a:srgbClr val="111D31"/>
          </a:solidFill>
          <a:ln w="1524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2746" y="4079687"/>
            <a:ext cx="786384" cy="27523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9010" y="4668012"/>
            <a:ext cx="113385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路径调整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89282" y="4924044"/>
            <a:ext cx="135331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50" b="0">
                <a:solidFill>
                  <a:srgbClr val="B8CAE6"/>
                </a:solidFill>
                <a:latin typeface="Microsoft YaHei"/>
              </a:rPr>
              <a:t>LearningPath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4365938" y="2354580"/>
            <a:ext cx="0" cy="1874520"/>
          </a:xfrm>
          <a:prstGeom prst="line">
            <a:avLst/>
          </a:prstGeom>
          <a:ln w="177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972746" y="1961388"/>
            <a:ext cx="786384" cy="786384"/>
          </a:xfrm>
          <a:prstGeom prst="ellipse">
            <a:avLst/>
          </a:prstGeom>
          <a:solidFill>
            <a:srgbClr val="111D31"/>
          </a:solidFill>
          <a:ln w="15240">
            <a:solidFill>
              <a:srgbClr val="27D1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2746" y="2205167"/>
            <a:ext cx="786384" cy="27523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9010" y="2793492"/>
            <a:ext cx="113385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仪表盘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89282" y="3049524"/>
            <a:ext cx="135331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750" b="0">
                <a:solidFill>
                  <a:srgbClr val="B8CAE6"/>
                </a:solidFill>
                <a:latin typeface="Microsoft YaHei"/>
              </a:rPr>
              <a:t>Analytics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4365938" y="1417320"/>
            <a:ext cx="1623382" cy="937260"/>
          </a:xfrm>
          <a:prstGeom prst="line">
            <a:avLst/>
          </a:prstGeom>
          <a:ln w="177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13232" y="2057400"/>
            <a:ext cx="2697480" cy="25603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2331720"/>
            <a:ext cx="201168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5A400"/>
                </a:solidFill>
                <a:latin typeface="Microsoft YaHei"/>
              </a:rPr>
              <a:t>评委可验证动作</a:t>
            </a:r>
          </a:p>
        </p:txBody>
      </p:sp>
      <p:sp>
        <p:nvSpPr>
          <p:cNvPr id="40" name="Oval 39"/>
          <p:cNvSpPr/>
          <p:nvPr/>
        </p:nvSpPr>
        <p:spPr>
          <a:xfrm>
            <a:off x="932688" y="2825496"/>
            <a:ext cx="73152" cy="73152"/>
          </a:xfrm>
          <a:prstGeom prst="ellipse">
            <a:avLst/>
          </a:prstGeom>
          <a:solidFill>
            <a:srgbClr val="F5A400"/>
          </a:solidFill>
          <a:ln w="1524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8992" y="2788920"/>
            <a:ext cx="1911095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B8CAE6"/>
                </a:solidFill>
                <a:latin typeface="Microsoft YaHei"/>
              </a:rPr>
              <a:t>故意答错链式法则题</a:t>
            </a:r>
          </a:p>
        </p:txBody>
      </p:sp>
      <p:sp>
        <p:nvSpPr>
          <p:cNvPr id="42" name="Oval 41"/>
          <p:cNvSpPr/>
          <p:nvPr/>
        </p:nvSpPr>
        <p:spPr>
          <a:xfrm>
            <a:off x="932688" y="3136391"/>
            <a:ext cx="73152" cy="73152"/>
          </a:xfrm>
          <a:prstGeom prst="ellipse">
            <a:avLst/>
          </a:prstGeom>
          <a:solidFill>
            <a:srgbClr val="F5A400"/>
          </a:solidFill>
          <a:ln w="1524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8992" y="3099815"/>
            <a:ext cx="1911095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B8CAE6"/>
                </a:solidFill>
                <a:latin typeface="Microsoft YaHei"/>
              </a:rPr>
              <a:t>查看错题进入复习队列</a:t>
            </a:r>
          </a:p>
        </p:txBody>
      </p:sp>
      <p:sp>
        <p:nvSpPr>
          <p:cNvPr id="44" name="Oval 43"/>
          <p:cNvSpPr/>
          <p:nvPr/>
        </p:nvSpPr>
        <p:spPr>
          <a:xfrm>
            <a:off x="932688" y="3447288"/>
            <a:ext cx="73152" cy="73152"/>
          </a:xfrm>
          <a:prstGeom prst="ellipse">
            <a:avLst/>
          </a:prstGeom>
          <a:solidFill>
            <a:srgbClr val="F5A400"/>
          </a:solidFill>
          <a:ln w="1524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8992" y="3410712"/>
            <a:ext cx="1911095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B8CAE6"/>
                </a:solidFill>
                <a:latin typeface="Microsoft YaHei"/>
              </a:rPr>
              <a:t>观察 weak_points 更新</a:t>
            </a:r>
          </a:p>
        </p:txBody>
      </p:sp>
      <p:sp>
        <p:nvSpPr>
          <p:cNvPr id="46" name="Oval 45"/>
          <p:cNvSpPr/>
          <p:nvPr/>
        </p:nvSpPr>
        <p:spPr>
          <a:xfrm>
            <a:off x="932688" y="3758184"/>
            <a:ext cx="73152" cy="73152"/>
          </a:xfrm>
          <a:prstGeom prst="ellipse">
            <a:avLst/>
          </a:prstGeom>
          <a:solidFill>
            <a:srgbClr val="F5A400"/>
          </a:solidFill>
          <a:ln w="1524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8992" y="3721608"/>
            <a:ext cx="1911095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B8CAE6"/>
                </a:solidFill>
                <a:latin typeface="Microsoft YaHei"/>
              </a:rPr>
              <a:t>切到 /analytics 看可观测记录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" y="6510528"/>
            <a:ext cx="33832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6E83A8"/>
                </a:solidFill>
                <a:latin typeface="Microsoft YaHei"/>
              </a:rPr>
              <a:t>10 · 学习反馈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16768" y="6510528"/>
            <a:ext cx="8686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0">
                <a:solidFill>
                  <a:srgbClr val="6E83A8"/>
                </a:solidFill>
                <a:latin typeface="Microsoft YaHei"/>
              </a:rPr>
              <a:t>EduAgent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02336"/>
            <a:ext cx="54864" cy="420624"/>
          </a:xfrm>
          <a:prstGeom prst="roundRect">
            <a:avLst/>
          </a:prstGeom>
          <a:solidFill>
            <a:srgbClr val="2F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873252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 UI"/>
              </a:rPr>
              <a:t>前沿 AI 技术融合：每项技术都有明确业务位置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B8CAE6"/>
                </a:solidFill>
                <a:latin typeface="Microsoft YaHei"/>
              </a:rPr>
              <a:t>避免名词堆叠，把大模型、RAG、Agent、安全和流式交互放入同一学习链路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502920"/>
            <a:ext cx="1828800" cy="329184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566928"/>
            <a:ext cx="1737360" cy="2468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F7BFF"/>
                </a:solidFill>
                <a:latin typeface="Microsoft YaHei"/>
              </a:rPr>
              <a:t>AI 融合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3182112" cy="1170432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73936"/>
            <a:ext cx="141732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2F7BFF"/>
                </a:solidFill>
                <a:latin typeface="Microsoft YaHei"/>
              </a:rPr>
              <a:t>大模型服务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26060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B8CAE6"/>
                </a:solidFill>
                <a:latin typeface="Microsoft YaHei"/>
              </a:rPr>
              <a:t>讯飞 / DeepSeek / OpenAI 兼容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26060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路由、画像、Tutor、资源生成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572768"/>
            <a:ext cx="3182112" cy="1170432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73936"/>
            <a:ext cx="141732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LangGraph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03120"/>
            <a:ext cx="26060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B8CAE6"/>
                </a:solidFill>
                <a:latin typeface="Microsoft YaHei"/>
              </a:rPr>
              <a:t>StateGraph + 条件分支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95728"/>
            <a:ext cx="26060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多 Agent 编排与状态流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572768"/>
            <a:ext cx="3182112" cy="1170432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73936"/>
            <a:ext cx="141732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8D6F5"/>
                </a:solidFill>
                <a:latin typeface="Microsoft YaHei"/>
              </a:rPr>
              <a:t>RAG + BM25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26060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B8CAE6"/>
                </a:solidFill>
                <a:latin typeface="Microsoft YaHei"/>
              </a:rPr>
              <a:t>向量检索 + 关键词检索 + Rerank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95728"/>
            <a:ext cx="26060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降低幻觉，给出来源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00400"/>
            <a:ext cx="3182112" cy="1170432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01568"/>
            <a:ext cx="141732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8C99D"/>
                </a:solidFill>
                <a:latin typeface="Microsoft YaHei"/>
              </a:rPr>
              <a:t>知识图谱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730752"/>
            <a:ext cx="26060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B8CAE6"/>
                </a:solidFill>
                <a:latin typeface="Microsoft YaHei"/>
              </a:rPr>
              <a:t>课程 → 章节 → 知识点 → 依赖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23360"/>
            <a:ext cx="26060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路径规划和前置知识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200400"/>
            <a:ext cx="3182112" cy="1170432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401568"/>
            <a:ext cx="141732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5A400"/>
                </a:solidFill>
                <a:latin typeface="Microsoft YaHei"/>
              </a:rPr>
              <a:t>SSE Streaming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730752"/>
            <a:ext cx="26060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B8CAE6"/>
                </a:solidFill>
                <a:latin typeface="Microsoft YaHei"/>
              </a:rPr>
              <a:t>token 流 + Agent 状态事件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023360"/>
            <a:ext cx="26060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减少等待，提升可观测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3200400"/>
            <a:ext cx="3182112" cy="1170432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27D1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401568"/>
            <a:ext cx="141732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27D17F"/>
                </a:solidFill>
                <a:latin typeface="Microsoft YaHei"/>
              </a:rPr>
              <a:t>安全护栏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730752"/>
            <a:ext cx="26060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B8CAE6"/>
                </a:solidFill>
                <a:latin typeface="Microsoft YaHei"/>
              </a:rPr>
              <a:t>讯飞审核 + 本地规则兜底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023360"/>
            <a:ext cx="26060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低置信与风险内容提示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193792"/>
            <a:ext cx="9875520" cy="512064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5376672"/>
            <a:ext cx="9326880" cy="1737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50" b="1">
                <a:solidFill>
                  <a:srgbClr val="08D6F5"/>
                </a:solidFill>
                <a:latin typeface="Microsoft YaHei"/>
              </a:rPr>
              <a:t>融合逻辑：Profile 定制上下文，Wiki 提供可信知识，LangGraph 调度 Agent，SSE 让过程可见，Safety 控制输出边界。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6510528"/>
            <a:ext cx="33832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6E83A8"/>
                </a:solidFill>
                <a:latin typeface="Microsoft YaHei"/>
              </a:rPr>
              <a:t>11 · 前沿 AI 融合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16768" y="6510528"/>
            <a:ext cx="8686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0">
                <a:solidFill>
                  <a:srgbClr val="6E83A8"/>
                </a:solidFill>
                <a:latin typeface="Microsoft YaHei"/>
              </a:rPr>
              <a:t>EduAgent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02336"/>
            <a:ext cx="54864" cy="420624"/>
          </a:xfrm>
          <a:prstGeom prst="roundRect">
            <a:avLst/>
          </a:prstGeom>
          <a:solidFill>
            <a:srgbClr val="2F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873252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 UI"/>
              </a:rPr>
              <a:t>创新价值：从“生成内容”升级为“组织学习过程”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B8CAE6"/>
                </a:solidFill>
                <a:latin typeface="Microsoft YaHei"/>
              </a:rPr>
              <a:t>用对比基线说明 EduAgent 的差异化，而不是只列功能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502920"/>
            <a:ext cx="1828800" cy="329184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566928"/>
            <a:ext cx="1737360" cy="2468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F7BFF"/>
                </a:solidFill>
                <a:latin typeface="Microsoft YaHei"/>
              </a:rPr>
              <a:t>创新价值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1645920" cy="43891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55448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60" b="1">
                <a:solidFill>
                  <a:srgbClr val="B8CAE6"/>
                </a:solidFill>
                <a:latin typeface="Microsoft YaHei"/>
              </a:rPr>
              <a:t>能力维度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1417320"/>
            <a:ext cx="2057400" cy="43891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554480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60" b="1">
                <a:solidFill>
                  <a:srgbClr val="B8CAE6"/>
                </a:solidFill>
                <a:latin typeface="Microsoft YaHei"/>
              </a:rPr>
              <a:t>普通 ChatBot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417320"/>
            <a:ext cx="2057400" cy="43891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1554480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60" b="1">
                <a:solidFill>
                  <a:srgbClr val="B8CAE6"/>
                </a:solidFill>
                <a:latin typeface="Microsoft YaHei"/>
              </a:rPr>
              <a:t>普通 RAG 问答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2057400" cy="43891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554480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60" b="1">
                <a:solidFill>
                  <a:srgbClr val="B8CAE6"/>
                </a:solidFill>
                <a:latin typeface="Microsoft YaHei"/>
              </a:rPr>
              <a:t>传统学习平台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417320"/>
            <a:ext cx="2468880" cy="438912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554480"/>
            <a:ext cx="23774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60" b="1">
                <a:solidFill>
                  <a:srgbClr val="08C99D"/>
                </a:solidFill>
                <a:latin typeface="Microsoft YaHei"/>
              </a:rPr>
              <a:t>EduAgent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1938528"/>
            <a:ext cx="164592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093976"/>
            <a:ext cx="155448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学生画像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48840" y="1938528"/>
            <a:ext cx="205740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2093976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B8CAE6"/>
                </a:solidFill>
                <a:latin typeface="Microsoft YaHei"/>
              </a:rPr>
              <a:t>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1938528"/>
            <a:ext cx="205740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2093976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B8CAE6"/>
                </a:solidFill>
                <a:latin typeface="Microsoft YaHei"/>
              </a:rPr>
              <a:t>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938528"/>
            <a:ext cx="205740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2093976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B8CAE6"/>
                </a:solidFill>
                <a:latin typeface="Microsoft YaHei"/>
              </a:rPr>
              <a:t>静态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938528"/>
            <a:ext cx="246888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093976"/>
            <a:ext cx="23774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8维动态画像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596896"/>
            <a:ext cx="164592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752344"/>
            <a:ext cx="155448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资源生成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48840" y="2596896"/>
            <a:ext cx="205740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2752344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B8CAE6"/>
                </a:solidFill>
                <a:latin typeface="Microsoft YaHei"/>
              </a:rPr>
              <a:t>单段回答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2596896"/>
            <a:ext cx="205740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59" y="2752344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B8CAE6"/>
                </a:solidFill>
                <a:latin typeface="Microsoft YaHei"/>
              </a:rPr>
              <a:t>答案+来源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2596896"/>
            <a:ext cx="205740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2752344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B8CAE6"/>
                </a:solidFill>
                <a:latin typeface="Microsoft YaHei"/>
              </a:rPr>
              <a:t>固定内容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2596896"/>
            <a:ext cx="246888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2752344"/>
            <a:ext cx="23774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8类资源包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255264"/>
            <a:ext cx="164592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410712"/>
            <a:ext cx="155448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Agent 协同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48840" y="3255264"/>
            <a:ext cx="205740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3410712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B8CAE6"/>
                </a:solidFill>
                <a:latin typeface="Microsoft YaHei"/>
              </a:rPr>
              <a:t>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06240" y="3255264"/>
            <a:ext cx="205740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59" y="3410712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B8CAE6"/>
                </a:solidFill>
                <a:latin typeface="Microsoft YaHei"/>
              </a:rPr>
              <a:t>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3255264"/>
            <a:ext cx="205740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59" y="3410712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B8CAE6"/>
                </a:solidFill>
                <a:latin typeface="Microsoft YaHei"/>
              </a:rPr>
              <a:t>流程固定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3255264"/>
            <a:ext cx="246888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3410712"/>
            <a:ext cx="23774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LangGraph 状态流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3913632"/>
            <a:ext cx="164592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069080"/>
            <a:ext cx="155448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学习反馈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48840" y="3913632"/>
            <a:ext cx="205740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4560" y="4069080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B8CAE6"/>
                </a:solidFill>
                <a:latin typeface="Microsoft YaHei"/>
              </a:rPr>
              <a:t>无沉淀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06240" y="3913632"/>
            <a:ext cx="205740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51959" y="4069080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B8CAE6"/>
                </a:solidFill>
                <a:latin typeface="Microsoft YaHei"/>
              </a:rPr>
              <a:t>少量记录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3913632"/>
            <a:ext cx="205740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59" y="4069080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B8CAE6"/>
                </a:solidFill>
                <a:latin typeface="Microsoft YaHei"/>
              </a:rPr>
              <a:t>测验孤立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3913632"/>
            <a:ext cx="246888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66760" y="4069080"/>
            <a:ext cx="23774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错题/路径/画像联动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4572000"/>
            <a:ext cx="164592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727448"/>
            <a:ext cx="155448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可信边界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148840" y="4572000"/>
            <a:ext cx="205740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94560" y="4727448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B8CAE6"/>
                </a:solidFill>
                <a:latin typeface="Microsoft YaHei"/>
              </a:rPr>
              <a:t>依赖模型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06240" y="4572000"/>
            <a:ext cx="205740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51959" y="4727448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B8CAE6"/>
                </a:solidFill>
                <a:latin typeface="Microsoft YaHei"/>
              </a:rPr>
              <a:t>有来源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63640" y="4572000"/>
            <a:ext cx="205740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1F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59" y="4727448"/>
            <a:ext cx="19659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B8CAE6"/>
                </a:solidFill>
                <a:latin typeface="Microsoft YaHei"/>
              </a:rPr>
              <a:t>人工维护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21040" y="4572000"/>
            <a:ext cx="2468880" cy="50292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66760" y="4727448"/>
            <a:ext cx="23774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RAG+安全+降级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8912" y="6510528"/>
            <a:ext cx="33832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6E83A8"/>
                </a:solidFill>
                <a:latin typeface="Microsoft YaHei"/>
              </a:rPr>
              <a:t>12 · 创新对比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16768" y="6510528"/>
            <a:ext cx="8686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0">
                <a:solidFill>
                  <a:srgbClr val="6E83A8"/>
                </a:solidFill>
                <a:latin typeface="Microsoft YaHei"/>
              </a:rPr>
              <a:t>EduAgent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02336"/>
            <a:ext cx="54864" cy="420624"/>
          </a:xfrm>
          <a:prstGeom prst="roundRect">
            <a:avLst/>
          </a:prstGeom>
          <a:solidFill>
            <a:srgbClr val="2F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873252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 UI"/>
              </a:rPr>
              <a:t>工程证据：可运行、可测试、可演示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B8CAE6"/>
                </a:solidFill>
                <a:latin typeface="Microsoft YaHei"/>
              </a:rPr>
              <a:t>一等奖材料要让评委相信系统不是概念稿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502920"/>
            <a:ext cx="1828800" cy="329184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566928"/>
            <a:ext cx="1737360" cy="2468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F7BFF"/>
                </a:solidFill>
                <a:latin typeface="Microsoft YaHei"/>
              </a:rPr>
              <a:t>验收证据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572768"/>
            <a:ext cx="1371600" cy="4937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700" b="1">
                <a:solidFill>
                  <a:srgbClr val="27D17F"/>
                </a:solidFill>
                <a:latin typeface="Microsoft YaHei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103120"/>
            <a:ext cx="14630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0">
                <a:solidFill>
                  <a:srgbClr val="B8CAE6"/>
                </a:solidFill>
                <a:latin typeface="Microsoft YaHei"/>
              </a:rPr>
              <a:t>自动评测通过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572768"/>
            <a:ext cx="1371600" cy="4937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700" b="1">
                <a:solidFill>
                  <a:srgbClr val="08D6F5"/>
                </a:solidFill>
                <a:latin typeface="Microsoft YaHei UI"/>
              </a:rPr>
              <a:t>10min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03120"/>
            <a:ext cx="14630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0">
                <a:solidFill>
                  <a:srgbClr val="B8CAE6"/>
                </a:solidFill>
                <a:latin typeface="Microsoft YaHei"/>
              </a:rPr>
              <a:t>主链路演示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572768"/>
            <a:ext cx="1371600" cy="4937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700" b="1">
                <a:solidFill>
                  <a:srgbClr val="08C99D"/>
                </a:solidFill>
                <a:latin typeface="Microsoft YaHei U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103120"/>
            <a:ext cx="14630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0">
                <a:solidFill>
                  <a:srgbClr val="B8CAE6"/>
                </a:solidFill>
                <a:latin typeface="Microsoft YaHei"/>
              </a:rPr>
              <a:t>画像维度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572768"/>
            <a:ext cx="1371600" cy="4937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700" b="1">
                <a:solidFill>
                  <a:srgbClr val="F5A400"/>
                </a:solidFill>
                <a:latin typeface="Microsoft YaHei UI"/>
              </a:rPr>
              <a:t>8类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103120"/>
            <a:ext cx="14630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0">
                <a:solidFill>
                  <a:srgbClr val="B8CAE6"/>
                </a:solidFill>
                <a:latin typeface="Microsoft YaHei"/>
              </a:rPr>
              <a:t>资源类型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572768"/>
            <a:ext cx="1371600" cy="4937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700" b="1">
                <a:solidFill>
                  <a:srgbClr val="8B5CF6"/>
                </a:solidFill>
                <a:latin typeface="Microsoft YaHei UI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103120"/>
            <a:ext cx="14630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0">
                <a:solidFill>
                  <a:srgbClr val="B8CAE6"/>
                </a:solidFill>
                <a:latin typeface="Microsoft YaHei"/>
              </a:rPr>
              <a:t>状态可观测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880360"/>
            <a:ext cx="5212080" cy="1536192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27D1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163824"/>
            <a:ext cx="164592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27D17F"/>
                </a:solidFill>
                <a:latin typeface="Microsoft YaHei"/>
              </a:rPr>
              <a:t>自动评测结果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547872"/>
            <a:ext cx="429768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cd backend &amp;&amp; uv run pytest tests/evals -q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............. [100%]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13 passed in 3.12s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880360"/>
            <a:ext cx="4526280" cy="1536192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163824"/>
            <a:ext cx="128016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8D6F5"/>
                </a:solidFill>
                <a:latin typeface="Microsoft YaHei"/>
              </a:rPr>
              <a:t>覆盖范围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566160"/>
            <a:ext cx="347472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B8CAE6"/>
                </a:solidFill>
                <a:latin typeface="Microsoft YaHei"/>
              </a:rPr>
              <a:t>画像抽取 · 路由判定 · RAG 命中 · 题目结构 · 内容安全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800600"/>
            <a:ext cx="10058400" cy="658368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020056"/>
            <a:ext cx="11887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8C99D"/>
                </a:solidFill>
                <a:latin typeface="Microsoft YaHei"/>
              </a:rPr>
              <a:t>证据索引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029200"/>
            <a:ext cx="7955279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80" b="0">
                <a:solidFill>
                  <a:srgbClr val="B8CAE6"/>
                </a:solidFill>
                <a:latin typeface="Consolas"/>
              </a:rPr>
              <a:t>docs/competition/03_测试说明书.md · 06_演示与验收说明.md · 07_图表与证据索引.md · docs/demo-script.md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6510528"/>
            <a:ext cx="33832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6E83A8"/>
                </a:solidFill>
                <a:latin typeface="Microsoft YaHei"/>
              </a:rPr>
              <a:t>13 · 测试与证据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16768" y="6510528"/>
            <a:ext cx="8686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0">
                <a:solidFill>
                  <a:srgbClr val="6E83A8"/>
                </a:solidFill>
                <a:latin typeface="Microsoft YaHei"/>
              </a:rPr>
              <a:t>EduAgent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-91440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1439" y="228600"/>
            <a:ext cx="1463041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97279" y="228600"/>
            <a:ext cx="1463041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210312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10896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411480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12064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12648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13232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13816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14400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149840" y="228600"/>
            <a:ext cx="1463040" cy="6492240"/>
          </a:xfrm>
          <a:prstGeom prst="line">
            <a:avLst/>
          </a:prstGeom>
          <a:ln w="5715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50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" y="1828800"/>
            <a:ext cx="11430000" cy="0"/>
          </a:xfrm>
          <a:prstGeom prst="line">
            <a:avLst/>
          </a:prstGeom>
          <a:ln w="50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" y="2743200"/>
            <a:ext cx="11430000" cy="0"/>
          </a:xfrm>
          <a:prstGeom prst="line">
            <a:avLst/>
          </a:prstGeom>
          <a:ln w="50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65760" y="3657600"/>
            <a:ext cx="11430000" cy="0"/>
          </a:xfrm>
          <a:prstGeom prst="line">
            <a:avLst/>
          </a:prstGeom>
          <a:ln w="50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5760" y="4572000"/>
            <a:ext cx="11430000" cy="0"/>
          </a:xfrm>
          <a:prstGeom prst="line">
            <a:avLst/>
          </a:prstGeom>
          <a:ln w="50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5760" y="5486400"/>
            <a:ext cx="11430000" cy="0"/>
          </a:xfrm>
          <a:prstGeom prst="line">
            <a:avLst/>
          </a:prstGeom>
          <a:ln w="50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577840" y="1325880"/>
            <a:ext cx="146304" cy="146304"/>
          </a:xfrm>
          <a:prstGeom prst="ellipse">
            <a:avLst/>
          </a:prstGeom>
          <a:solidFill>
            <a:srgbClr val="27D17F"/>
          </a:solidFill>
          <a:ln w="15240">
            <a:solidFill>
              <a:srgbClr val="27D1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1938528"/>
            <a:ext cx="146304" cy="146304"/>
          </a:xfrm>
          <a:prstGeom prst="ellipse">
            <a:avLst/>
          </a:prstGeom>
          <a:solidFill>
            <a:srgbClr val="08D6F5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50992" y="1399032"/>
            <a:ext cx="868680" cy="612648"/>
          </a:xfrm>
          <a:prstGeom prst="line">
            <a:avLst/>
          </a:prstGeom>
          <a:ln w="10160">
            <a:solidFill>
              <a:srgbClr val="08D6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360920" y="2578608"/>
            <a:ext cx="146304" cy="146304"/>
          </a:xfrm>
          <a:prstGeom prst="ellipse">
            <a:avLst/>
          </a:prstGeom>
          <a:solidFill>
            <a:srgbClr val="8B5CF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519672" y="2011680"/>
            <a:ext cx="914400" cy="640080"/>
          </a:xfrm>
          <a:prstGeom prst="line">
            <a:avLst/>
          </a:prstGeom>
          <a:ln w="101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275320" y="3218688"/>
            <a:ext cx="146304" cy="146304"/>
          </a:xfrm>
          <a:prstGeom prst="ellipse">
            <a:avLst/>
          </a:prstGeom>
          <a:solidFill>
            <a:srgbClr val="F5A400"/>
          </a:solidFill>
          <a:ln w="1524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434072" y="2651760"/>
            <a:ext cx="914400" cy="640080"/>
          </a:xfrm>
          <a:prstGeom prst="line">
            <a:avLst/>
          </a:prstGeom>
          <a:ln w="10160">
            <a:solidFill>
              <a:srgbClr val="F5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189720" y="3858768"/>
            <a:ext cx="146304" cy="146304"/>
          </a:xfrm>
          <a:prstGeom prst="ellipse">
            <a:avLst/>
          </a:prstGeom>
          <a:solidFill>
            <a:srgbClr val="2F7BFF"/>
          </a:solidFill>
          <a:ln w="1524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8348472" y="3291840"/>
            <a:ext cx="914400" cy="640080"/>
          </a:xfrm>
          <a:prstGeom prst="line">
            <a:avLst/>
          </a:prstGeom>
          <a:ln w="10160">
            <a:solidFill>
              <a:srgbClr val="2F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8912" y="402336"/>
            <a:ext cx="54864" cy="420624"/>
          </a:xfrm>
          <a:prstGeom prst="roundRect">
            <a:avLst/>
          </a:prstGeom>
          <a:solidFill>
            <a:srgbClr val="2F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310896"/>
            <a:ext cx="873252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 UI"/>
              </a:rPr>
              <a:t>演示路线：10 分钟跑通完整学习闭环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1033271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B8CAE6"/>
                </a:solidFill>
                <a:latin typeface="Microsoft YaHei"/>
              </a:rPr>
              <a:t>画像 → 资源 → 测验 → 路径 → Analytics → Wiki 来源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502920"/>
            <a:ext cx="1828800" cy="329184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566928"/>
            <a:ext cx="1737360" cy="2468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F7BFF"/>
                </a:solidFill>
                <a:latin typeface="Microsoft YaHei"/>
              </a:rPr>
              <a:t>现场答辩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0D253F"/>
          </a:solidFill>
          <a:ln w="15240">
            <a:solidFill>
              <a:srgbClr val="2F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1627814"/>
            <a:ext cx="384048" cy="134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53312" y="1554480"/>
            <a:ext cx="73152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2F7BFF"/>
                </a:solidFill>
                <a:latin typeface="Microsoft YaHei"/>
              </a:rPr>
              <a:t>0-2'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93392" y="1554480"/>
            <a:ext cx="292608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登录与画像输入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14984" y="1892807"/>
            <a:ext cx="0" cy="256032"/>
          </a:xfrm>
          <a:prstGeom prst="line">
            <a:avLst/>
          </a:prstGeom>
          <a:ln w="177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822960" y="2148839"/>
            <a:ext cx="384048" cy="384048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2267894"/>
            <a:ext cx="384048" cy="134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53312" y="2194559"/>
            <a:ext cx="73152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08D6F5"/>
                </a:solidFill>
                <a:latin typeface="Microsoft YaHei"/>
              </a:rPr>
              <a:t>2-4.5'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93392" y="2194559"/>
            <a:ext cx="292608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反向传播资源包生成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14984" y="2532887"/>
            <a:ext cx="0" cy="256033"/>
          </a:xfrm>
          <a:prstGeom prst="line">
            <a:avLst/>
          </a:prstGeom>
          <a:ln w="177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22960" y="2788920"/>
            <a:ext cx="384048" cy="384048"/>
          </a:xfrm>
          <a:prstGeom prst="ellipse">
            <a:avLst/>
          </a:prstGeom>
          <a:solidFill>
            <a:srgbClr val="0D253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2907974"/>
            <a:ext cx="384048" cy="134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53312" y="2834639"/>
            <a:ext cx="73152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Microsoft YaHei"/>
              </a:rPr>
              <a:t>4.5-5.5'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93392" y="2834639"/>
            <a:ext cx="292608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提交练习并触发错题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14984" y="3172968"/>
            <a:ext cx="0" cy="256032"/>
          </a:xfrm>
          <a:prstGeom prst="line">
            <a:avLst/>
          </a:prstGeom>
          <a:ln w="177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822960" y="3428999"/>
            <a:ext cx="384048" cy="384048"/>
          </a:xfrm>
          <a:prstGeom prst="ellipse">
            <a:avLst/>
          </a:prstGeom>
          <a:solidFill>
            <a:srgbClr val="0D253F"/>
          </a:solidFill>
          <a:ln w="15240">
            <a:solidFill>
              <a:srgbClr val="08C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3548054"/>
            <a:ext cx="384048" cy="134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53312" y="3474719"/>
            <a:ext cx="73152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08C99D"/>
                </a:solidFill>
                <a:latin typeface="Microsoft YaHei"/>
              </a:rPr>
              <a:t>5.5-7.5'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93392" y="3474719"/>
            <a:ext cx="292608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路径与 Analytics 可观测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14984" y="3813048"/>
            <a:ext cx="0" cy="256031"/>
          </a:xfrm>
          <a:prstGeom prst="line">
            <a:avLst/>
          </a:prstGeom>
          <a:ln w="17780">
            <a:solidFill>
              <a:srgbClr val="1F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822960" y="4069079"/>
            <a:ext cx="384048" cy="384048"/>
          </a:xfrm>
          <a:prstGeom prst="ellipse">
            <a:avLst/>
          </a:prstGeom>
          <a:solidFill>
            <a:srgbClr val="0D253F"/>
          </a:solidFill>
          <a:ln w="1524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4188134"/>
            <a:ext cx="384048" cy="134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53312" y="4114799"/>
            <a:ext cx="73152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5A400"/>
                </a:solidFill>
                <a:latin typeface="Microsoft YaHei"/>
              </a:rPr>
              <a:t>7.5-10'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93392" y="4114799"/>
            <a:ext cx="292608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Wiki 来源与 Tutor 追问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897880" y="1463040"/>
            <a:ext cx="5212080" cy="182880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27D1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9632" y="1737360"/>
            <a:ext cx="1828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7D17F"/>
                </a:solidFill>
                <a:latin typeface="Microsoft YaHei"/>
              </a:rPr>
              <a:t>已完成核心链路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2157984"/>
            <a:ext cx="425196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B8CAE6"/>
                </a:solidFill>
                <a:latin typeface="Microsoft YaHei"/>
              </a:rPr>
              <a:t>认证 / SSE / Agent 编排 / 画像 / Wiki/RAG / 多资源卡 / 测验 / 错题 / 路径 / 分析页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897880" y="3657600"/>
            <a:ext cx="5212080" cy="1371600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F5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99632" y="3913632"/>
            <a:ext cx="164592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5A400"/>
                </a:solidFill>
                <a:latin typeface="Microsoft YaHei"/>
              </a:rPr>
              <a:t>边界与路线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4315968"/>
            <a:ext cx="429768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19" b="0">
                <a:solidFill>
                  <a:srgbClr val="B8CAE6"/>
                </a:solidFill>
                <a:latin typeface="Microsoft YaHei"/>
              </a:rPr>
              <a:t>TTS / 视频检索 / 安全护栏依赖外部凭证；MP4/WebM、OCR、生产对象存储作为后续增强。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808" y="5806440"/>
            <a:ext cx="676656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 UI"/>
              </a:rPr>
              <a:t>让每个学生都有专属的 AI 学习伙伴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" y="6510528"/>
            <a:ext cx="33832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6E83A8"/>
                </a:solidFill>
                <a:latin typeface="Microsoft YaHei"/>
              </a:rPr>
              <a:t>14 · 演示路线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16768" y="6510528"/>
            <a:ext cx="8686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0">
                <a:solidFill>
                  <a:srgbClr val="6E83A8"/>
                </a:solidFill>
                <a:latin typeface="Microsoft YaHei"/>
              </a:rPr>
              <a:t>EduAgent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