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秒：高校学习千人一面，一台问答 AI 完不成「画像→规划→多模态产出→答疑」闭环；EduAgent 用 10 个 Agent 协同完成。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强调痛点真实高频：需求研究采用赛道文本分析 + 权威公开资料 + 工程原型验证，不虚构问卷数据。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一句话定位页。让学生用一句自然语言启动学习，三步内获得贴合自身基础、目标与时间投入的路径与资源。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对比页：左边讲局限，右边讲闭环五环。记忆句：多 Agent 不是炫技，是分工。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蛇形流程：上行左到右 ①②③④，下行右到左 ⑤⑥⑦⑧，虚线回到 ① 表示新一轮学习。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架构页是记忆点。讲清四层：交互层双形态、编排层 10 Agent 分控制面与生成面、知识层 Wiki 三子系统、基础层工程栈。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表格页不必逐行讲，点一行即可：例如 Quiz 负责出题+判题+沉淀薄弱点，端点与平台 api.json 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强调防幻觉是赛题刚性要求，Wiki 是所有 Agent 的事实边界；aApp 内置计算机网络，另一门经 MCP 提供。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防幻觉是评审重点。强调两点：锚定型端点物理禁网；三级兜底每次升级都在卡片上显式标注来源层级。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演示动线记忆点：第 4 步并行生成、第 5 步苏格拉底答疑。现场可用触发语实测，亦可在 MCP 宿主调用工具演示。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类资源 + 右下关键数据格。强调「并行」与「随画像变化」。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强调「已上架、可实测」：市场搜 EduAgent 即可安装；自动化是 remio 原生能力（事件订阅 + 消息推送）。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双形态：同一套 Agent 引擎既服务本赛道（aApp），又能走出 remio（MCP 跨宿主复用）。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五个创新点逐条一句话，评委记住 1、3、4 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验收表逐条可测。底部为 2026-09-09 实跑量化基线：142/142 测试、11/11 质量基线、RAG 内容相关 top-1 100%（24 查询）、18 端点三方一致；复现：uv run pytest / tests/evals/eval_rag_hit_real.py / app.mcp_server --self-test。邀请评委用触发语现场实测收口。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商业化不堆数字：讲清三类收入来源与落地动作即可；主动回应「注册落地金义新区」的大赛要求。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收口一句话 + 三个体验入口 + 合规声明 + 致谢。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281160" y="777240"/>
            <a:ext cx="1097280" cy="41148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777240"/>
            <a:ext cx="1097280" cy="7772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188720"/>
            <a:ext cx="365760" cy="109728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2286000"/>
            <a:ext cx="137160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1018520" y="1554480"/>
            <a:ext cx="457200" cy="128016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189720" y="2286000"/>
            <a:ext cx="457200" cy="128016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720" y="3566160"/>
            <a:ext cx="137160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561320" y="2834640"/>
            <a:ext cx="457200" cy="128016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61320" y="4114800"/>
            <a:ext cx="960120" cy="73152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89720" y="3566160"/>
            <a:ext cx="548640" cy="155448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738360" y="4114800"/>
            <a:ext cx="822960" cy="10058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49156" y="115671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46436" y="7452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43716" y="152247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4916" y="225399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86516" y="28026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8" name="Shape 16"/>
          <p:cNvSpPr/>
          <p:nvPr/>
        </p:nvSpPr>
        <p:spPr>
          <a:xfrm>
            <a:off x="9157716" y="353415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29316" y="408279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89436" y="481431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21" name="Shape 19"/>
          <p:cNvSpPr/>
          <p:nvPr/>
        </p:nvSpPr>
        <p:spPr>
          <a:xfrm>
            <a:off x="9706356" y="50886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10515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金漪湖·论剑 2026 智能体 OPC 创新创业大赛 · OPC 智能体赛道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160020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822960" y="269748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个性化学习智能体</a:t>
            </a:r>
            <a:endParaRPr lang="en-US" sz="2900" dirty="0"/>
          </a:p>
        </p:txBody>
      </p:sp>
      <p:sp>
        <p:nvSpPr>
          <p:cNvPr id="25" name="Shape 23"/>
          <p:cNvSpPr/>
          <p:nvPr/>
        </p:nvSpPr>
        <p:spPr>
          <a:xfrm>
            <a:off x="841248" y="3520440"/>
            <a:ext cx="502920" cy="50292"/>
          </a:xfrm>
          <a:prstGeom prst="rect">
            <a:avLst/>
          </a:prstGeom>
          <a:solidFill>
            <a:srgbClr val="E08A6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490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Agent 协同的「画像 — 规划 — 多模态产出 — 答疑」学习闭环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不再用一台问答 AI 应付所有学生——先理解你是谁，再为你生成整个学习过程。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5806440"/>
            <a:ext cx="5852160" cy="0"/>
          </a:xfrm>
          <a:prstGeom prst="line">
            <a:avLst/>
          </a:prstGeom>
          <a:noFill/>
          <a:ln w="12700">
            <a:solidFill>
              <a:srgbClr val="4A4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开发者：wannaw　｜　官方工具：remio 睿妙（aApp 已上架）　｜　形态：aApp · MCP　｜　2026.09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痛点洞察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同一个知识点，学生拿到的却是同一份讲义、同一套题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千人一面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0" cy="658368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700784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同一门课、同一知识点，不同基础、不同目标的学生，拿到的却是完全相同的讲义与题目——「教」与「学」的错配，是高校学习中最大的效率浪费。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80360"/>
            <a:ext cx="353964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 / 大二学生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「基础不牢，公共课跟不上」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典型场景：考前复习、查漏补缺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26026" y="2880360"/>
            <a:ext cx="353964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备考学生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「千人一面，资料不对口」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典型场景：考研 / 期末针对性刷题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85125" y="2880360"/>
            <a:ext cx="353964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薄弱点修复者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「知道不会，但没人引导」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典型场景：就着一个知识点反复问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5257800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E7EEEB"/>
          </a:solidFill>
          <a:ln/>
        </p:spPr>
        <p:txBody>
          <a:bodyPr wrap="square" lIns="1270" tIns="3048" rIns="254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核心命题　</a:t>
            </a:r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个性化学习需要「画像 → 规划 → 多模态产出 → 答疑」的闭环；单一问答 AI 只能答一题，完成不了这个闭环。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作品定位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EduAgent：先理解你是谁，再为你生成整个学习闭环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00784"/>
            <a:ext cx="64008" cy="105156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00784"/>
            <a:ext cx="1082923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面向高校学生的个性化多智能体学习助手——先理解你是谁、哪里薄弱、要学什么，再从结构化课程知识库中检索可追溯的知识，由 10 个分工明确的 Agent 协同产出个性化、多模态的学习资源。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017520"/>
            <a:ext cx="3539642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维画像驱动规划、讲义、练习与答疑，资源随人、随基础、随目标变化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26026" y="3017520"/>
            <a:ext cx="3539642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 · 题目 · 代码 · 导图 · PPT · 阅读 · 动画，一次请求并行产出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085125" y="3017520"/>
            <a:ext cx="3539642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章节级来源引用 + 三级防幻觉兜底，证据不足显式标注，不编造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66928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作品名称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0537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参赛赛道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智能体赛道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94146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官方工具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睿妙（aApp 已上架）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07754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交付形态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aApp · MCP 双形态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方案思路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单一问答 AI 只能「答一题」，个性化学习需要多 Agent 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4892040" cy="3931920"/>
          </a:xfrm>
          <a:prstGeom prst="roundRect">
            <a:avLst>
              <a:gd name="adj" fmla="val 2093"/>
            </a:avLst>
          </a:prstGeom>
          <a:solidFill>
            <a:srgbClr val="F4F0E4"/>
          </a:solidFill>
          <a:ln/>
        </p:spPr>
        <p:txBody>
          <a:bodyPr wrap="square" lIns="2540" tIns="2794" rIns="2794" bIns="2032" rtlCol="0" anchor="ctr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单一问答 AI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无画像</a:t>
            </a:r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不知道你是谁、基础如何、目标是什么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无规划</a:t>
            </a:r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答完即止，没有学习路径与节奏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单模态</a:t>
            </a:r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只有一段文字，没有题、图与代码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无反馈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不知道你学会了没有，更不会更新理解</a:t>
            </a:r>
            <a:endParaRPr lang="en-US" sz="1400" dirty="0"/>
          </a:p>
          <a:p>
            <a:pPr algn="ctr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结果：学生得到的只是「答案」，不是「学会」。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59552" y="3520440"/>
            <a:ext cx="548640" cy="365760"/>
          </a:xfrm>
          <a:prstGeom prst="rightArrow">
            <a:avLst/>
          </a:prstGeom>
          <a:solidFill>
            <a:srgbClr val="C96442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64208"/>
            <a:ext cx="5361127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2F5D5A"/>
            </a:solidFill>
          </a:ln>
        </p:spPr>
        <p:txBody>
          <a:bodyPr wrap="square" lIns="2540" tIns="2794" rIns="2794" bIns="1778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多 Agent 闭环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画像理解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维画像，先知道「你是谁」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任务规划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把目标拆成可执行的资源组合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多模态产出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 / 题目 / 代码 / 导图并行生成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引导式答疑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苏格拉底式反问，而非直接报答案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反馈更新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判题回写画像，推荐下一轮复习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77900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闭环中的每一环都需要专门能力——多 Agent 不是炫技，是分工。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方案思路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一句话输入，走完「画像—检索—生成—反馈」完整闭环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学生输入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一句自然语言描述需求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35808" y="2240280"/>
            <a:ext cx="347472" cy="219456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8" name="Text 6"/>
          <p:cNvSpPr/>
          <p:nvPr/>
        </p:nvSpPr>
        <p:spPr>
          <a:xfrm>
            <a:off x="3453689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识别意图与链路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22569" y="2240280"/>
            <a:ext cx="347472" cy="219456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0" name="Text 8"/>
          <p:cNvSpPr/>
          <p:nvPr/>
        </p:nvSpPr>
        <p:spPr>
          <a:xfrm>
            <a:off x="6340450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画像理解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维画像先行构建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09330" y="2240280"/>
            <a:ext cx="347472" cy="219456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2" name="Text 10"/>
          <p:cNvSpPr/>
          <p:nvPr/>
        </p:nvSpPr>
        <p:spPr>
          <a:xfrm>
            <a:off x="9227210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混合检索锚定知识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306202" y="2980944"/>
            <a:ext cx="237744" cy="329184"/>
          </a:xfrm>
          <a:prstGeom prst="downArrow">
            <a:avLst/>
          </a:prstGeom>
          <a:solidFill>
            <a:srgbClr val="2F5D5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⑧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 / 路径更新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回写画像，进入下一轮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3689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⑦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测验反馈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判题沉淀薄弱点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33065" y="3904488"/>
            <a:ext cx="347472" cy="219456"/>
          </a:xfrm>
          <a:prstGeom prst="leftArrow">
            <a:avLst/>
          </a:prstGeom>
          <a:solidFill>
            <a:srgbClr val="2F5D5A"/>
          </a:solidFill>
          <a:ln/>
        </p:spPr>
      </p:sp>
      <p:sp>
        <p:nvSpPr>
          <p:cNvPr id="17" name="Text 15"/>
          <p:cNvSpPr/>
          <p:nvPr/>
        </p:nvSpPr>
        <p:spPr>
          <a:xfrm>
            <a:off x="6340450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个性化资源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类资源贴合画像产出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19826" y="3904488"/>
            <a:ext cx="347472" cy="219456"/>
          </a:xfrm>
          <a:prstGeom prst="leftArrow">
            <a:avLst/>
          </a:prstGeom>
          <a:solidFill>
            <a:srgbClr val="2F5D5A"/>
          </a:solidFill>
          <a:ln/>
        </p:spPr>
      </p:sp>
      <p:sp>
        <p:nvSpPr>
          <p:cNvPr id="19" name="Text 17"/>
          <p:cNvSpPr/>
          <p:nvPr/>
        </p:nvSpPr>
        <p:spPr>
          <a:xfrm>
            <a:off x="9227210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 / Quiz / Code 并行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06586" y="3904488"/>
            <a:ext cx="347472" cy="219456"/>
          </a:xfrm>
          <a:prstGeom prst="leftArrow">
            <a:avLst/>
          </a:prstGeom>
          <a:solidFill>
            <a:srgbClr val="2F5D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764792" y="2999232"/>
            <a:ext cx="0" cy="384048"/>
          </a:xfrm>
          <a:prstGeom prst="line">
            <a:avLst/>
          </a:prstGeom>
          <a:noFill/>
          <a:ln w="19050">
            <a:solidFill>
              <a:srgbClr val="C96442"/>
            </a:solidFill>
            <a:prstDash val="dash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566928" y="5138928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F7E7DE"/>
          </a:solidFill>
          <a:ln/>
        </p:spPr>
        <p:txBody>
          <a:bodyPr wrap="square" lIns="1270" tIns="3048" rIns="3048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不把大模型用于单轮问答——</a:t>
            </a:r>
            <a:pPr algn="ctr" indent="0" marL="0">
              <a:buNone/>
            </a:pPr>
            <a:r>
              <a:rPr lang="en-US" sz="13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形成「画像—知识组织—资源生成—练习反馈」的完整闭环，每一次学习都让系统更懂这个学生。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Agent 各司其职，LangGraph 编排，共享同一知识中枢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91056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00784" y="1591056"/>
            <a:ext cx="487055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aApp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对话为主 + UI 组件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54216" y="1591056"/>
            <a:ext cx="487055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宿主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工具跨宿主调用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2267712"/>
            <a:ext cx="219456" cy="182880"/>
          </a:xfrm>
          <a:prstGeom prst="downArrow">
            <a:avLst/>
          </a:prstGeom>
          <a:solidFill>
            <a:srgbClr val="8A8171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487168"/>
            <a:ext cx="10058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00784" y="2487168"/>
            <a:ext cx="9923983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F5D5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83664" y="2633472"/>
            <a:ext cx="1965960" cy="512064"/>
          </a:xfrm>
          <a:prstGeom prst="roundRect">
            <a:avLst>
              <a:gd name="adj" fmla="val 16071"/>
            </a:avLst>
          </a:prstGeom>
          <a:solidFill>
            <a:srgbClr val="E7EEEB"/>
          </a:solidFill>
          <a:ln/>
        </p:spPr>
        <p:txBody>
          <a:bodyPr wrap="square" lIns="635" tIns="1524" rIns="1016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　</a:t>
            </a:r>
            <a:pPr algn="ctr" indent="0" marL="0">
              <a:buNone/>
            </a:pPr>
            <a:r>
              <a:rPr lang="en-US" sz="10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2798064"/>
            <a:ext cx="274320" cy="182880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4" name="Text 12"/>
          <p:cNvSpPr/>
          <p:nvPr/>
        </p:nvSpPr>
        <p:spPr>
          <a:xfrm>
            <a:off x="4215384" y="2633472"/>
            <a:ext cx="1965960" cy="512064"/>
          </a:xfrm>
          <a:prstGeom prst="roundRect">
            <a:avLst>
              <a:gd name="adj" fmla="val 16071"/>
            </a:avLst>
          </a:prstGeom>
          <a:solidFill>
            <a:srgbClr val="E7EEEB"/>
          </a:solidFill>
          <a:ln/>
        </p:spPr>
        <p:txBody>
          <a:bodyPr wrap="square" lIns="635" tIns="1524" rIns="1016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　</a:t>
            </a:r>
            <a:pPr algn="ctr" indent="0" marL="0">
              <a:buNone/>
            </a:pPr>
            <a:r>
              <a:rPr lang="en-US" sz="10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98064"/>
            <a:ext cx="274320" cy="182880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633472"/>
            <a:ext cx="1965960" cy="512064"/>
          </a:xfrm>
          <a:prstGeom prst="roundRect">
            <a:avLst>
              <a:gd name="adj" fmla="val 16071"/>
            </a:avLst>
          </a:prstGeom>
          <a:solidFill>
            <a:srgbClr val="E7EEEB"/>
          </a:solidFill>
          <a:ln/>
        </p:spPr>
        <p:txBody>
          <a:bodyPr wrap="square" lIns="635" tIns="1524" rIns="1016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　</a:t>
            </a:r>
            <a:pPr algn="ctr" indent="0" marL="0">
              <a:buNone/>
            </a:pPr>
            <a:r>
              <a:rPr lang="en-US" sz="10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263347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串行控制面：Profile 优先，其余 Agent 依赖画像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83664" y="32552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生成面 · 并行生成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83664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98037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12410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6784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导图·PPT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41157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55530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4334256"/>
            <a:ext cx="219456" cy="164592"/>
          </a:xfrm>
          <a:prstGeom prst="downArrow">
            <a:avLst/>
          </a:prstGeom>
          <a:solidFill>
            <a:srgbClr val="8A8171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535424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00784" y="4535424"/>
            <a:ext cx="3186074" cy="731520"/>
          </a:xfrm>
          <a:prstGeom prst="roundRect">
            <a:avLst>
              <a:gd name="adj" fmla="val 11250"/>
            </a:avLst>
          </a:prstGeom>
          <a:solidFill>
            <a:srgbClr val="E7EEEB"/>
          </a:solidFill>
          <a:ln/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章节→知识点→概念 DAG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69738" y="4535424"/>
            <a:ext cx="3186074" cy="731520"/>
          </a:xfrm>
          <a:prstGeom prst="roundRect">
            <a:avLst>
              <a:gd name="adj" fmla="val 11250"/>
            </a:avLst>
          </a:prstGeom>
          <a:solidFill>
            <a:srgbClr val="E7EEEB"/>
          </a:solidFill>
          <a:ln/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混合检索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+ BM25 + Rerank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38693" y="4535424"/>
            <a:ext cx="3186074" cy="731520"/>
          </a:xfrm>
          <a:prstGeom prst="roundRect">
            <a:avLst>
              <a:gd name="adj" fmla="val 11250"/>
            </a:avLst>
          </a:prstGeom>
          <a:solidFill>
            <a:srgbClr val="E7EEEB"/>
          </a:solidFill>
          <a:ln/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内容管理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生成回写 · 版本管理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0" y="5303520"/>
            <a:ext cx="219456" cy="146304"/>
          </a:xfrm>
          <a:prstGeom prst="downArrow">
            <a:avLst/>
          </a:prstGeom>
          <a:solidFill>
            <a:srgbClr val="8A8171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486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00784" y="5486400"/>
            <a:ext cx="9923983" cy="457200"/>
          </a:xfrm>
          <a:prstGeom prst="roundRect">
            <a:avLst>
              <a:gd name="adj" fmla="val 12000"/>
            </a:avLst>
          </a:prstGeom>
          <a:solidFill>
            <a:srgbClr val="F4F0E4"/>
          </a:solidFill>
          <a:ln/>
        </p:spPr>
        <p:txBody>
          <a:bodyPr wrap="square" lIns="508" tIns="1778" rIns="177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StateGraph 编排 · DeepSeek 主模型 + OpenAI 兼容回退 · SQLAlchemy + SQLite / PostgreSQL · numpy 向量检索 + bge-small-zh · MCP stdio JSON-RPC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编排规则：Router 先行 → Profile 串行优先 → Doc / Quiz / Code / Media 并行生成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Agent 与核心语义端点一一对应，职责清晰、可独立扩展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1998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remio 语义端点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意图识别，路由到正确链路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route_intent（E1）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Profile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对话式构建 8 维学生画像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build_profile（E2）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Planner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复合任务分解，规划资源组合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plan_learning（E3）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 RAG 生成个性化讲义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generate_document（E4）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Quiz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多类型出题与判题，沉淀薄弱点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generate_quiz / grade_quiz（E5）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生成可运行 Python 实操案例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generate_code（E6）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思维导图 / PPT 大纲 / 配图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generate_mindmap / generate_ppt（E7·E8）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拓展阅读推荐，联网核实优先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generate_reading（E9）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苏格拉底式答疑，三级兜底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tutor_answer（E10）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Video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检索推荐 B 站教学视频资源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search_video（视频扩展端点）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98932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E11 会话材料挂载（attach_material）与 3 个扩展端点（PPT 配图 / 薄弱点复习 / 动画分镜），连同主入口与内容事件订阅，共 18 个端点。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Wiki：所有 Agent 共享的知识中枢，内置两门完整课程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353964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→ 知识点 → 概念的 DAG 依赖，支撑先修导航与学习路径规划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26026" y="1664208"/>
            <a:ext cx="353964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混合检索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bge-small-zh 向量 + BM25 双路召回，规则 Rerank 重排，章节级命中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85125" y="1664208"/>
            <a:ext cx="353964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内容管理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生成内容可回写、版本管理——知识库越用越厚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9584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669280"/>
                <a:gridCol w="23710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交付形态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计算机网络（CN101）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章：总纲 + 12 讲 + 附录，默认课程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5D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remio aApp 内置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算法设计与分析（ALG101）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章 + 五类习题 + 9 个代码案例 + 4 个实验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5D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工具集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548640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F7E7DE"/>
          </a:solidFill>
          <a:ln/>
        </p:spPr>
        <p:txBody>
          <a:bodyPr wrap="square" lIns="762" tIns="3048" rIns="2540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　</a:t>
            </a:r>
            <a:pPr algn="ctr" indent="0" marL="0">
              <a:buNone/>
            </a:pPr>
            <a:r>
              <a:rPr lang="en-US" sz="11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知识库按目录自动发现注册——新增一门课只需一个目录，可从单科工具扩展为课程平台。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 + 三级兜底，让每一段内容都可追溯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353964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检索锚定</a:t>
            </a:r>
            <a:endParaRPr lang="en-US" sz="18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生成只依据检索命中片段；证据不足时显式标注缺口，绝不编造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26026" y="1664208"/>
            <a:ext cx="353964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来源强制</a:t>
            </a:r>
            <a:endParaRPr lang="en-US" sz="18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每段内容附 [来源：章节 &gt; 小节]，可逐句回溯原文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85125" y="1664208"/>
            <a:ext cx="353964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输出过滤</a:t>
            </a:r>
            <a:endParaRPr lang="en-US" sz="18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content_guard 校验来源引用，缺失即拦截重写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363931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1F1B16"/>
          </a:solidFill>
          <a:ln/>
        </p:spPr>
        <p:txBody>
          <a:bodyPr wrap="square" lIns="1016" tIns="3048" rIns="2540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侧工程落地　</a:t>
            </a:r>
            <a:pPr algn="ctr" indent="0" marL="0">
              <a:buNone/>
            </a:pPr>
            <a:r>
              <a:rPr lang="en-US" sz="100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run_prompt(capabilities="none") 物理禁网 · search_notes → read_note 注入知识库正文 · 平台 rag 对 File 笔记失效时的兜底检索链路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462686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答疑三级兜底：逐级显式升级，卡片标注来源层级，禁止静默切换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4992624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7EEEB"/>
          </a:solidFill>
          <a:ln/>
        </p:spPr>
        <p:txBody>
          <a:bodyPr wrap="square" lIns="1270" tIns="2032" rIns="1778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层级一 · 课程知识库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search_notes 命中课程资料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5358384"/>
            <a:ext cx="329184" cy="219456"/>
          </a:xfrm>
          <a:prstGeom prst="rightArrow">
            <a:avLst/>
          </a:prstGeom>
          <a:solidFill>
            <a:srgbClr val="C96442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4992624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7EEEB"/>
          </a:solidFill>
          <a:ln/>
        </p:spPr>
        <p:txBody>
          <a:bodyPr wrap="square" lIns="1270" tIns="2032" rIns="1778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层级二 · 会话材料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E11 上传的笔记 / 课件兜底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5358384"/>
            <a:ext cx="329184" cy="219456"/>
          </a:xfrm>
          <a:prstGeom prst="rightArrow">
            <a:avLst/>
          </a:prstGeom>
          <a:solidFill>
            <a:srgbClr val="C96442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4992624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7EEEB"/>
          </a:solidFill>
          <a:ln/>
        </p:spPr>
        <p:txBody>
          <a:bodyPr wrap="square" lIns="1270" tIns="2032" rIns="1778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层级三 · 网络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仅引用实际抓取过的页面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产品演示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分钟实测：从一句话到 5 类资源 + 苏格拉底式答疑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一句话输入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「我是计算机大一学生，基础一般，帮我复习 TCP 三次握手」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817906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画像确认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 弹出画像卡：专业 / 年级 / 基础 / 目标一次确认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68885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计划拆解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 把复习目标拆成讲义 / 题目 / 代码 / 导图 / 阅读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9863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并行生成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类资源同时产出，全部附章节级来源引用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70842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苏格拉底答疑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引导式反问作答；知识库 → 材料 → 网络来源显式标注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422452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分钟实测，证明这不是单轮问答。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4864608"/>
            <a:ext cx="541919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remio 市场搜索「EduAgent」安装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05576" y="4864608"/>
            <a:ext cx="541919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宿主调用 generate_quiz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5687568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E7EE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重点记忆点：第 4 步「5 类资源并行生成」 x 第 5 步「苏格拉底式答疑」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产品演示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一次学习请求，并行产出 7 类多模态资源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章节结构 + 文末来源引用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generate_document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381177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/ 填空 / 编程，选错给解析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generate_quiz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95426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代码案例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 Python，一键复制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generate_code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009675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思维导图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知识结构可视化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generate_mindmap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大纲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教学演示自动生成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generate_ppt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81177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拓展阅读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联网核实优先，只引真实页面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generate_reading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95426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动画脚本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算法过程分镜脚本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generate_animation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09675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7E7DE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5 类</a:t>
            </a:r>
            <a:endParaRPr lang="en-US" sz="220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一次请求并行产出的资源类型</a:t>
            </a:r>
            <a:endParaRPr lang="en-US" sz="220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8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判题结果自动回写画像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" y="56235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一次「帮我复习 TCP 三次握手」，同时产出讲义、题目、代码、导图与阅读——资源组合随画像变化。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落地形态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原生 aApp 已上架市场，18 个端点开箱即用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4526280" cy="4343400"/>
          </a:xfrm>
          <a:prstGeom prst="roundRect">
            <a:avLst>
              <a:gd name="adj" fmla="val 1895"/>
            </a:avLst>
          </a:prstGeom>
          <a:solidFill>
            <a:srgbClr val="1F1B16"/>
          </a:solidFill>
          <a:ln/>
        </p:spPr>
        <p:txBody>
          <a:bodyPr wrap="square" lIns="3048" tIns="3048" rIns="3048" bIns="254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原生 aApp</a:t>
            </a:r>
            <a:endParaRPr lang="en-US" sz="1500" dirty="0"/>
          </a:p>
          <a:p>
            <a:pPr algn="ctr" indent="0" marL="0"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105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已上架市场</a:t>
            </a:r>
            <a:endParaRPr lang="en-US" sz="15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　　　 eduagent-pro</a:t>
            </a:r>
            <a:endParaRPr lang="en-US" sz="15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版本　　v1</a:t>
            </a:r>
            <a:endParaRPr lang="en-US" sz="1500" dirty="0"/>
          </a:p>
          <a:p>
            <a:pPr algn="ctr" indent="0" marL="0">
              <a:spcAft>
                <a:spcPts val="1800"/>
              </a:spcAft>
              <a:buNone/>
            </a:pPr>
            <a:r>
              <a:rPr lang="en-US" sz="105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端点数　18</a:t>
            </a:r>
            <a:endParaRPr lang="en-US" sz="15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个核心端点（E1–E11）</a:t>
            </a:r>
            <a:endParaRPr lang="en-US" sz="15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个扩展端点：判题 / PPT 配图 / 薄弱点复习 / 动画分镜 / B 站视频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另有主入口 + 内容事件订阅</a:t>
            </a:r>
            <a:endParaRPr lang="en-US" sz="1500" dirty="0"/>
          </a:p>
          <a:p>
            <a:pPr algn="ctr" indent="0" marL="0">
              <a:spcBef>
                <a:spcPts val="1200"/>
              </a:spcBef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交互原则：对话为主，card / list / choice 组件为辅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21808" y="1700784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学习资产沉淀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画像与错题弱点自动回写 remio 笔记《EduAgent 学生画像》，判题即更新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21808" y="2813609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订阅自动化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画像笔记变更 → POST /_event 自动推送薄弱点自测题到会话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21808" y="3926434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每日复习自测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聊天菜单一键回顾最近答错的知识点，形成复习节奏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21808" y="5039258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会话材料挂载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E11 上传自己的课件 / 笔记，参与检索与生成，成为兜底知识源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落地形态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同一引擎，两种交付：remio aApp 与 MCP 跨宿主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541919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540" tIns="2286" rIns="2286" bIns="177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原生 aApp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赛道官方工具原生作品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 id：eduagent-pro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定位：参赛本体，开箱即用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05576" y="1700784"/>
            <a:ext cx="541919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540" tIns="2286" rIns="2286" bIns="177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工具集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个工具 · stdio JSON-RPC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零新增三方依赖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定位：任意 MCP 宿主跨产品调用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5029200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F7E7DE"/>
          </a:solidFill>
          <a:ln/>
        </p:spPr>
        <p:txBody>
          <a:bodyPr wrap="square" lIns="1016" tIns="3048" rIns="3048" bIns="1016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一处研发，多宿主复用　</a:t>
            </a:r>
            <a:pPr algn="ctr" indent="0" marL="0">
              <a:buNone/>
            </a:pPr>
            <a:r>
              <a:rPr lang="en-US" sz="12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——知识检索与生成能力以 MCP 开放，可被 Claude Desktop 等任何智能体产品调用。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创新性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五个创新点：画像贯穿、知识中枢、双形态、防幻觉、可观测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画像贯穿的生成闭环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画像不是一次性表单：驱动规划、讲义、练习、答疑，并在判题后持续更新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5786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多课程知识中枢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知识库按目录自动发现注册，从一门课平滑扩展为课程平台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34930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双形态同引擎交付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remio 原生 aApp + MCP 跨宿主复用，一处研发、多处运行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4074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防幻觉的工程落地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三道防线 + 三级兜底；含平台 rag 失效时 search_notes → read_note 兜底链路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53218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Agent 可观测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运行事件全程记录（learning_activities），行为可审计、可复盘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完成度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主路径全部实测通过，评审可一句话触发全链路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718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预期表现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流式输出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对话流式不白屏；答疑卡片即出并带来源标注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来源引用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讲义 / 答疑末尾附 [来源：章节 &gt; 小节]，可回溯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画像生效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建档后，生成资源的难度与表达随画像变化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多资源协同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一次请求同时产出讲义、练习、代码、导图、阅读等 ≥5 类资源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多课程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「换到算法课」后经 MCP 切换知识库（aApp 内置计算机网络）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跨产品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remio 外宿主可调 generate_quiz / list_courses（MCP）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864608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1F1B16"/>
          </a:solidFill>
          <a:ln/>
        </p:spPr>
        <p:txBody>
          <a:bodyPr wrap="square" lIns="1016" tIns="3048" rIns="2540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评审触发语　</a:t>
            </a:r>
            <a:pPr algn="ctr"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「我是计算机大一学生，基础一般，帮我复习 TCP 三次握手」</a:t>
            </a:r>
            <a:pPr algn="ctr" indent="0" marL="0">
              <a:buNone/>
            </a:pPr>
            <a:r>
              <a:rPr lang="en-US" sz="100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——建档 → 规划 → 生成 → 判题 → 答疑，全链路实测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6928" y="5760720"/>
            <a:ext cx="2627071" cy="566928"/>
          </a:xfrm>
          <a:prstGeom prst="roundRect">
            <a:avLst>
              <a:gd name="adj" fmla="val 14516"/>
            </a:avLst>
          </a:prstGeom>
          <a:solidFill>
            <a:srgbClr val="F4F0E4"/>
          </a:solidFill>
          <a:ln/>
        </p:spPr>
        <p:txBody>
          <a:bodyPr wrap="square" lIns="635" tIns="1524" rIns="1270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142/142　</a:t>
            </a:r>
            <a:pPr algn="ctr" indent="0" marL="0"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引擎测试通过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76879" y="5760720"/>
            <a:ext cx="2627071" cy="566928"/>
          </a:xfrm>
          <a:prstGeom prst="roundRect">
            <a:avLst>
              <a:gd name="adj" fmla="val 14516"/>
            </a:avLst>
          </a:prstGeom>
          <a:solidFill>
            <a:srgbClr val="F4F0E4"/>
          </a:solidFill>
          <a:ln/>
        </p:spPr>
        <p:txBody>
          <a:bodyPr wrap="square" lIns="635" tIns="1524" rIns="1270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11/11　</a:t>
            </a:r>
            <a:pPr algn="ctr" indent="0" marL="0"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质量基线通过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86830" y="5760720"/>
            <a:ext cx="2627071" cy="566928"/>
          </a:xfrm>
          <a:prstGeom prst="roundRect">
            <a:avLst>
              <a:gd name="adj" fmla="val 14516"/>
            </a:avLst>
          </a:prstGeom>
          <a:solidFill>
            <a:srgbClr val="F4F0E4"/>
          </a:solidFill>
          <a:ln/>
        </p:spPr>
        <p:txBody>
          <a:bodyPr wrap="square" lIns="635" tIns="1524" rIns="1270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　</a:t>
            </a:r>
            <a:pPr algn="ctr" indent="0" marL="0"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top-1（24 条真实查询）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96782" y="5760720"/>
            <a:ext cx="2627071" cy="566928"/>
          </a:xfrm>
          <a:prstGeom prst="roundRect">
            <a:avLst>
              <a:gd name="adj" fmla="val 14516"/>
            </a:avLst>
          </a:prstGeom>
          <a:solidFill>
            <a:srgbClr val="F4F0E4"/>
          </a:solidFill>
          <a:ln/>
        </p:spPr>
        <p:txBody>
          <a:bodyPr wrap="square" lIns="635" tIns="1524" rIns="1270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18/18　</a:t>
            </a:r>
            <a:pPr algn="ctr" indent="0" marL="0"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端点三方一致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商业与规划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从作品到产品：订阅 + 院校共建 + 平台分成，落地金漪湖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B2C · 学生订阅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个性化学习包、考试季冲刺包，按学期 / 科目订阅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73552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· 院校共建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课程知识库授权 + 学习分析看板，服务教学数字化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4553712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平台分成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市场付费 aApp 与增值内容，随生态规模增长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36208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落地规划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55664" y="2121408"/>
            <a:ext cx="0" cy="3291840"/>
          </a:xfrm>
          <a:prstGeom prst="line">
            <a:avLst/>
          </a:prstGeom>
          <a:noFill/>
          <a:ln w="19050">
            <a:solidFill>
              <a:srgbClr val="DDD6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084832"/>
            <a:ext cx="164592" cy="164592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993392"/>
            <a:ext cx="49103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2026.09　</a:t>
            </a:r>
            <a:pPr algn="l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复赛优化</a:t>
            </a:r>
            <a:endParaRPr lang="en-US" sz="1050" dirty="0"/>
          </a:p>
          <a:p>
            <a:pPr algn="l" indent="0" marL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按辅导意见打磨 Demo、文档与演示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73368" y="3364992"/>
            <a:ext cx="164592" cy="164592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273552"/>
            <a:ext cx="49103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　</a:t>
            </a:r>
            <a:pPr algn="l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决赛路演</a:t>
            </a:r>
            <a:endParaRPr lang="en-US" sz="1050" dirty="0"/>
          </a:p>
          <a:p>
            <a:pPr algn="l" indent="0" marL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现场实测闭环，冲击产业落地奖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73368" y="4645152"/>
            <a:ext cx="164592" cy="164592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553712"/>
            <a:ext cx="49103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赛后　</a:t>
            </a:r>
            <a:pPr algn="l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落地转化</a:t>
            </a:r>
            <a:endParaRPr lang="en-US" sz="1050" dirty="0"/>
          </a:p>
          <a:p>
            <a:pPr algn="l" indent="0" marL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注册落地金义新区，入驻金漪湖 OPC 社区，对接高校课程试点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5806440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F4F0E4"/>
          </a:solidFill>
          <a:ln/>
        </p:spPr>
        <p:txBody>
          <a:bodyPr wrap="square" lIns="635" tIns="2540" rIns="2540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按大赛要求，获奖项目须注册落地金义新区并入驻金漪湖 OPC 社区——已纳入项目规划，可享人才安居、算力补贴、载体保障等政策。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4754880"/>
            <a:ext cx="128016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645920" y="5303520"/>
            <a:ext cx="731520" cy="73152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5303520"/>
            <a:ext cx="91440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760720"/>
            <a:ext cx="822960" cy="27432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822960" y="4754880"/>
            <a:ext cx="274320" cy="10058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6" y="472287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8" name="Shape 6"/>
          <p:cNvSpPr/>
          <p:nvPr/>
        </p:nvSpPr>
        <p:spPr>
          <a:xfrm>
            <a:off x="2345436" y="527151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9" name="Shape 7"/>
          <p:cNvSpPr/>
          <p:nvPr/>
        </p:nvSpPr>
        <p:spPr>
          <a:xfrm>
            <a:off x="1613916" y="60030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0" name="Shape 8"/>
          <p:cNvSpPr/>
          <p:nvPr/>
        </p:nvSpPr>
        <p:spPr>
          <a:xfrm>
            <a:off x="3259836" y="582015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11" name="Shape 9"/>
          <p:cNvSpPr/>
          <p:nvPr/>
        </p:nvSpPr>
        <p:spPr>
          <a:xfrm>
            <a:off x="790956" y="572871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不是炫技——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是让「个性化学习」成为</a:t>
            </a:r>
            <a:pPr algn="l" indent="0" marL="0">
              <a:buNone/>
            </a:pPr>
            <a:r>
              <a:rPr lang="en-US" sz="300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可交付的闭环</a:t>
            </a:r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41248" y="3154680"/>
            <a:ext cx="502920" cy="50292"/>
          </a:xfrm>
          <a:prstGeom prst="rect">
            <a:avLst/>
          </a:prstGeom>
          <a:solidFill>
            <a:srgbClr val="E08A6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0440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2A251E"/>
          </a:solidFill>
          <a:ln w="12700">
            <a:solidFill>
              <a:srgbClr val="4A423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8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remio 市场搜索「EduAgent」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3520440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2A251E"/>
          </a:solidFill>
          <a:ln w="12700">
            <a:solidFill>
              <a:srgbClr val="4A423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8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MCP：注册即用 14 工具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45720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开发者：wannaw　·　开源协议与 AI 工具使用标注见随附《AI 工具与开源合规说明》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52578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 恳请评委指正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EduAgent 个性化学习智能体 · 路演</dc:title>
  <dc:subject>PptxGenJS Presentation</dc:subject>
  <dc:creator>wannaw</dc:creator>
  <cp:lastModifiedBy>wannaw</cp:lastModifiedBy>
  <cp:revision>1</cp:revision>
  <dcterms:created xsi:type="dcterms:W3CDTF">2026-09-10T06:31:23Z</dcterms:created>
  <dcterms:modified xsi:type="dcterms:W3CDTF">2026-09-10T06:31:23Z</dcterms:modified>
</cp:coreProperties>
</file>