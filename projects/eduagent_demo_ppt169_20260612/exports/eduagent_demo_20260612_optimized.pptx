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开场直接给结论：EduAgent 不是一个问答机器人，而是一个围绕学生画像、知识中枢、多 Agent 协同和学习反馈构建的智能学习系统。今天的展示重点是它如何把赛题中的个性化、多模态、多智能体和防幻觉要求落到一个可运行的工程链路中。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高等教育不是缺资源，而是资源和学生状态之间缺少匹配机制。学生基础、目标和节奏差异很大，传统课堂和通用问答工具都很难持续理解学生，也很难把生成内容沉淀为后续可复用的学习资产。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EduAgent 的核心价值可以概括成四步：先理解学生，再组织知识，再生成资源，再陪伴学习。每一步都有对应的工程模块，不是停留在概念层面。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系统全景里，前端负责流式交互和多模态卡片，FastAPI 提供 API 层，LangGraph 编排多个 Agent，LLM Wiki 统一提供知识图谱和 RAG 检索，底层数据和资产服务沉淀学习记录、资源和向量索引。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前沿 AI 技术在这里不是简单堆叠，而是拆成可控组件。核心链路以讯飞星火为主，RAG 和课程图谱限定学术内容边界，讯飞安全护栏与 TTS 扩展安全和语音体验；视觉资产与图片型 PPT 属于辅助展示能力，不作为核心推理链路。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多 Agent 的价值在于分工和可观测。Router 负责识别意图，Profile 更新画像，Planner 拆解资源任务，Doc、Quiz、Code、Media、Video 和 Tutor 分别生成不同学习支持，并记录节点耗时和状态。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LLM Wiki 是全系统的共享知识中枢。它包含静态课程图谱、向量检索、来源片段和 Wiki 条目回写。这里的图谱负责课程结构与前置关系，内容回写作用于条目和向量检索库，不改变图谱拓扑。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画像设计满足赛题不少于 6 维的要求，当前实现为 8 维。它来自自然语言和学习行为，不需要学生先填长表单，并会反过来影响讲解深度、题目难度、路径节奏和资源形式。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资源生成覆盖 8 类形态，但成熟度要说清楚：讲义、导图、题目、代码和拓展阅读是核心已实现能力；PPT 图片/大纲、动画脚本与动画包、B站视频推荐属于辅助或实验性能力。重点不是夸大资源数量，而是把每类资源的边界讲清楚。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演示脚本围绕反向传播算法跑通学生侧闭环：登录、画像、资源生成、测验答题、错题复习、学习路径、学习活动记录和 Wiki 搜索。测验结果会在 API/Service 层写入错题、画像 knowledge_base/weak_points 和路径节点；教师端数据接口已具备，前端教师视图作为后续增强说明。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可信和安全由三段防线共同承担：生成前先走 RAG 检索，生成中保留 sources、confidence 和来源片段，生成后再通过讯飞安全护栏、本地规则和离线 eval 检查风险与结构质量。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工程实现强调可运行、可观测和可回退。SSE 避免白屏等待，资源生成分层并行降低等待时间，Agent 事件记录让评委能看到内部链路。当前边界也要主动说明：PPTX 是大纲型导出，图片型 PPT 单独展示；动画导出为 HTML、字幕和可选旁白音频包，完整 MP4/WebM、OCR 与生产级对象存储是后续增强。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EduAgent 的创新点不是增加一个聊天窗口，而是把画像闭环、可信生成和工程编排组合成可验证的学习过程编排中枢。8 维画像来自自然语言抽取与规则兜底，并由测验反馈更新；RAG 混合检索配合 sources/confidence 和安全过滤控制事实边界；LangGraph 分层并行和节点事件让失败可定位、资源可复查。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最后总结：系统已覆盖比赛核心要求，包括 LangGraph 多智能体、8 维画像、5 类以上资源、个性化路径、智能辅导、测验与错题评估、防幻觉和流式体验。后续增强方向包括完整视频导出、OCR、教师前端视图和生产级对象存储；答辩时主张核心闭环可演示，同时主动说清能力边界。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1"/>
            <a:srcRect t="27" b="27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F5F4ED">
                    <a:alpha val="96000"/>
                  </a:srgbClr>
                </a:gs>
                <a:gs pos="48000">
                  <a:srgbClr val="F5F4ED">
                    <a:alpha val="84000"/>
                  </a:srgbClr>
                </a:gs>
                <a:gs pos="100000">
                  <a:srgbClr val="F5F4ED">
                    <a:alpha val="24000"/>
                  </a:srgbClr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9525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581025" y="1259205"/>
            <a:ext cx="5352940" cy="2817495"/>
            <a:chOff x="581025" y="1259205"/>
            <a:chExt cx="5352940" cy="2817495"/>
          </a:xfrm>
        </p:grpSpPr>
        <p:sp>
          <p:nvSpPr>
            <p:cNvPr id="7" name="TextBox 7"/>
            <p:cNvSpPr txBox="1"/>
            <p:nvPr/>
          </p:nvSpPr>
          <p:spPr>
            <a:xfrm>
              <a:off x="621030" y="1259205"/>
              <a:ext cx="211159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智能体应用演示</a:t>
              </a:r>
              <a:endParaRPr lang="zh-CN" sz="2100" b="1" dirty="0">
                <a:solidFill>
                  <a:srgbClr val="C96442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81025" y="1795462"/>
              <a:ext cx="3367754" cy="1066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2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EduAgent</a:t>
              </a:r>
              <a:endParaRPr lang="zh-CN" sz="52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5790" y="2710815"/>
              <a:ext cx="5328175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个性化多 Agent 学习系统</a:t>
              </a:r>
              <a:endParaRPr lang="zh-CN" sz="33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62940" y="3368040"/>
              <a:ext cx="4034790" cy="7086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700"/>
                </a:lnSpc>
              </a:pPr>
              <a:r>
                <a:rPr lang="zh-CN" sz="18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把单轮 AI 问答升级为面向学习全过程的</a:t>
              </a:r>
              <a:r>
                <a:rPr lang="zh-CN" sz="1800" b="1" dirty="0">
                  <a:solidFill>
                    <a:srgbClr val="C9644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智能学习中枢</a:t>
              </a:r>
              <a:endParaRPr lang="zh-CN" sz="1800" b="1" dirty="0">
                <a:solidFill>
                  <a:srgbClr val="C9644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5800" y="4476750"/>
            <a:ext cx="7848600" cy="476250"/>
            <a:chOff x="685800" y="4476750"/>
            <a:chExt cx="7848600" cy="476250"/>
          </a:xfrm>
        </p:grpSpPr>
        <p:sp>
          <p:nvSpPr>
            <p:cNvPr id="12" name="Rectangle 12"/>
            <p:cNvSpPr/>
            <p:nvPr/>
          </p:nvSpPr>
          <p:spPr>
            <a:xfrm>
              <a:off x="685800" y="4476750"/>
              <a:ext cx="1619250" cy="476250"/>
            </a:xfrm>
            <a:prstGeom prst="roundRect">
              <a:avLst>
                <a:gd name="adj" fmla="val 16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3" name="Ellipse 13"/>
            <p:cNvSpPr/>
            <p:nvPr/>
          </p:nvSpPr>
          <p:spPr>
            <a:xfrm>
              <a:off x="857250" y="4638675"/>
              <a:ext cx="152400" cy="152400"/>
            </a:xfrm>
            <a:prstGeom prst="ellipse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44905" y="4635818"/>
              <a:ext cx="7998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Wiki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476500" y="4476750"/>
              <a:ext cx="1809750" cy="476250"/>
            </a:xfrm>
            <a:prstGeom prst="roundRect">
              <a:avLst>
                <a:gd name="adj" fmla="val 16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6" name="Ellipse 16"/>
            <p:cNvSpPr/>
            <p:nvPr/>
          </p:nvSpPr>
          <p:spPr>
            <a:xfrm>
              <a:off x="2647950" y="4638675"/>
              <a:ext cx="152400" cy="1524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35605" y="4635818"/>
              <a:ext cx="12345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 Agent 协同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57700" y="4476750"/>
              <a:ext cx="1809750" cy="476250"/>
            </a:xfrm>
            <a:prstGeom prst="roundRect">
              <a:avLst>
                <a:gd name="adj" fmla="val 16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9" name="Ellipse 19"/>
            <p:cNvSpPr/>
            <p:nvPr/>
          </p:nvSpPr>
          <p:spPr>
            <a:xfrm>
              <a:off x="4629150" y="4638675"/>
              <a:ext cx="152400" cy="1524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916805" y="4635818"/>
              <a:ext cx="762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 维画像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438900" y="4476750"/>
              <a:ext cx="2095500" cy="476250"/>
            </a:xfrm>
            <a:prstGeom prst="roundRect">
              <a:avLst>
                <a:gd name="adj" fmla="val 16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6610350" y="4638675"/>
              <a:ext cx="152400" cy="152400"/>
            </a:xfrm>
            <a:prstGeom prst="ellipse">
              <a:avLst/>
            </a:prstGeom>
            <a:solidFill>
              <a:srgbClr val="B07D6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898005" y="4635818"/>
              <a:ext cx="135745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多模态资源闭环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85800" y="5381625"/>
            <a:ext cx="5334000" cy="781050"/>
            <a:chOff x="685800" y="5381625"/>
            <a:chExt cx="5334000" cy="781050"/>
          </a:xfrm>
        </p:grpSpPr>
        <p:sp>
          <p:nvSpPr>
            <p:cNvPr id="25" name="Rectangle 25"/>
            <p:cNvSpPr/>
            <p:nvPr/>
          </p:nvSpPr>
          <p:spPr>
            <a:xfrm>
              <a:off x="685800" y="5381625"/>
              <a:ext cx="5334000" cy="781050"/>
            </a:xfrm>
            <a:prstGeom prst="roundRect">
              <a:avLst>
                <a:gd name="adj" fmla="val 9756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33450" y="5553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核心判断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5355" y="5855018"/>
              <a:ext cx="45348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以知识中枢固定事实边界，以智能体协同完成学习闭环。</a:t>
              </a:r>
              <a:endParaRPr lang="zh-CN" sz="13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75322" y="6483191"/>
            <a:ext cx="10841355" cy="167640"/>
            <a:chOff x="675322" y="6483191"/>
            <a:chExt cx="10841355" cy="167640"/>
          </a:xfrm>
        </p:grpSpPr>
        <p:sp>
          <p:nvSpPr>
            <p:cNvPr id="29" name="TextBox 29"/>
            <p:cNvSpPr txBox="1"/>
            <p:nvPr/>
          </p:nvSpPr>
          <p:spPr>
            <a:xfrm>
              <a:off x="675322" y="6483191"/>
              <a:ext cx="186368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多 Agent 学习系统 | 2026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747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01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4" grpId="0"/>
      <p:bldP spid="2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72428"/>
            <a:ext cx="10547985" cy="718184"/>
            <a:chOff x="501015" y="372428"/>
            <a:chExt cx="10547985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72056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高等教育的关键矛盾不是缺资源，而是缺匹配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4349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海量资源与学生差异之间，缺少持续理解、解释与个性化组织机制。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0" y="457200"/>
              <a:ext cx="1143000" cy="285750"/>
            </a:xfrm>
            <a:prstGeom prst="roundRect">
              <a:avLst>
                <a:gd name="adj" fmla="val 26667"/>
              </a:avLst>
            </a:prstGeom>
            <a:solidFill>
              <a:srgbClr val="FAF9F5"/>
            </a:solidFill>
            <a:ln w="9525">
              <a:solidFill>
                <a:srgbClr val="E8E6DC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114996" y="543878"/>
              <a:ext cx="7250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9644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Pain Point</a:t>
              </a:r>
              <a:endParaRPr lang="zh-CN" sz="1050" b="1" dirty="0">
                <a:solidFill>
                  <a:srgbClr val="C9644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428750"/>
            <a:ext cx="4210050" cy="4095750"/>
            <a:chOff x="533400" y="1428750"/>
            <a:chExt cx="4210050" cy="4095750"/>
          </a:xfrm>
        </p:grpSpPr>
        <p:sp>
          <p:nvSpPr>
            <p:cNvPr id="10" name="Rectangle 10"/>
            <p:cNvSpPr/>
            <p:nvPr/>
          </p:nvSpPr>
          <p:spPr>
            <a:xfrm>
              <a:off x="533400" y="1428750"/>
              <a:ext cx="4210050" cy="4095750"/>
            </a:xfrm>
            <a:prstGeom prst="roundRect">
              <a:avLst>
                <a:gd name="adj" fmla="val 1860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7720" y="1655445"/>
              <a:ext cx="299322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不是</a:t>
              </a:r>
              <a:r>
                <a:rPr lang="zh-CN" sz="39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资源少</a:t>
              </a:r>
              <a:endParaRPr lang="zh-CN" sz="3900" b="1" dirty="0">
                <a:solidFill>
                  <a:srgbClr val="C96442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857250" y="2419350"/>
              <a:ext cx="3143250" cy="9525"/>
            </a:xfrm>
            <a:custGeom>
              <a:avLst/>
              <a:gdLst/>
              <a:ahLst/>
              <a:cxnLst/>
              <a:rect l="l" t="t" r="r" b="b"/>
              <a:pathLst>
                <a:path w="3143250" h="9525">
                  <a:moveTo>
                    <a:pt x="0" y="0"/>
                  </a:moveTo>
                  <a:lnTo>
                    <a:pt x="3143250" y="0"/>
                  </a:lnTo>
                </a:path>
              </a:pathLst>
            </a:custGeom>
            <a:noFill/>
            <a:ln w="14288">
              <a:solidFill>
                <a:srgbClr val="F5F4ED">
                  <a:alpha val="55000"/>
                </a:srgbClr>
              </a:solidFill>
              <a:prstDash val="lg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07720" y="2722245"/>
              <a:ext cx="2993222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而是</a:t>
              </a:r>
              <a:r>
                <a:rPr lang="zh-CN" sz="39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6B8E6B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匹配弱</a:t>
              </a:r>
              <a:endParaRPr lang="zh-CN" sz="3900" b="1" dirty="0">
                <a:solidFill>
                  <a:srgbClr val="6B8E6B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7250" y="3695700"/>
              <a:ext cx="25146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学生基础、目标、节奏与兴趣</a:t>
              </a:r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不断变化，但传统资源组织</a:t>
              </a:r>
              <a:r>
                <a:rPr lang="zh-CN" sz="15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很少能跟着变化。</a:t>
              </a:r>
              <a:endParaRPr lang="zh-CN" sz="15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4857750"/>
              <a:ext cx="323850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36190" y="4978718"/>
              <a:ext cx="26806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个性化不是功能点，是组织方式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105400" y="1428750"/>
            <a:ext cx="3683318" cy="1200150"/>
            <a:chOff x="5105400" y="1428750"/>
            <a:chExt cx="3683318" cy="1200150"/>
          </a:xfrm>
        </p:grpSpPr>
        <p:sp>
          <p:nvSpPr>
            <p:cNvPr id="18" name="Rectangle 18"/>
            <p:cNvSpPr/>
            <p:nvPr/>
          </p:nvSpPr>
          <p:spPr>
            <a:xfrm>
              <a:off x="5105400" y="1428750"/>
              <a:ext cx="3048000" cy="1200150"/>
            </a:xfrm>
            <a:prstGeom prst="roundRect">
              <a:avLst>
                <a:gd name="adj" fmla="val 6349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105400" y="1428750"/>
              <a:ext cx="76200" cy="1200150"/>
            </a:xfrm>
            <a:prstGeom prst="roundRect">
              <a:avLst>
                <a:gd name="adj" fmla="val 50000"/>
              </a:avLst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391150" y="1657350"/>
              <a:ext cx="457200" cy="457200"/>
            </a:xfrm>
            <a:prstGeom prst="ellipse">
              <a:avLst/>
            </a:prstGeom>
            <a:solidFill>
              <a:srgbClr val="C96442">
                <a:alpha val="12000"/>
              </a:srgbClr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5505450" y="1790700"/>
              <a:ext cx="228600" cy="190500"/>
            </a:xfrm>
            <a:custGeom>
              <a:avLst/>
              <a:gdLst/>
              <a:ahLst/>
              <a:cxnLst/>
              <a:rect l="l" t="t" r="r" b="b"/>
              <a:pathLst>
                <a:path w="228600" h="190500">
                  <a:moveTo>
                    <a:pt x="0" y="0"/>
                  </a:moveTo>
                  <a:lnTo>
                    <a:pt x="228600" y="0"/>
                  </a:lnTo>
                  <a:lnTo>
                    <a:pt x="228600" y="190500"/>
                  </a:lnTo>
                  <a:lnTo>
                    <a:pt x="0" y="190500"/>
                  </a:lnTo>
                  <a:close/>
                </a:path>
              </a:pathLst>
            </a:custGeom>
            <a:noFill/>
            <a:ln w="28575">
              <a:solidFill>
                <a:srgbClr val="C96442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5543550" y="1847850"/>
              <a:ext cx="152400" cy="66675"/>
            </a:xfrm>
            <a:custGeom>
              <a:avLst/>
              <a:gdLst/>
              <a:ahLst/>
              <a:cxnLst/>
              <a:rect l="l" t="t" r="r" b="b"/>
              <a:pathLst>
                <a:path w="152400" h="66675">
                  <a:moveTo>
                    <a:pt x="0" y="0"/>
                  </a:moveTo>
                  <a:lnTo>
                    <a:pt x="152400" y="0"/>
                  </a:lnTo>
                  <a:moveTo>
                    <a:pt x="0" y="66675"/>
                  </a:moveTo>
                  <a:lnTo>
                    <a:pt x="114300" y="66675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C96442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96940" y="1644015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资源繁杂难筛选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03608" y="2015014"/>
              <a:ext cx="2785110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学生不知道该看什么、按什么顺序看，</a:t>
              </a:r>
              <a:r>
                <a:rPr lang="zh-CN" sz="12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更难判断内容是否可信。</a:t>
              </a:r>
              <a:endParaRPr lang="zh-CN" sz="1275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420100" y="1428750"/>
            <a:ext cx="3048000" cy="1200150"/>
            <a:chOff x="8420100" y="1428750"/>
            <a:chExt cx="3048000" cy="1200150"/>
          </a:xfrm>
        </p:grpSpPr>
        <p:sp>
          <p:nvSpPr>
            <p:cNvPr id="26" name="Rectangle 26"/>
            <p:cNvSpPr/>
            <p:nvPr/>
          </p:nvSpPr>
          <p:spPr>
            <a:xfrm>
              <a:off x="8420100" y="1428750"/>
              <a:ext cx="3048000" cy="1200150"/>
            </a:xfrm>
            <a:prstGeom prst="roundRect">
              <a:avLst>
                <a:gd name="adj" fmla="val 6349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420100" y="1428750"/>
              <a:ext cx="76200" cy="120015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705850" y="1657350"/>
              <a:ext cx="457200" cy="4572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29" name="Freeform 29"/>
            <p:cNvSpPr/>
            <p:nvPr/>
          </p:nvSpPr>
          <p:spPr>
            <a:xfrm>
              <a:off x="8820150" y="1790700"/>
              <a:ext cx="228600" cy="152400"/>
            </a:xfrm>
            <a:custGeom>
              <a:avLst/>
              <a:gdLst/>
              <a:ahLst/>
              <a:cxnLst/>
              <a:rect l="l" t="t" r="r" b="b"/>
              <a:pathLst>
                <a:path w="228600" h="152400">
                  <a:moveTo>
                    <a:pt x="0" y="152400"/>
                  </a:moveTo>
                  <a:cubicBezTo>
                    <a:pt x="57150" y="0"/>
                    <a:pt x="171450" y="0"/>
                    <a:pt x="228600" y="152400"/>
                  </a:cubicBezTo>
                </a:path>
              </a:pathLst>
            </a:custGeom>
            <a:noFill/>
            <a:ln w="28575">
              <a:solidFill>
                <a:srgbClr val="1565C0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8858250" y="1733550"/>
              <a:ext cx="152400" cy="152400"/>
            </a:xfrm>
            <a:prstGeom prst="ellipse">
              <a:avLst/>
            </a:prstGeom>
            <a:noFill/>
            <a:ln w="28575">
              <a:solidFill>
                <a:srgbClr val="1565C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11640" y="1644015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标准课堂难适配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318308" y="2015014"/>
              <a:ext cx="1975485" cy="49720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875"/>
                </a:lnSpc>
              </a:pPr>
              <a:r>
                <a:rPr lang="zh-CN" sz="12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同一讲法覆盖不同基础，</a:t>
              </a:r>
              <a:r>
                <a:rPr lang="zh-CN" sz="12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进度与难度难以实时调整。</a:t>
              </a:r>
              <a:endParaRPr lang="zh-CN" sz="1275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105400" y="2933700"/>
            <a:ext cx="6362700" cy="1524000"/>
            <a:chOff x="5105400" y="2933700"/>
            <a:chExt cx="6362700" cy="1524000"/>
          </a:xfrm>
        </p:grpSpPr>
        <p:sp>
          <p:nvSpPr>
            <p:cNvPr id="34" name="Rectangle 34"/>
            <p:cNvSpPr/>
            <p:nvPr/>
          </p:nvSpPr>
          <p:spPr>
            <a:xfrm>
              <a:off x="5105400" y="2933700"/>
              <a:ext cx="6362700" cy="1524000"/>
            </a:xfrm>
            <a:prstGeom prst="roundRect">
              <a:avLst>
                <a:gd name="adj" fmla="val 50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105400" y="2933700"/>
              <a:ext cx="76200" cy="1524000"/>
            </a:xfrm>
            <a:prstGeom prst="roundRect">
              <a:avLst>
                <a:gd name="adj" fmla="val 50000"/>
              </a:avLst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5429250" y="3238500"/>
              <a:ext cx="571500" cy="571500"/>
            </a:xfrm>
            <a:prstGeom prst="ellipse">
              <a:avLst/>
            </a:prstGeom>
            <a:solidFill>
              <a:srgbClr val="6B8E6B">
                <a:alpha val="13000"/>
              </a:srgbClr>
            </a:solidFill>
            <a:ln>
              <a:noFill/>
            </a:ln>
          </p:spPr>
        </p:sp>
        <p:sp>
          <p:nvSpPr>
            <p:cNvPr id="37" name="Freeform 37"/>
            <p:cNvSpPr/>
            <p:nvPr/>
          </p:nvSpPr>
          <p:spPr>
            <a:xfrm>
              <a:off x="5461000" y="3327400"/>
              <a:ext cx="514350" cy="400050"/>
            </a:xfrm>
            <a:custGeom>
              <a:avLst/>
              <a:gdLst/>
              <a:ahLst/>
              <a:cxnLst/>
              <a:rect l="l" t="t" r="r" b="b"/>
              <a:pathLst>
                <a:path w="514350" h="400050">
                  <a:moveTo>
                    <a:pt x="82550" y="101600"/>
                  </a:moveTo>
                  <a:cubicBezTo>
                    <a:pt x="196850" y="0"/>
                    <a:pt x="311150" y="0"/>
                    <a:pt x="425450" y="101600"/>
                  </a:cubicBezTo>
                  <a:cubicBezTo>
                    <a:pt x="514350" y="190500"/>
                    <a:pt x="508000" y="279400"/>
                    <a:pt x="406400" y="368300"/>
                  </a:cubicBezTo>
                  <a:lnTo>
                    <a:pt x="311150" y="349250"/>
                  </a:lnTo>
                  <a:cubicBezTo>
                    <a:pt x="222250" y="400050"/>
                    <a:pt x="139700" y="387350"/>
                    <a:pt x="63500" y="311150"/>
                  </a:cubicBezTo>
                  <a:cubicBezTo>
                    <a:pt x="0" y="234950"/>
                    <a:pt x="6350" y="165100"/>
                    <a:pt x="82550" y="101600"/>
                  </a:cubicBezTo>
                  <a:close/>
                </a:path>
              </a:pathLst>
            </a:custGeom>
            <a:noFill/>
            <a:ln w="28575">
              <a:solidFill>
                <a:srgbClr val="6B8E6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166485" y="3199448"/>
              <a:ext cx="496414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通用问答不理解学生，也不沉淀教学资产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74105" y="3635692"/>
              <a:ext cx="4663440" cy="5410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一次回答解决不了持续学习：没有画像记忆、没有课程边界、</a:t>
              </a: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没有从资源到测验再到路径调整的闭环。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105400" y="4857750"/>
            <a:ext cx="6787515" cy="666750"/>
            <a:chOff x="5105400" y="4857750"/>
            <a:chExt cx="6787515" cy="666750"/>
          </a:xfrm>
        </p:grpSpPr>
        <p:sp>
          <p:nvSpPr>
            <p:cNvPr id="41" name="Rectangle 41"/>
            <p:cNvSpPr/>
            <p:nvPr/>
          </p:nvSpPr>
          <p:spPr>
            <a:xfrm>
              <a:off x="5105400" y="4857750"/>
              <a:ext cx="63627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14288">
              <a:solidFill>
                <a:srgbClr val="E8E6DC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406390" y="50634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系统命题：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70345" y="5079682"/>
              <a:ext cx="53225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9644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持续理解学生</a:t>
              </a:r>
              <a:r>
                <a:rPr lang="zh-CN" sz="16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，再让知识、资源与评估围绕学生流动。</a:t>
              </a:r>
              <a:endParaRPr lang="zh-CN" sz="16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5" name="TextBox 45"/>
            <p:cNvSpPr txBox="1"/>
            <p:nvPr/>
          </p:nvSpPr>
          <p:spPr>
            <a:xfrm>
              <a:off x="522922" y="6483191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教育痛点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02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5" grpId="0"/>
      <p:bldP spid="33" grpId="0"/>
      <p:bldP spid="40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266700" y="0"/>
            <a:ext cx="12458700" cy="7048500"/>
            <a:chOff x="-266700" y="0"/>
            <a:chExt cx="124587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858250" y="428625"/>
              <a:ext cx="2286000" cy="2286000"/>
            </a:xfrm>
            <a:prstGeom prst="ellipse">
              <a:avLst/>
            </a:prstGeom>
            <a:solidFill>
              <a:srgbClr val="1565C0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266700" y="4381500"/>
              <a:ext cx="2667000" cy="2667000"/>
            </a:xfrm>
            <a:prstGeom prst="ellipse">
              <a:avLst/>
            </a:prstGeom>
            <a:solidFill>
              <a:srgbClr val="6B8E6B">
                <a:alpha val="7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91478"/>
            <a:ext cx="10419064" cy="737234"/>
            <a:chOff x="501015" y="391478"/>
            <a:chExt cx="10419064" cy="737234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91478"/>
              <a:ext cx="1041906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一句话价值：先理解学生，再组织知识，再生成资源，再陪伴学习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6255" y="854392"/>
              <a:ext cx="34547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系统价值来自连续协作，而不是一次回答。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36270" y="1560195"/>
            <a:ext cx="10201323" cy="1016317"/>
            <a:chOff x="636270" y="1560195"/>
            <a:chExt cx="10201323" cy="1016317"/>
          </a:xfrm>
        </p:grpSpPr>
        <p:sp>
          <p:nvSpPr>
            <p:cNvPr id="10" name="TextBox 10"/>
            <p:cNvSpPr txBox="1"/>
            <p:nvPr/>
          </p:nvSpPr>
          <p:spPr>
            <a:xfrm>
              <a:off x="636270" y="1560195"/>
              <a:ext cx="10201323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从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学生画像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到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1565C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知识组织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，再到</a:t>
              </a:r>
              <a:r>
                <a:rPr lang="zh-CN" sz="39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 </a:t>
              </a:r>
              <a:r>
                <a:rPr lang="zh-CN" sz="3900" b="1" dirty="0">
                  <a:solidFill>
                    <a:srgbClr val="6B8E6B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学习反馈</a:t>
              </a:r>
              <a:endParaRPr lang="zh-CN" sz="3900" b="1" dirty="0">
                <a:solidFill>
                  <a:srgbClr val="6B8E6B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02945" y="2241232"/>
              <a:ext cx="574062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把教育中的“内容生成”扩展为“学习过程编排”。</a:t>
              </a:r>
              <a:endParaRPr lang="zh-CN" sz="16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38200" y="3333750"/>
            <a:ext cx="10515600" cy="1143000"/>
            <a:chOff x="838200" y="3333750"/>
            <a:chExt cx="10515600" cy="1143000"/>
          </a:xfrm>
        </p:grpSpPr>
        <p:sp>
          <p:nvSpPr>
            <p:cNvPr id="13" name="Rectangle 13"/>
            <p:cNvSpPr/>
            <p:nvPr/>
          </p:nvSpPr>
          <p:spPr>
            <a:xfrm>
              <a:off x="838200" y="3333750"/>
              <a:ext cx="10515600" cy="11430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C96442">
                    <a:alpha val="18000"/>
                  </a:srgbClr>
                </a:gs>
                <a:gs pos="55000">
                  <a:srgbClr val="6B8E6B">
                    <a:alpha val="12000"/>
                  </a:srgbClr>
                </a:gs>
                <a:gs pos="100000">
                  <a:srgbClr val="1565C0">
                    <a:alpha val="14000"/>
                  </a:srgbClr>
                </a:gs>
              </a:gsLst>
              <a:lin ang="0" scaled="1"/>
            </a:gradFill>
            <a:ln w="9525">
              <a:solidFill>
                <a:srgbClr val="E8E6DC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038350" y="3905250"/>
              <a:ext cx="8115300" cy="9525"/>
            </a:xfrm>
            <a:custGeom>
              <a:avLst/>
              <a:gdLst/>
              <a:ahLst/>
              <a:cxnLst/>
              <a:rect l="l" t="t" r="r" b="b"/>
              <a:pathLst>
                <a:path w="8115300" h="9525">
                  <a:moveTo>
                    <a:pt x="0" y="0"/>
                  </a:moveTo>
                  <a:lnTo>
                    <a:pt x="8115300" y="0"/>
                  </a:lnTo>
                </a:path>
              </a:pathLst>
            </a:custGeom>
            <a:noFill/>
            <a:ln w="38100" cap="rnd">
              <a:solidFill>
                <a:srgbClr val="C96442">
                  <a:alpha val="55000"/>
                </a:srgbClr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9982200" y="3810000"/>
              <a:ext cx="171450" cy="190500"/>
            </a:xfrm>
            <a:custGeom>
              <a:avLst/>
              <a:gdLst/>
              <a:ahLst/>
              <a:cxnLst/>
              <a:rect l="l" t="t" r="r" b="b"/>
              <a:pathLst>
                <a:path w="171450" h="190500">
                  <a:moveTo>
                    <a:pt x="171450" y="95250"/>
                  </a:moveTo>
                  <a:lnTo>
                    <a:pt x="0" y="0"/>
                  </a:lnTo>
                  <a:lnTo>
                    <a:pt x="0" y="190500"/>
                  </a:lnTo>
                  <a:close/>
                </a:path>
              </a:pathLst>
            </a:custGeom>
            <a:solidFill>
              <a:srgbClr val="C96442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524000" y="3390900"/>
              <a:ext cx="1028700" cy="1028700"/>
              <a:chOff x="1524000" y="3390900"/>
              <a:chExt cx="1028700" cy="10287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1524000" y="3390900"/>
                <a:ext cx="1028700" cy="1028700"/>
              </a:xfrm>
              <a:prstGeom prst="ellipse">
                <a:avLst/>
              </a:prstGeom>
              <a:solidFill>
                <a:srgbClr val="FAF9F5"/>
              </a:solidFill>
              <a:ln w="38100">
                <a:solidFill>
                  <a:srgbClr val="C96442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849960" y="36214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C96442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01</a:t>
                </a:r>
                <a:endParaRPr lang="zh-CN" sz="210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687068" y="3985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理解学生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229100" y="3390900"/>
              <a:ext cx="1028700" cy="1028700"/>
              <a:chOff x="4229100" y="3390900"/>
              <a:chExt cx="1028700" cy="10287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229100" y="3390900"/>
                <a:ext cx="1028700" cy="1028700"/>
              </a:xfrm>
              <a:prstGeom prst="ellipse">
                <a:avLst/>
              </a:prstGeom>
              <a:solidFill>
                <a:srgbClr val="FAF9F5"/>
              </a:solidFill>
              <a:ln w="38100">
                <a:solidFill>
                  <a:srgbClr val="1565C0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555060" y="36214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1565C0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02</a:t>
                </a:r>
                <a:endParaRPr lang="zh-CN" sz="2100" b="1" dirty="0">
                  <a:solidFill>
                    <a:srgbClr val="1565C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392168" y="3985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组织知识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934200" y="3390900"/>
              <a:ext cx="1028700" cy="1028700"/>
              <a:chOff x="6934200" y="3390900"/>
              <a:chExt cx="1028700" cy="10287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934200" y="3390900"/>
                <a:ext cx="1028700" cy="1028700"/>
              </a:xfrm>
              <a:prstGeom prst="ellipse">
                <a:avLst/>
              </a:prstGeom>
              <a:solidFill>
                <a:srgbClr val="FAF9F5"/>
              </a:solidFill>
              <a:ln w="38100">
                <a:solidFill>
                  <a:srgbClr val="B07D62"/>
                </a:solidFill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260160" y="36214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B07D62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03</a:t>
                </a:r>
                <a:endParaRPr lang="zh-CN" sz="2100" b="1" dirty="0">
                  <a:solidFill>
                    <a:srgbClr val="B07D6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097268" y="3985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生成资源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9639300" y="3390900"/>
              <a:ext cx="1028700" cy="1028700"/>
              <a:chOff x="9639300" y="3390900"/>
              <a:chExt cx="1028700" cy="10287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9639300" y="3390900"/>
                <a:ext cx="1028700" cy="1028700"/>
              </a:xfrm>
              <a:prstGeom prst="ellipse">
                <a:avLst/>
              </a:prstGeom>
              <a:solidFill>
                <a:srgbClr val="FAF9F5"/>
              </a:solidFill>
              <a:ln w="38100">
                <a:solidFill>
                  <a:srgbClr val="6B8E6B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9965260" y="3621405"/>
                <a:ext cx="376780" cy="426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100" b="1" dirty="0">
                    <a:solidFill>
                      <a:srgbClr val="6B8E6B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04</a:t>
                </a:r>
                <a:endParaRPr lang="zh-CN" sz="2100" b="1" dirty="0">
                  <a:solidFill>
                    <a:srgbClr val="6B8E6B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802368" y="3985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陪伴学习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37" name="Group 37"/>
          <p:cNvGrpSpPr/>
          <p:nvPr/>
        </p:nvGrpSpPr>
        <p:grpSpPr>
          <a:xfrm>
            <a:off x="1565910" y="4937760"/>
            <a:ext cx="8907780" cy="472440"/>
            <a:chOff x="1565910" y="4937760"/>
            <a:chExt cx="8907780" cy="472440"/>
          </a:xfrm>
        </p:grpSpPr>
        <p:sp>
          <p:nvSpPr>
            <p:cNvPr id="33" name="TextBox 33"/>
            <p:cNvSpPr txBox="1"/>
            <p:nvPr/>
          </p:nvSpPr>
          <p:spPr>
            <a:xfrm>
              <a:off x="1565910" y="4937760"/>
              <a:ext cx="9448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自然语言抽取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 维画像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351020" y="4937760"/>
              <a:ext cx="78486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 Wiki 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 与图谱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52310" y="4937760"/>
              <a:ext cx="7924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讲义、测验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代码与媒体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833610" y="4937760"/>
              <a:ext cx="640080" cy="47244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ctr">
                <a:lnSpc>
                  <a:spcPts val="1800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错题复习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路径更新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38" name="TextBox 38"/>
            <p:cNvSpPr txBox="1"/>
            <p:nvPr/>
          </p:nvSpPr>
          <p:spPr>
            <a:xfrm>
              <a:off x="522922" y="6483191"/>
              <a:ext cx="11540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一句话价值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03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32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1"/>
            <a:srcRect l="14310" r="14310"/>
            <a:stretch>
              <a:fillRect/>
            </a:stretch>
          </p:blipFill>
          <p:spPr>
            <a:xfrm>
              <a:off x="6667500" y="1095375"/>
              <a:ext cx="4953000" cy="3905250"/>
            </a:xfrm>
            <a:prstGeom prst="rect">
              <a:avLst/>
            </a:prstGeom>
          </p:spPr>
        </p:pic>
        <p:sp>
          <p:nvSpPr>
            <p:cNvPr id="4" name="Rectangle 4"/>
            <p:cNvSpPr/>
            <p:nvPr/>
          </p:nvSpPr>
          <p:spPr>
            <a:xfrm>
              <a:off x="6572250" y="1000125"/>
              <a:ext cx="5143500" cy="4095750"/>
            </a:xfrm>
            <a:prstGeom prst="rect">
              <a:avLst/>
            </a:prstGeom>
            <a:solidFill>
              <a:srgbClr val="F5F4ED">
                <a:alpha val="38000"/>
              </a:srgbClr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72428"/>
            <a:ext cx="8705250" cy="718184"/>
            <a:chOff x="501015" y="372428"/>
            <a:chExt cx="8705250" cy="718184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72428"/>
              <a:ext cx="87052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系统以 LLM Wiki 为中枢，用 LangGraph 编排学习任务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6255" y="816292"/>
              <a:ext cx="56239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前端体验、Agent 编排、知识检索和数据沉淀被连接成一条工程链路。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66750" y="1381125"/>
            <a:ext cx="8191500" cy="4229100"/>
            <a:chOff x="666750" y="1381125"/>
            <a:chExt cx="8191500" cy="4229100"/>
          </a:xfrm>
        </p:grpSpPr>
        <p:grpSp>
          <p:nvGrpSpPr>
            <p:cNvPr id="15" name="Group 15"/>
            <p:cNvGrpSpPr/>
            <p:nvPr/>
          </p:nvGrpSpPr>
          <p:grpSpPr>
            <a:xfrm>
              <a:off x="666750" y="1381125"/>
              <a:ext cx="8191500" cy="685800"/>
              <a:chOff x="666750" y="1381125"/>
              <a:chExt cx="8191500" cy="6858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666750" y="1381125"/>
                <a:ext cx="81915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666750" y="1381125"/>
                <a:ext cx="8763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37402" y="1622108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体验层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88795" y="1479232"/>
                <a:ext cx="140498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Next.js 前端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94510" y="1794510"/>
                <a:ext cx="406298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聊天流、资源卡片、画像页、知识 Wiki、路径与教师视图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66750" y="2238375"/>
              <a:ext cx="8191500" cy="685800"/>
              <a:chOff x="666750" y="2238375"/>
              <a:chExt cx="8191500" cy="6858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66750" y="2238375"/>
                <a:ext cx="81915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666750" y="2238375"/>
                <a:ext cx="8763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737402" y="2479358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服务层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88795" y="2336482"/>
                <a:ext cx="152049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FastAPI + SSE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94510" y="2651760"/>
                <a:ext cx="41429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对话、资源、测验、路径、分析和导出 API，支持流式体验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666750" y="3095625"/>
              <a:ext cx="8191500" cy="742950"/>
              <a:chOff x="666750" y="3095625"/>
              <a:chExt cx="8191500" cy="7429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666750" y="3095625"/>
                <a:ext cx="81915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666750" y="3095625"/>
                <a:ext cx="8763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737402" y="3365182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编排层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88795" y="3203258"/>
                <a:ext cx="282580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LangGraph Orchestrator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94510" y="3528060"/>
                <a:ext cx="481507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Router、Profile、Planner 与专业 Agent 分工协作，记录节点状态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66750" y="4010025"/>
              <a:ext cx="8191500" cy="742950"/>
              <a:chOff x="666750" y="4010025"/>
              <a:chExt cx="8191500" cy="7429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66750" y="4010025"/>
                <a:ext cx="81915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666750" y="4010025"/>
                <a:ext cx="876300" cy="742950"/>
              </a:xfrm>
              <a:prstGeom prst="roundRect">
                <a:avLst>
                  <a:gd name="adj" fmla="val 10256"/>
                </a:avLst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737402" y="4279582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知识层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788795" y="4117658"/>
                <a:ext cx="1971001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LLM Wiki 知识中枢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794510" y="4442460"/>
                <a:ext cx="38709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课程隔离、语义检索、知识图谱、可信来源与内容回写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666750" y="4924425"/>
              <a:ext cx="8191500" cy="685800"/>
              <a:chOff x="666750" y="4924425"/>
              <a:chExt cx="8191500" cy="68580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666750" y="4924425"/>
                <a:ext cx="81915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666750" y="4924425"/>
                <a:ext cx="876300" cy="685800"/>
              </a:xfrm>
              <a:prstGeom prst="roundRect">
                <a:avLst>
                  <a:gd name="adj" fmla="val 11111"/>
                </a:avLst>
              </a:prstGeom>
              <a:solidFill>
                <a:srgbClr val="30302E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737402" y="5165408"/>
                <a:ext cx="734997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650" b="1" dirty="0">
                    <a:solidFill>
                      <a:srgbClr val="FFFFFF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数据层</a:t>
                </a:r>
                <a:endParaRPr lang="zh-CN" sz="16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1788795" y="5022532"/>
                <a:ext cx="3045285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41413"/>
                    </a:solidFill>
                    <a:latin typeface="Arial" panose="020B0604020202020204"/>
                    <a:ea typeface="黑体" panose="02010609060101010101" charset="-122"/>
                    <a:cs typeface="Arial" panose="020B0604020202020204"/>
                  </a:rPr>
                  <a:t>数据库、向量索引与资产存储</a:t>
                </a:r>
                <a:endPara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794510" y="5337810"/>
                <a:ext cx="466305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PostgreSQL/SQLite、Redis、MinIO 适配、本地资源与运行事件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9239250" y="1381125"/>
            <a:ext cx="2324862" cy="4229100"/>
            <a:chOff x="9239250" y="1381125"/>
            <a:chExt cx="2324862" cy="4229100"/>
          </a:xfrm>
        </p:grpSpPr>
        <p:sp>
          <p:nvSpPr>
            <p:cNvPr id="41" name="Rectangle 41"/>
            <p:cNvSpPr/>
            <p:nvPr/>
          </p:nvSpPr>
          <p:spPr>
            <a:xfrm>
              <a:off x="9239250" y="1381125"/>
              <a:ext cx="2266950" cy="4229100"/>
            </a:xfrm>
            <a:prstGeom prst="roundRect">
              <a:avLst>
                <a:gd name="adj" fmla="val 3361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502140" y="1615440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面向学习闭环输出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9525000" y="20002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9525">
              <a:solidFill>
                <a:srgbClr val="FAF9F5">
                  <a:alpha val="35000"/>
                </a:srgbClr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9591675" y="2330768"/>
              <a:ext cx="1553528" cy="274320"/>
              <a:chOff x="9591675" y="2330768"/>
              <a:chExt cx="1553528" cy="274320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9591675" y="2352675"/>
                <a:ext cx="133350" cy="13335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9850755" y="2330768"/>
                <a:ext cx="12944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个性化资源生成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591675" y="2845118"/>
              <a:ext cx="1553528" cy="274320"/>
              <a:chOff x="9591675" y="2845118"/>
              <a:chExt cx="1553528" cy="274320"/>
            </a:xfrm>
          </p:grpSpPr>
          <p:sp>
            <p:nvSpPr>
              <p:cNvPr id="47" name="Ellipse 47"/>
              <p:cNvSpPr/>
              <p:nvPr/>
            </p:nvSpPr>
            <p:spPr>
              <a:xfrm>
                <a:off x="9591675" y="2867025"/>
                <a:ext cx="133350" cy="1333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850755" y="2845118"/>
                <a:ext cx="129444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可信引用与核对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2" name="Group 52"/>
            <p:cNvGrpSpPr/>
            <p:nvPr/>
          </p:nvGrpSpPr>
          <p:grpSpPr>
            <a:xfrm>
              <a:off x="9591675" y="3359468"/>
              <a:ext cx="1373505" cy="274320"/>
              <a:chOff x="9591675" y="3359468"/>
              <a:chExt cx="1373505" cy="274320"/>
            </a:xfrm>
          </p:grpSpPr>
          <p:sp>
            <p:nvSpPr>
              <p:cNvPr id="50" name="Ellipse 50"/>
              <p:cNvSpPr/>
              <p:nvPr/>
            </p:nvSpPr>
            <p:spPr>
              <a:xfrm>
                <a:off x="9591675" y="3381375"/>
                <a:ext cx="133350" cy="13335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850755" y="3359468"/>
                <a:ext cx="11144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路径动态更新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5" name="Group 55"/>
            <p:cNvGrpSpPr/>
            <p:nvPr/>
          </p:nvGrpSpPr>
          <p:grpSpPr>
            <a:xfrm>
              <a:off x="9591675" y="3873818"/>
              <a:ext cx="1373505" cy="274320"/>
              <a:chOff x="9591675" y="3873818"/>
              <a:chExt cx="1373505" cy="274320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9591675" y="3895725"/>
                <a:ext cx="133350" cy="133350"/>
              </a:xfrm>
              <a:prstGeom prst="ellipse">
                <a:avLst/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850755" y="3873818"/>
                <a:ext cx="111442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教师分析视图</a:t>
                </a:r>
                <a:endParaRPr lang="zh-CN" sz="13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56" name="Rectangle 56"/>
            <p:cNvSpPr/>
            <p:nvPr/>
          </p:nvSpPr>
          <p:spPr>
            <a:xfrm>
              <a:off x="9525000" y="4686300"/>
              <a:ext cx="1676400" cy="514350"/>
            </a:xfrm>
            <a:prstGeom prst="roundRect">
              <a:avLst>
                <a:gd name="adj" fmla="val 14815"/>
              </a:avLst>
            </a:prstGeom>
            <a:solidFill>
              <a:srgbClr val="FAF9F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9365135" y="4872514"/>
              <a:ext cx="199613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可运行、可观测、可沉淀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9" name="TextBox 59"/>
            <p:cNvSpPr txBox="1"/>
            <p:nvPr/>
          </p:nvSpPr>
          <p:spPr>
            <a:xfrm>
              <a:off x="522922" y="6483191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系统全景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04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667125" y="1285875"/>
              <a:ext cx="4857750" cy="4857750"/>
            </a:xfrm>
            <a:prstGeom prst="ellipse">
              <a:avLst/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5" name="Ellipse 5"/>
            <p:cNvSpPr/>
            <p:nvPr/>
          </p:nvSpPr>
          <p:spPr>
            <a:xfrm>
              <a:off x="4429125" y="2047875"/>
              <a:ext cx="3333750" cy="3333750"/>
            </a:xfrm>
            <a:prstGeom prst="ellipse">
              <a:avLst/>
            </a:prstGeom>
            <a:solidFill>
              <a:srgbClr val="1565C0">
                <a:alpha val="4000"/>
              </a:srgbClr>
            </a:solidFill>
            <a:ln w="9525">
              <a:solidFill>
                <a:srgbClr val="1565C0">
                  <a:alpha val="35000"/>
                </a:srgbClr>
              </a:solidFill>
              <a:custDash>
                <a:ds d="800000" sp="600000"/>
              </a:custDash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72428"/>
            <a:ext cx="9508600" cy="718184"/>
            <a:chOff x="501015" y="372428"/>
            <a:chExt cx="9508600" cy="718184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72428"/>
              <a:ext cx="950860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前沿 AI 能力被拆成可控组件，而不是堆在一个大模型调用里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6255" y="816292"/>
              <a:ext cx="651510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讯飞星火、RAG、知识图谱、多智能体、安全/TTS 与视觉资产辅助共同服务教学闭环。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181600" y="2800350"/>
            <a:ext cx="1828800" cy="1828800"/>
            <a:chOff x="5181600" y="2800350"/>
            <a:chExt cx="1828800" cy="1828800"/>
          </a:xfrm>
        </p:grpSpPr>
        <p:sp>
          <p:nvSpPr>
            <p:cNvPr id="10" name="Ellipse 10"/>
            <p:cNvSpPr/>
            <p:nvPr/>
          </p:nvSpPr>
          <p:spPr>
            <a:xfrm>
              <a:off x="5181600" y="2800350"/>
              <a:ext cx="1828800" cy="1828800"/>
            </a:xfrm>
            <a:prstGeom prst="ellipse">
              <a:avLst/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422449" y="3202305"/>
              <a:ext cx="13471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EduAgent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46478" y="3615214"/>
              <a:ext cx="12990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可控 AI 教学闭环</a:t>
              </a:r>
              <a:endParaRPr lang="zh-CN" sz="12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280025" y="3925252"/>
              <a:ext cx="1631950" cy="1384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知识边界 + 任务分工 + 安全评估</a:t>
              </a:r>
              <a:endParaRPr lang="zh-CN" sz="9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14650" y="1780540"/>
            <a:ext cx="6362700" cy="3686810"/>
            <a:chOff x="2914650" y="1780540"/>
            <a:chExt cx="6362700" cy="3686810"/>
          </a:xfrm>
        </p:grpSpPr>
        <p:sp>
          <p:nvSpPr>
            <p:cNvPr id="15" name="Line 15"/>
            <p:cNvSpPr/>
            <p:nvPr/>
          </p:nvSpPr>
          <p:spPr>
            <a:xfrm>
              <a:off x="2914650" y="2000250"/>
              <a:ext cx="2420620" cy="1202055"/>
            </a:xfrm>
            <a:custGeom>
              <a:avLst/>
              <a:gdLst/>
              <a:ahLst/>
              <a:cxnLst/>
              <a:rect l="l" t="t" r="r" b="b"/>
              <a:pathLst>
                <a:path w="3181350" h="1714500">
                  <a:moveTo>
                    <a:pt x="3181350" y="17145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105525" y="1780540"/>
              <a:ext cx="76200" cy="1019810"/>
            </a:xfrm>
            <a:custGeom>
              <a:avLst/>
              <a:gdLst/>
              <a:ahLst/>
              <a:cxnLst/>
              <a:rect l="l" t="t" r="r" b="b"/>
              <a:pathLst>
                <a:path w="9525" h="1905000">
                  <a:moveTo>
                    <a:pt x="0" y="19050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863715" y="2000250"/>
              <a:ext cx="2413635" cy="1201420"/>
            </a:xfrm>
            <a:custGeom>
              <a:avLst/>
              <a:gdLst/>
              <a:ahLst/>
              <a:cxnLst/>
              <a:rect l="l" t="t" r="r" b="b"/>
              <a:pathLst>
                <a:path w="3181350" h="1714500">
                  <a:moveTo>
                    <a:pt x="0" y="1714500"/>
                  </a:moveTo>
                  <a:lnTo>
                    <a:pt x="3181350" y="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2914650" y="4137660"/>
              <a:ext cx="2343150" cy="1082040"/>
            </a:xfrm>
            <a:custGeom>
              <a:avLst/>
              <a:gdLst/>
              <a:ahLst/>
              <a:cxnLst/>
              <a:rect l="l" t="t" r="r" b="b"/>
              <a:pathLst>
                <a:path w="3181350" h="1504950">
                  <a:moveTo>
                    <a:pt x="3181350" y="0"/>
                  </a:moveTo>
                  <a:lnTo>
                    <a:pt x="0" y="150495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19" name="Line 19"/>
            <p:cNvSpPr/>
            <p:nvPr/>
          </p:nvSpPr>
          <p:spPr>
            <a:xfrm flipH="1">
              <a:off x="6029325" y="4629785"/>
              <a:ext cx="76200" cy="837565"/>
            </a:xfrm>
            <a:custGeom>
              <a:avLst/>
              <a:gdLst/>
              <a:ahLst/>
              <a:cxnLst/>
              <a:rect l="l" t="t" r="r" b="b"/>
              <a:pathLst>
                <a:path w="9525" h="1752600">
                  <a:moveTo>
                    <a:pt x="0" y="0"/>
                  </a:moveTo>
                  <a:lnTo>
                    <a:pt x="0" y="175260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934835" y="4138295"/>
              <a:ext cx="2342515" cy="1081405"/>
            </a:xfrm>
            <a:custGeom>
              <a:avLst/>
              <a:gdLst/>
              <a:ahLst/>
              <a:cxnLst/>
              <a:rect l="l" t="t" r="r" b="b"/>
              <a:pathLst>
                <a:path w="3181350" h="1504950">
                  <a:moveTo>
                    <a:pt x="0" y="0"/>
                  </a:moveTo>
                  <a:lnTo>
                    <a:pt x="3181350" y="150495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257300" y="1466850"/>
            <a:ext cx="3314700" cy="1066800"/>
            <a:chOff x="1257300" y="1466850"/>
            <a:chExt cx="3314700" cy="1066800"/>
          </a:xfrm>
        </p:grpSpPr>
        <p:sp>
          <p:nvSpPr>
            <p:cNvPr id="22" name="Rectangle 22"/>
            <p:cNvSpPr/>
            <p:nvPr/>
          </p:nvSpPr>
          <p:spPr>
            <a:xfrm>
              <a:off x="1257300" y="146685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257300" y="146685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1581150" y="1885950"/>
              <a:ext cx="476250" cy="571500"/>
            </a:xfrm>
            <a:custGeom>
              <a:avLst/>
              <a:gdLst/>
              <a:ahLst/>
              <a:cxnLst/>
              <a:rect l="l" t="t" r="r" b="b"/>
              <a:pathLst>
                <a:path w="476250" h="571500">
                  <a:moveTo>
                    <a:pt x="152400" y="0"/>
                  </a:moveTo>
                  <a:lnTo>
                    <a:pt x="361950" y="0"/>
                  </a:lnTo>
                  <a:lnTo>
                    <a:pt x="228600" y="285750"/>
                  </a:lnTo>
                  <a:lnTo>
                    <a:pt x="476250" y="285750"/>
                  </a:lnTo>
                  <a:lnTo>
                    <a:pt x="76200" y="571500"/>
                  </a:lnTo>
                  <a:lnTo>
                    <a:pt x="209550" y="285750"/>
                  </a:lnTo>
                  <a:lnTo>
                    <a:pt x="0" y="285750"/>
                  </a:lnTo>
                  <a:close/>
                </a:path>
              </a:pathLst>
            </a:custGeom>
            <a:solidFill>
              <a:srgbClr val="C9644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245995" y="1669732"/>
              <a:ext cx="146273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讯飞星火 LLM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51710" y="2013585"/>
              <a:ext cx="18592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主推理与教学表达生成，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开发模式支持可回退内容。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438650" y="1276350"/>
            <a:ext cx="3314700" cy="1066800"/>
            <a:chOff x="4438650" y="1276350"/>
            <a:chExt cx="3314700" cy="1066800"/>
          </a:xfrm>
        </p:grpSpPr>
        <p:sp>
          <p:nvSpPr>
            <p:cNvPr id="28" name="Rectangle 28"/>
            <p:cNvSpPr/>
            <p:nvPr/>
          </p:nvSpPr>
          <p:spPr>
            <a:xfrm>
              <a:off x="4438650" y="127635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4438650" y="127635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30" name="Ellipse 30"/>
            <p:cNvSpPr/>
            <p:nvPr/>
          </p:nvSpPr>
          <p:spPr>
            <a:xfrm>
              <a:off x="4743450" y="1581150"/>
              <a:ext cx="457200" cy="4572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31" name="Freeform 31"/>
            <p:cNvSpPr/>
            <p:nvPr/>
          </p:nvSpPr>
          <p:spPr>
            <a:xfrm>
              <a:off x="4838700" y="16764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133350"/>
                  </a:lnTo>
                  <a:moveTo>
                    <a:pt x="133350" y="0"/>
                  </a:moveTo>
                  <a:lnTo>
                    <a:pt x="133350" y="266700"/>
                  </a:lnTo>
                  <a:moveTo>
                    <a:pt x="38100" y="38100"/>
                  </a:moveTo>
                  <a:lnTo>
                    <a:pt x="228600" y="228600"/>
                  </a:lnTo>
                  <a:moveTo>
                    <a:pt x="228600" y="38100"/>
                  </a:moveTo>
                  <a:lnTo>
                    <a:pt x="38100" y="2286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565C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446395" y="1479232"/>
              <a:ext cx="1416532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RAG 语义检索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452110" y="1823085"/>
              <a:ext cx="15544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先检索课程材料，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再限制生成事实边界。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0" y="1466850"/>
            <a:ext cx="3314700" cy="1066800"/>
            <a:chOff x="7620000" y="1466850"/>
            <a:chExt cx="3314700" cy="1066800"/>
          </a:xfrm>
        </p:grpSpPr>
        <p:sp>
          <p:nvSpPr>
            <p:cNvPr id="35" name="Rectangle 35"/>
            <p:cNvSpPr/>
            <p:nvPr/>
          </p:nvSpPr>
          <p:spPr>
            <a:xfrm>
              <a:off x="7620000" y="146685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620000" y="146685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8039100" y="1752600"/>
              <a:ext cx="152400" cy="1524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43900" y="1962150"/>
              <a:ext cx="152400" cy="1524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020050" y="2190750"/>
              <a:ext cx="152400" cy="1524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40" name="Line 40"/>
            <p:cNvSpPr/>
            <p:nvPr/>
          </p:nvSpPr>
          <p:spPr>
            <a:xfrm>
              <a:off x="8172450" y="1866900"/>
              <a:ext cx="171450" cy="123825"/>
            </a:xfrm>
            <a:custGeom>
              <a:avLst/>
              <a:gdLst/>
              <a:ahLst/>
              <a:cxnLst/>
              <a:rect l="l" t="t" r="r" b="b"/>
              <a:pathLst>
                <a:path w="171450" h="123825">
                  <a:moveTo>
                    <a:pt x="0" y="0"/>
                  </a:moveTo>
                  <a:lnTo>
                    <a:pt x="171450" y="123825"/>
                  </a:lnTo>
                </a:path>
              </a:pathLst>
            </a:custGeom>
            <a:noFill/>
            <a:ln w="28575">
              <a:solidFill>
                <a:srgbClr val="6B8E6B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8172450" y="2085975"/>
              <a:ext cx="190500" cy="142875"/>
            </a:xfrm>
            <a:custGeom>
              <a:avLst/>
              <a:gdLst/>
              <a:ahLst/>
              <a:cxnLst/>
              <a:rect l="l" t="t" r="r" b="b"/>
              <a:pathLst>
                <a:path w="190500" h="142875">
                  <a:moveTo>
                    <a:pt x="190500" y="0"/>
                  </a:moveTo>
                  <a:lnTo>
                    <a:pt x="0" y="142875"/>
                  </a:lnTo>
                </a:path>
              </a:pathLst>
            </a:custGeom>
            <a:noFill/>
            <a:ln w="28575">
              <a:solidFill>
                <a:srgbClr val="6B8E6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742045" y="16697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知识图谱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47760" y="2013585"/>
              <a:ext cx="17068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课程前置关系、关联概念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和路径节点可计算。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57300" y="4686300"/>
            <a:ext cx="3314700" cy="1066800"/>
            <a:chOff x="1257300" y="4686300"/>
            <a:chExt cx="3314700" cy="1066800"/>
          </a:xfrm>
        </p:grpSpPr>
        <p:sp>
          <p:nvSpPr>
            <p:cNvPr id="45" name="Rectangle 45"/>
            <p:cNvSpPr/>
            <p:nvPr/>
          </p:nvSpPr>
          <p:spPr>
            <a:xfrm>
              <a:off x="1257300" y="468630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257300" y="468630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1543050" y="4972050"/>
              <a:ext cx="495300" cy="4953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1657350" y="5067300"/>
              <a:ext cx="266700" cy="228600"/>
            </a:xfrm>
            <a:prstGeom prst="roundRect">
              <a:avLst>
                <a:gd name="adj" fmla="val 25000"/>
              </a:avLst>
            </a:prstGeom>
            <a:noFill/>
            <a:ln w="28575">
              <a:solidFill>
                <a:srgbClr val="1565C0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704975" y="51530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1819275" y="5153025"/>
              <a:ext cx="57150" cy="5715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245995" y="48891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多智能体分工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51710" y="5233035"/>
              <a:ext cx="211836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Router、Planner、Doc、Quiz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等节点按任务协同。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38650" y="5086350"/>
            <a:ext cx="3314700" cy="1066800"/>
            <a:chOff x="4438650" y="5086350"/>
            <a:chExt cx="3314700" cy="1066800"/>
          </a:xfrm>
        </p:grpSpPr>
        <p:sp>
          <p:nvSpPr>
            <p:cNvPr id="54" name="Rectangle 54"/>
            <p:cNvSpPr/>
            <p:nvPr/>
          </p:nvSpPr>
          <p:spPr>
            <a:xfrm>
              <a:off x="4438650" y="508635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4438650" y="508635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C4A35A"/>
            </a:solidFill>
            <a:ln>
              <a:noFill/>
            </a:ln>
          </p:spPr>
        </p:sp>
        <p:sp>
          <p:nvSpPr>
            <p:cNvPr id="56" name="Freeform 56"/>
            <p:cNvSpPr/>
            <p:nvPr/>
          </p:nvSpPr>
          <p:spPr>
            <a:xfrm>
              <a:off x="4686300" y="5314950"/>
              <a:ext cx="571500" cy="685800"/>
            </a:xfrm>
            <a:custGeom>
              <a:avLst/>
              <a:gdLst/>
              <a:ahLst/>
              <a:cxnLst/>
              <a:rect l="l" t="t" r="r" b="b"/>
              <a:pathLst>
                <a:path w="571500" h="685800">
                  <a:moveTo>
                    <a:pt x="285750" y="0"/>
                  </a:moveTo>
                  <a:lnTo>
                    <a:pt x="571500" y="95250"/>
                  </a:lnTo>
                  <a:lnTo>
                    <a:pt x="571500" y="304800"/>
                  </a:lnTo>
                  <a:cubicBezTo>
                    <a:pt x="571500" y="514350"/>
                    <a:pt x="409575" y="628650"/>
                    <a:pt x="285750" y="685800"/>
                  </a:cubicBezTo>
                  <a:cubicBezTo>
                    <a:pt x="161925" y="628650"/>
                    <a:pt x="0" y="514350"/>
                    <a:pt x="0" y="304800"/>
                  </a:cubicBezTo>
                  <a:lnTo>
                    <a:pt x="0" y="95250"/>
                  </a:lnTo>
                  <a:close/>
                </a:path>
              </a:pathLst>
            </a:custGeom>
            <a:noFill/>
            <a:ln w="28575">
              <a:solidFill>
                <a:srgbClr val="C4A35A"/>
              </a:solidFill>
            </a:ln>
          </p:spPr>
        </p:sp>
        <p:sp>
          <p:nvSpPr>
            <p:cNvPr id="57" name="Freeform 57"/>
            <p:cNvSpPr/>
            <p:nvPr/>
          </p:nvSpPr>
          <p:spPr>
            <a:xfrm>
              <a:off x="4838700" y="5505450"/>
              <a:ext cx="285750" cy="219075"/>
            </a:xfrm>
            <a:custGeom>
              <a:avLst/>
              <a:gdLst/>
              <a:ahLst/>
              <a:cxnLst/>
              <a:rect l="l" t="t" r="r" b="b"/>
              <a:pathLst>
                <a:path w="285750" h="219075">
                  <a:moveTo>
                    <a:pt x="0" y="123825"/>
                  </a:moveTo>
                  <a:lnTo>
                    <a:pt x="95250" y="219075"/>
                  </a:lnTo>
                  <a:lnTo>
                    <a:pt x="285750" y="0"/>
                  </a:lnTo>
                </a:path>
              </a:pathLst>
            </a:custGeom>
            <a:noFill/>
            <a:ln w="28575">
              <a:solidFill>
                <a:srgbClr val="C4A35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446395" y="5289232"/>
              <a:ext cx="161290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安全护栏 + TTS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5452110" y="5633085"/>
              <a:ext cx="15544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内容风险过滤，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并扩展语音学习体验。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0" y="4686300"/>
            <a:ext cx="3314700" cy="1066800"/>
            <a:chOff x="7620000" y="4686300"/>
            <a:chExt cx="3314700" cy="1066800"/>
          </a:xfrm>
        </p:grpSpPr>
        <p:sp>
          <p:nvSpPr>
            <p:cNvPr id="61" name="Rectangle 61"/>
            <p:cNvSpPr/>
            <p:nvPr/>
          </p:nvSpPr>
          <p:spPr>
            <a:xfrm>
              <a:off x="7620000" y="4686300"/>
              <a:ext cx="3314700" cy="1066800"/>
            </a:xfrm>
            <a:prstGeom prst="roundRect">
              <a:avLst>
                <a:gd name="adj" fmla="val 714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62" name="Rectangle 62"/>
            <p:cNvSpPr/>
            <p:nvPr/>
          </p:nvSpPr>
          <p:spPr>
            <a:xfrm>
              <a:off x="7620000" y="4686300"/>
              <a:ext cx="76200" cy="1066800"/>
            </a:xfrm>
            <a:prstGeom prst="roundRect">
              <a:avLst>
                <a:gd name="adj" fmla="val 50000"/>
              </a:avLst>
            </a:prstGeom>
            <a:solidFill>
              <a:srgbClr val="B07D62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7924800" y="5010150"/>
              <a:ext cx="495300" cy="400050"/>
            </a:xfrm>
            <a:prstGeom prst="roundRect">
              <a:avLst>
                <a:gd name="adj" fmla="val 19048"/>
              </a:avLst>
            </a:prstGeom>
            <a:noFill/>
            <a:ln w="28575">
              <a:solidFill>
                <a:srgbClr val="B07D62"/>
              </a:solidFill>
            </a:ln>
          </p:spPr>
        </p:sp>
        <p:sp>
          <p:nvSpPr>
            <p:cNvPr id="64" name="Ellipse 64"/>
            <p:cNvSpPr/>
            <p:nvPr/>
          </p:nvSpPr>
          <p:spPr>
            <a:xfrm>
              <a:off x="8020050" y="5086350"/>
              <a:ext cx="114300" cy="114300"/>
            </a:xfrm>
            <a:prstGeom prst="ellipse">
              <a:avLst/>
            </a:prstGeom>
            <a:solidFill>
              <a:srgbClr val="B07D62"/>
            </a:solidFill>
            <a:ln>
              <a:noFill/>
            </a:ln>
          </p:spPr>
        </p:sp>
        <p:sp>
          <p:nvSpPr>
            <p:cNvPr id="65" name="Freeform 65"/>
            <p:cNvSpPr/>
            <p:nvPr/>
          </p:nvSpPr>
          <p:spPr>
            <a:xfrm>
              <a:off x="7962900" y="5162550"/>
              <a:ext cx="438150" cy="247650"/>
            </a:xfrm>
            <a:custGeom>
              <a:avLst/>
              <a:gdLst/>
              <a:ahLst/>
              <a:cxnLst/>
              <a:rect l="l" t="t" r="r" b="b"/>
              <a:pathLst>
                <a:path w="438150" h="247650">
                  <a:moveTo>
                    <a:pt x="0" y="190500"/>
                  </a:moveTo>
                  <a:lnTo>
                    <a:pt x="152400" y="57150"/>
                  </a:lnTo>
                  <a:lnTo>
                    <a:pt x="266700" y="152400"/>
                  </a:lnTo>
                  <a:lnTo>
                    <a:pt x="381000" y="0"/>
                  </a:lnTo>
                  <a:lnTo>
                    <a:pt x="438150" y="247650"/>
                  </a:lnTo>
                  <a:lnTo>
                    <a:pt x="0" y="247650"/>
                  </a:lnTo>
                  <a:close/>
                </a:path>
              </a:pathLst>
            </a:custGeom>
            <a:solidFill>
              <a:srgbClr val="B07D62">
                <a:alpha val="24000"/>
              </a:srgbClr>
            </a:solidFill>
            <a:ln w="19050">
              <a:solidFill>
                <a:srgbClr val="B07D62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742045" y="4889182"/>
              <a:ext cx="201720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视觉资产辅助生成</a:t>
              </a:r>
              <a:endParaRPr lang="zh-CN" sz="16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747760" y="5233035"/>
              <a:ext cx="1554480" cy="46291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辅助生成图片型 PPT，</a:t>
              </a:r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不作为核心推理链路。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69" name="TextBox 69"/>
            <p:cNvSpPr txBox="1"/>
            <p:nvPr/>
          </p:nvSpPr>
          <p:spPr>
            <a:xfrm>
              <a:off x="522922" y="6483191"/>
              <a:ext cx="120360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前沿 AI 融合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05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5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  <p:bldP spid="27" grpId="0"/>
      <p:bldP spid="34" grpId="0"/>
      <p:bldP spid="44" grpId="0"/>
      <p:bldP spid="53" grpId="0"/>
      <p:bldP spid="60" grpId="0"/>
      <p:bldP spid="6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401762" cy="718184"/>
            <a:chOff x="501015" y="372428"/>
            <a:chExt cx="8401762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4017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多 Agent 不是概念展示，而是一次请求中的真实分工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9480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Router 识别意图，Planner 拆解任务，专业 Agent 并行产出并记录状态。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3400" y="1276350"/>
            <a:ext cx="6896100" cy="4667250"/>
            <a:chOff x="533400" y="1276350"/>
            <a:chExt cx="6896100" cy="4667250"/>
          </a:xfrm>
        </p:grpSpPr>
        <p:sp>
          <p:nvSpPr>
            <p:cNvPr id="8" name="Rectangle 8"/>
            <p:cNvSpPr/>
            <p:nvPr/>
          </p:nvSpPr>
          <p:spPr>
            <a:xfrm>
              <a:off x="533400" y="1276350"/>
              <a:ext cx="6896100" cy="4667250"/>
            </a:xfrm>
            <a:prstGeom prst="roundRect">
              <a:avLst>
                <a:gd name="adj" fmla="val 163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rcRect l="7356" r="7356"/>
            <a:stretch>
              <a:fillRect/>
            </a:stretch>
          </p:blipFill>
          <p:spPr>
            <a:xfrm>
              <a:off x="704850" y="1447800"/>
              <a:ext cx="6553200" cy="43243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04850" y="1447800"/>
              <a:ext cx="6553200" cy="4324350"/>
            </a:xfrm>
            <a:prstGeom prst="rect">
              <a:avLst/>
            </a:prstGeom>
            <a:solidFill>
              <a:srgbClr val="F5F4ED">
                <a:alpha val="16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276600" y="2914650"/>
              <a:ext cx="1409700" cy="1409700"/>
            </a:xfrm>
            <a:prstGeom prst="ellipse">
              <a:avLst/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101683" y="3329940"/>
              <a:ext cx="175953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Orchestrator</a:t>
              </a:r>
              <a:endParaRPr lang="zh-CN" sz="180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348335" y="3707606"/>
              <a:ext cx="126623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LangGraph 状态图</a:t>
              </a:r>
              <a:endParaRPr lang="zh-CN" sz="112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09650" y="1562100"/>
            <a:ext cx="5924550" cy="4057650"/>
            <a:chOff x="1009650" y="1562100"/>
            <a:chExt cx="5924550" cy="4057650"/>
          </a:xfrm>
        </p:grpSpPr>
        <p:sp>
          <p:nvSpPr>
            <p:cNvPr id="15" name="Rectangle 15"/>
            <p:cNvSpPr/>
            <p:nvPr/>
          </p:nvSpPr>
          <p:spPr>
            <a:xfrm>
              <a:off x="3143250" y="1562100"/>
              <a:ext cx="1676400" cy="419100"/>
            </a:xfrm>
            <a:prstGeom prst="roundRect">
              <a:avLst>
                <a:gd name="adj" fmla="val 18182"/>
              </a:avLst>
            </a:prstGeom>
            <a:solidFill>
              <a:srgbClr val="FAF9F5"/>
            </a:solidFill>
            <a:ln w="19050">
              <a:solidFill>
                <a:srgbClr val="1565C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246015" y="1683068"/>
              <a:ext cx="14708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Router 意图路由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43000" y="2400300"/>
              <a:ext cx="1695450" cy="419100"/>
            </a:xfrm>
            <a:prstGeom prst="roundRect">
              <a:avLst>
                <a:gd name="adj" fmla="val 18182"/>
              </a:avLst>
            </a:prstGeom>
            <a:solidFill>
              <a:srgbClr val="FAF9F5"/>
            </a:solidFill>
            <a:ln w="19050">
              <a:solidFill>
                <a:srgbClr val="6B8E6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9588" y="2521268"/>
              <a:ext cx="11022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Profile 画像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05400" y="2400300"/>
              <a:ext cx="1695450" cy="419100"/>
            </a:xfrm>
            <a:prstGeom prst="roundRect">
              <a:avLst>
                <a:gd name="adj" fmla="val 18182"/>
              </a:avLst>
            </a:prstGeom>
            <a:solidFill>
              <a:srgbClr val="FAF9F5"/>
            </a:solidFill>
            <a:ln w="19050">
              <a:solidFill>
                <a:srgbClr val="C9644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78360" y="2521268"/>
              <a:ext cx="114952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Planner 规划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009650" y="3905250"/>
              <a:ext cx="150495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B07D6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93351" y="4024789"/>
              <a:ext cx="73754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Doc 讲义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429250" y="3905250"/>
              <a:ext cx="150495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B07D62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68320" y="4024789"/>
              <a:ext cx="8268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Quiz 题目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524000" y="4681855"/>
              <a:ext cx="142875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1565C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820507" y="4772184"/>
              <a:ext cx="8357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Code 实践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257550" y="5219700"/>
              <a:ext cx="144780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6B8E6B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518952" y="5339239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Media 媒体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010150" y="4679315"/>
              <a:ext cx="142875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 w="19050">
              <a:solidFill>
                <a:srgbClr val="C96442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56929" y="4772184"/>
              <a:ext cx="9339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Tutor 辅导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810500" y="1276350"/>
            <a:ext cx="3848100" cy="4667250"/>
            <a:chOff x="7810500" y="1276350"/>
            <a:chExt cx="3848100" cy="4667250"/>
          </a:xfrm>
        </p:grpSpPr>
        <p:sp>
          <p:nvSpPr>
            <p:cNvPr id="32" name="Rectangle 32"/>
            <p:cNvSpPr/>
            <p:nvPr/>
          </p:nvSpPr>
          <p:spPr>
            <a:xfrm>
              <a:off x="7810500" y="1276350"/>
              <a:ext cx="3848100" cy="4667250"/>
            </a:xfrm>
            <a:prstGeom prst="roundRect">
              <a:avLst>
                <a:gd name="adj" fmla="val 198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090535" y="1523048"/>
              <a:ext cx="27798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一次请求内的协作链路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8134350" y="2064068"/>
              <a:ext cx="3488054" cy="500538"/>
              <a:chOff x="8134350" y="2064068"/>
              <a:chExt cx="3488054" cy="500538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8134350" y="2076450"/>
                <a:ext cx="342900" cy="342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244354" y="21850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50605" y="2064068"/>
                <a:ext cx="19245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识别意图与学生上下文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653462" y="2336006"/>
                <a:ext cx="296894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Router 判断是问答、资源、测验还是路径。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8134350" y="2845118"/>
              <a:ext cx="3375540" cy="500538"/>
              <a:chOff x="8134350" y="2845118"/>
              <a:chExt cx="3375540" cy="500538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8134350" y="2857500"/>
                <a:ext cx="342900" cy="34290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244354" y="296608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650605" y="2845118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更新画像与拆解任务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653462" y="3117056"/>
                <a:ext cx="285642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Profile 与 Planner 把需求转成资源计划。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134350" y="3626168"/>
              <a:ext cx="3398043" cy="500538"/>
              <a:chOff x="8134350" y="3626168"/>
              <a:chExt cx="3398043" cy="500538"/>
            </a:xfrm>
          </p:grpSpPr>
          <p:sp>
            <p:nvSpPr>
              <p:cNvPr id="44" name="Ellipse 44"/>
              <p:cNvSpPr/>
              <p:nvPr/>
            </p:nvSpPr>
            <p:spPr>
              <a:xfrm>
                <a:off x="8134350" y="3638550"/>
                <a:ext cx="342900" cy="34290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8244354" y="374713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8650605" y="3626168"/>
                <a:ext cx="180166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专业 Agent 并行产出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8653462" y="3898106"/>
                <a:ext cx="28789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讲义、题目、代码、媒体和视频分别生成。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8134350" y="4407218"/>
              <a:ext cx="3398043" cy="500538"/>
              <a:chOff x="8134350" y="4407218"/>
              <a:chExt cx="3398043" cy="500538"/>
            </a:xfrm>
          </p:grpSpPr>
          <p:sp>
            <p:nvSpPr>
              <p:cNvPr id="49" name="Ellipse 49"/>
              <p:cNvSpPr/>
              <p:nvPr/>
            </p:nvSpPr>
            <p:spPr>
              <a:xfrm>
                <a:off x="8134350" y="4419600"/>
                <a:ext cx="342900" cy="342900"/>
              </a:xfrm>
              <a:prstGeom prst="ellipse">
                <a:avLst/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8244354" y="4528185"/>
                <a:ext cx="1228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</a:t>
                </a:r>
                <a:endPara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650605" y="4407218"/>
                <a:ext cx="192452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记录状态与可观测事件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653462" y="4679156"/>
                <a:ext cx="287893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每个节点保留耗时、输入、输出和置信度。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54" name="Rectangle 54"/>
            <p:cNvSpPr/>
            <p:nvPr/>
          </p:nvSpPr>
          <p:spPr>
            <a:xfrm>
              <a:off x="8115300" y="5257800"/>
              <a:ext cx="3162300" cy="419100"/>
            </a:xfrm>
            <a:prstGeom prst="roundRect">
              <a:avLst>
                <a:gd name="adj" fmla="val 18182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895034" y="5386864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价值：分工明确，失败可定位，资源可重生成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7" name="TextBox 57"/>
            <p:cNvSpPr txBox="1"/>
            <p:nvPr/>
          </p:nvSpPr>
          <p:spPr>
            <a:xfrm>
              <a:off x="522922" y="6483191"/>
              <a:ext cx="130261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多 Agent 协同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06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31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7330628" cy="718184"/>
            <a:chOff x="501015" y="372428"/>
            <a:chExt cx="7330628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733062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LLM Wiki 让生成内容有边界、有来源、可积累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65691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所有 Agent 共享静态课程图谱、RAG 检索和 Wiki 条目回写机制，降低幻觉并积累检索资产。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33400" y="1314450"/>
            <a:ext cx="6572250" cy="4457700"/>
            <a:chOff x="533400" y="1314450"/>
            <a:chExt cx="6572250" cy="4457700"/>
          </a:xfrm>
        </p:grpSpPr>
        <p:sp>
          <p:nvSpPr>
            <p:cNvPr id="8" name="Rectangle 8"/>
            <p:cNvSpPr/>
            <p:nvPr/>
          </p:nvSpPr>
          <p:spPr>
            <a:xfrm>
              <a:off x="533400" y="1314450"/>
              <a:ext cx="6572250" cy="4457700"/>
            </a:xfrm>
            <a:prstGeom prst="roundRect">
              <a:avLst>
                <a:gd name="adj" fmla="val 1709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rcRect t="2162" b="2162"/>
            <a:stretch>
              <a:fillRect/>
            </a:stretch>
          </p:blipFill>
          <p:spPr>
            <a:xfrm>
              <a:off x="723900" y="1504950"/>
              <a:ext cx="6191250" cy="33337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23900" y="1504950"/>
              <a:ext cx="6191250" cy="3333750"/>
            </a:xfrm>
            <a:prstGeom prst="rect">
              <a:avLst/>
            </a:prstGeom>
            <a:solidFill>
              <a:srgbClr val="F5F4ED">
                <a:alpha val="10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952500" y="5048250"/>
              <a:ext cx="1809750" cy="419100"/>
            </a:xfrm>
            <a:prstGeom prst="roundRect">
              <a:avLst>
                <a:gd name="adj" fmla="val 18182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305616" y="51773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静态课程图谱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028950" y="5048250"/>
              <a:ext cx="1809750" cy="419100"/>
            </a:xfrm>
            <a:prstGeom prst="roundRect">
              <a:avLst>
                <a:gd name="adj" fmla="val 18182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382066" y="51773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向量检索片段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105400" y="5048250"/>
              <a:ext cx="1581150" cy="419100"/>
            </a:xfrm>
            <a:prstGeom prst="roundRect">
              <a:avLst>
                <a:gd name="adj" fmla="val 18182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522738" y="51773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可信引用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486650" y="1314450"/>
            <a:ext cx="4171950" cy="4457700"/>
            <a:chOff x="7486650" y="1314450"/>
            <a:chExt cx="4171950" cy="4457700"/>
          </a:xfrm>
        </p:grpSpPr>
        <p:sp>
          <p:nvSpPr>
            <p:cNvPr id="18" name="Rectangle 18"/>
            <p:cNvSpPr/>
            <p:nvPr/>
          </p:nvSpPr>
          <p:spPr>
            <a:xfrm>
              <a:off x="7486650" y="1314450"/>
              <a:ext cx="4171950" cy="4457700"/>
            </a:xfrm>
            <a:prstGeom prst="roundRect">
              <a:avLst>
                <a:gd name="adj" fmla="val 1826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785735" y="1542098"/>
              <a:ext cx="27798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四个机制保证可信生成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7810500" y="2095500"/>
              <a:ext cx="3524250" cy="628650"/>
              <a:chOff x="7810500" y="2095500"/>
              <a:chExt cx="3524250" cy="6286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7810500" y="2095500"/>
                <a:ext cx="352425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21" name="Ellipse 21"/>
              <p:cNvSpPr/>
              <p:nvPr/>
            </p:nvSpPr>
            <p:spPr>
              <a:xfrm>
                <a:off x="7962900" y="2276475"/>
                <a:ext cx="266700" cy="26670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042485" y="23536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64855" y="22164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课程隔离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367712" y="2469356"/>
                <a:ext cx="257889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不同课程模板、资料和图谱独立管理。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810500" y="2895600"/>
              <a:ext cx="3524250" cy="628650"/>
              <a:chOff x="7810500" y="2895600"/>
              <a:chExt cx="3524250" cy="6286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7810500" y="2895600"/>
                <a:ext cx="352425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7962900" y="3076575"/>
                <a:ext cx="266700" cy="2667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042485" y="31537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364855" y="30165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语义检索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367712" y="3269456"/>
                <a:ext cx="263140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先检索课程片段，再交给 Agent 生成。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810500" y="3695700"/>
              <a:ext cx="3691175" cy="628650"/>
              <a:chOff x="7810500" y="3695700"/>
              <a:chExt cx="3691175" cy="628650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7810500" y="3695700"/>
                <a:ext cx="352425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7962900" y="3876675"/>
                <a:ext cx="266700" cy="26670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042485" y="39538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64855" y="38166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来源片段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367712" y="4069556"/>
                <a:ext cx="313396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资源携带 sources、confidence 和核对入口。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7810500" y="4495800"/>
              <a:ext cx="3524250" cy="628650"/>
              <a:chOff x="7810500" y="4495800"/>
              <a:chExt cx="3524250" cy="6286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7810500" y="4495800"/>
                <a:ext cx="3524250" cy="628650"/>
              </a:xfrm>
              <a:prstGeom prst="roundRect">
                <a:avLst>
                  <a:gd name="adj" fmla="val 12121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39" name="Ellipse 39"/>
              <p:cNvSpPr/>
              <p:nvPr/>
            </p:nvSpPr>
            <p:spPr>
              <a:xfrm>
                <a:off x="7962900" y="4676775"/>
                <a:ext cx="266700" cy="266700"/>
              </a:xfrm>
              <a:prstGeom prst="ellipse">
                <a:avLst/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042485" y="4753928"/>
                <a:ext cx="10753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364855" y="4616768"/>
                <a:ext cx="7903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Wiki 条目回写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8367712" y="486965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写入条目/向量库，不改变图谱拓扑。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4" name="Rectangle 44"/>
            <p:cNvSpPr/>
            <p:nvPr/>
          </p:nvSpPr>
          <p:spPr>
            <a:xfrm>
              <a:off x="7810500" y="5314950"/>
              <a:ext cx="3524250" cy="266700"/>
            </a:xfrm>
            <a:prstGeom prst="roundRect">
              <a:avLst>
                <a:gd name="adj" fmla="val 28571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19098" y="5392102"/>
              <a:ext cx="31070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生成不是凭空回答，而是在统一知识底座上协同。</a:t>
              </a:r>
              <a:endParaRPr lang="zh-CN" sz="105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22922" y="6483191"/>
              <a:ext cx="152264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LLM Wiki 知识中枢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07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276796" cy="718184"/>
            <a:chOff x="501015" y="372428"/>
            <a:chExt cx="8276796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27679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学生画像从对话中生成，并驱动后续每一次资源编排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4079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 维画像把个体差异转成可执行的内容深度、题目难度和路径节奏。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33400" y="1257300"/>
            <a:ext cx="6286500" cy="4686300"/>
            <a:chOff x="533400" y="1257300"/>
            <a:chExt cx="6286500" cy="4686300"/>
          </a:xfrm>
        </p:grpSpPr>
        <p:sp>
          <p:nvSpPr>
            <p:cNvPr id="8" name="Rectangle 8"/>
            <p:cNvSpPr/>
            <p:nvPr/>
          </p:nvSpPr>
          <p:spPr>
            <a:xfrm>
              <a:off x="533400" y="1257300"/>
              <a:ext cx="6286500" cy="4686300"/>
            </a:xfrm>
            <a:prstGeom prst="roundRect">
              <a:avLst>
                <a:gd name="adj" fmla="val 1626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1981200" y="1981200"/>
              <a:ext cx="3390900" cy="3390900"/>
              <a:chOff x="1981200" y="1981200"/>
              <a:chExt cx="3390900" cy="3390900"/>
            </a:xfrm>
          </p:grpSpPr>
          <p:sp>
            <p:nvSpPr>
              <p:cNvPr id="9" name="Polygon 9"/>
              <p:cNvSpPr/>
              <p:nvPr/>
            </p:nvSpPr>
            <p:spPr>
              <a:xfrm>
                <a:off x="1981200" y="1981200"/>
                <a:ext cx="3390900" cy="3390900"/>
              </a:xfrm>
              <a:custGeom>
                <a:avLst/>
                <a:gdLst/>
                <a:ahLst/>
                <a:cxnLst/>
                <a:rect l="l" t="t" r="r" b="b"/>
                <a:pathLst>
                  <a:path w="3390900" h="3390900">
                    <a:moveTo>
                      <a:pt x="1695450" y="0"/>
                    </a:moveTo>
                    <a:lnTo>
                      <a:pt x="2895600" y="495300"/>
                    </a:lnTo>
                    <a:lnTo>
                      <a:pt x="3390900" y="1695450"/>
                    </a:lnTo>
                    <a:lnTo>
                      <a:pt x="2895600" y="2895600"/>
                    </a:lnTo>
                    <a:lnTo>
                      <a:pt x="1695450" y="3390900"/>
                    </a:lnTo>
                    <a:lnTo>
                      <a:pt x="495300" y="2895600"/>
                    </a:lnTo>
                    <a:lnTo>
                      <a:pt x="0" y="1695450"/>
                    </a:lnTo>
                    <a:lnTo>
                      <a:pt x="495300" y="495300"/>
                    </a:lnTo>
                    <a:close/>
                  </a:path>
                </a:pathLst>
              </a:custGeom>
              <a:solidFill>
                <a:srgbClr val="FFFFFF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10" name="Polygon 10"/>
              <p:cNvSpPr/>
              <p:nvPr/>
            </p:nvSpPr>
            <p:spPr>
              <a:xfrm>
                <a:off x="2324100" y="2324100"/>
                <a:ext cx="2705100" cy="2705100"/>
              </a:xfrm>
              <a:custGeom>
                <a:avLst/>
                <a:gdLst/>
                <a:ahLst/>
                <a:cxnLst/>
                <a:rect l="l" t="t" r="r" b="b"/>
                <a:pathLst>
                  <a:path w="2705100" h="2705100">
                    <a:moveTo>
                      <a:pt x="1352550" y="0"/>
                    </a:moveTo>
                    <a:lnTo>
                      <a:pt x="2314575" y="390525"/>
                    </a:lnTo>
                    <a:lnTo>
                      <a:pt x="2705100" y="1352550"/>
                    </a:lnTo>
                    <a:lnTo>
                      <a:pt x="2314575" y="2314575"/>
                    </a:lnTo>
                    <a:lnTo>
                      <a:pt x="1352550" y="2705100"/>
                    </a:lnTo>
                    <a:lnTo>
                      <a:pt x="390525" y="2314575"/>
                    </a:lnTo>
                    <a:lnTo>
                      <a:pt x="0" y="1352550"/>
                    </a:lnTo>
                    <a:lnTo>
                      <a:pt x="390525" y="390525"/>
                    </a:lnTo>
                    <a:close/>
                  </a:path>
                </a:pathLst>
              </a:custGeom>
              <a:solidFill>
                <a:srgbClr val="F5F4ED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11" name="Polygon 11"/>
              <p:cNvSpPr/>
              <p:nvPr/>
            </p:nvSpPr>
            <p:spPr>
              <a:xfrm>
                <a:off x="2657475" y="2657475"/>
                <a:ext cx="2038350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038350" h="2038350">
                    <a:moveTo>
                      <a:pt x="1019175" y="0"/>
                    </a:moveTo>
                    <a:lnTo>
                      <a:pt x="1743075" y="295275"/>
                    </a:lnTo>
                    <a:lnTo>
                      <a:pt x="2038350" y="1019175"/>
                    </a:lnTo>
                    <a:lnTo>
                      <a:pt x="1743075" y="1743075"/>
                    </a:lnTo>
                    <a:lnTo>
                      <a:pt x="1019175" y="2038350"/>
                    </a:lnTo>
                    <a:lnTo>
                      <a:pt x="295275" y="1743075"/>
                    </a:lnTo>
                    <a:lnTo>
                      <a:pt x="0" y="1019175"/>
                    </a:lnTo>
                    <a:lnTo>
                      <a:pt x="295275" y="2952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12" name="Polygon 12"/>
              <p:cNvSpPr/>
              <p:nvPr/>
            </p:nvSpPr>
            <p:spPr>
              <a:xfrm>
                <a:off x="3000375" y="3000375"/>
                <a:ext cx="1352550" cy="1352550"/>
              </a:xfrm>
              <a:custGeom>
                <a:avLst/>
                <a:gdLst/>
                <a:ahLst/>
                <a:cxnLst/>
                <a:rect l="l" t="t" r="r" b="b"/>
                <a:pathLst>
                  <a:path w="1352550" h="1352550">
                    <a:moveTo>
                      <a:pt x="676275" y="0"/>
                    </a:moveTo>
                    <a:lnTo>
                      <a:pt x="1152525" y="200025"/>
                    </a:lnTo>
                    <a:lnTo>
                      <a:pt x="1352550" y="676275"/>
                    </a:lnTo>
                    <a:lnTo>
                      <a:pt x="1152525" y="1152525"/>
                    </a:lnTo>
                    <a:lnTo>
                      <a:pt x="676275" y="1352550"/>
                    </a:lnTo>
                    <a:lnTo>
                      <a:pt x="200025" y="1152525"/>
                    </a:lnTo>
                    <a:lnTo>
                      <a:pt x="0" y="676275"/>
                    </a:lnTo>
                    <a:lnTo>
                      <a:pt x="200025" y="200025"/>
                    </a:lnTo>
                    <a:close/>
                  </a:path>
                </a:pathLst>
              </a:custGeom>
              <a:solidFill>
                <a:srgbClr val="F5F4ED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13" name="Polygon 13"/>
              <p:cNvSpPr/>
              <p:nvPr/>
            </p:nvSpPr>
            <p:spPr>
              <a:xfrm>
                <a:off x="3333750" y="3333750"/>
                <a:ext cx="685800" cy="685800"/>
              </a:xfrm>
              <a:custGeom>
                <a:avLst/>
                <a:gdLst/>
                <a:ahLst/>
                <a:cxnLst/>
                <a:rect l="l" t="t" r="r" b="b"/>
                <a:pathLst>
                  <a:path w="685800" h="685800">
                    <a:moveTo>
                      <a:pt x="342900" y="0"/>
                    </a:moveTo>
                    <a:lnTo>
                      <a:pt x="581025" y="104775"/>
                    </a:lnTo>
                    <a:lnTo>
                      <a:pt x="685800" y="342900"/>
                    </a:lnTo>
                    <a:lnTo>
                      <a:pt x="581025" y="581025"/>
                    </a:lnTo>
                    <a:lnTo>
                      <a:pt x="342900" y="685800"/>
                    </a:lnTo>
                    <a:lnTo>
                      <a:pt x="104775" y="581025"/>
                    </a:lnTo>
                    <a:lnTo>
                      <a:pt x="0" y="342900"/>
                    </a:lnTo>
                    <a:lnTo>
                      <a:pt x="104775" y="104775"/>
                    </a:lnTo>
                    <a:close/>
                  </a:path>
                </a:pathLst>
              </a:cu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676650" y="1981200"/>
                <a:ext cx="9525" cy="1695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95450">
                    <a:moveTo>
                      <a:pt x="0" y="1695450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3676650" y="2476500"/>
                <a:ext cx="1200150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1200150">
                    <a:moveTo>
                      <a:pt x="0" y="1200150"/>
                    </a:moveTo>
                    <a:lnTo>
                      <a:pt x="120015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3676650" y="3676650"/>
                <a:ext cx="1695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95450" h="9525">
                    <a:moveTo>
                      <a:pt x="0" y="0"/>
                    </a:moveTo>
                    <a:lnTo>
                      <a:pt x="169545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3676650" y="3676650"/>
                <a:ext cx="1200150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1200150">
                    <a:moveTo>
                      <a:pt x="0" y="0"/>
                    </a:moveTo>
                    <a:lnTo>
                      <a:pt x="1200150" y="120015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3676650" y="3676650"/>
                <a:ext cx="9525" cy="1695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695450">
                    <a:moveTo>
                      <a:pt x="0" y="0"/>
                    </a:moveTo>
                    <a:lnTo>
                      <a:pt x="0" y="169545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2476500" y="3676650"/>
                <a:ext cx="1200150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1200150">
                    <a:moveTo>
                      <a:pt x="1200150" y="0"/>
                    </a:moveTo>
                    <a:lnTo>
                      <a:pt x="0" y="120015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1981200" y="3676650"/>
                <a:ext cx="16954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95450" h="9525">
                    <a:moveTo>
                      <a:pt x="1695450" y="0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2476500" y="2476500"/>
                <a:ext cx="1200150" cy="1200150"/>
              </a:xfrm>
              <a:custGeom>
                <a:avLst/>
                <a:gdLst/>
                <a:ahLst/>
                <a:cxnLst/>
                <a:rect l="l" t="t" r="r" b="b"/>
                <a:pathLst>
                  <a:path w="1200150" h="1200150">
                    <a:moveTo>
                      <a:pt x="1200150" y="1200150"/>
                    </a:moveTo>
                    <a:lnTo>
                      <a:pt x="0" y="0"/>
                    </a:lnTo>
                  </a:path>
                </a:pathLst>
              </a:custGeom>
              <a:noFill/>
              <a:ln w="11430">
                <a:solidFill>
                  <a:srgbClr val="E8E6DC"/>
                </a:solidFill>
              </a:ln>
            </p:spPr>
          </p:sp>
        </p:grpSp>
        <p:grpSp>
          <p:nvGrpSpPr>
            <p:cNvPr id="32" name="Group 32"/>
            <p:cNvGrpSpPr/>
            <p:nvPr/>
          </p:nvGrpSpPr>
          <p:grpSpPr>
            <a:xfrm>
              <a:off x="2276475" y="2105025"/>
              <a:ext cx="2971800" cy="2800350"/>
              <a:chOff x="2276475" y="2105025"/>
              <a:chExt cx="2971800" cy="2800350"/>
            </a:xfrm>
          </p:grpSpPr>
          <p:sp>
            <p:nvSpPr>
              <p:cNvPr id="23" name="Polygon 23"/>
              <p:cNvSpPr/>
              <p:nvPr/>
            </p:nvSpPr>
            <p:spPr>
              <a:xfrm>
                <a:off x="2324100" y="2152650"/>
                <a:ext cx="2876550" cy="2705100"/>
              </a:xfrm>
              <a:custGeom>
                <a:avLst/>
                <a:gdLst/>
                <a:ahLst/>
                <a:cxnLst/>
                <a:rect l="l" t="t" r="r" b="b"/>
                <a:pathLst>
                  <a:path w="2876550" h="2705100">
                    <a:moveTo>
                      <a:pt x="1352550" y="0"/>
                    </a:moveTo>
                    <a:lnTo>
                      <a:pt x="2305050" y="571500"/>
                    </a:lnTo>
                    <a:lnTo>
                      <a:pt x="2876550" y="1524000"/>
                    </a:lnTo>
                    <a:lnTo>
                      <a:pt x="2238375" y="2409825"/>
                    </a:lnTo>
                    <a:lnTo>
                      <a:pt x="1352550" y="2705100"/>
                    </a:lnTo>
                    <a:lnTo>
                      <a:pt x="361950" y="2514600"/>
                    </a:lnTo>
                    <a:lnTo>
                      <a:pt x="0" y="1524000"/>
                    </a:lnTo>
                    <a:lnTo>
                      <a:pt x="285750" y="457200"/>
                    </a:lnTo>
                    <a:close/>
                  </a:path>
                </a:pathLst>
              </a:custGeom>
              <a:solidFill>
                <a:srgbClr val="C96442">
                  <a:alpha val="22000"/>
                </a:srgbClr>
              </a:solidFill>
              <a:ln w="38100">
                <a:solidFill>
                  <a:srgbClr val="C96442"/>
                </a:solidFill>
                <a:round/>
              </a:ln>
            </p:spPr>
          </p:sp>
          <p:sp>
            <p:nvSpPr>
              <p:cNvPr id="24" name="Ellipse 24"/>
              <p:cNvSpPr/>
              <p:nvPr/>
            </p:nvSpPr>
            <p:spPr>
              <a:xfrm>
                <a:off x="3629025" y="21050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5" name="Ellipse 25"/>
              <p:cNvSpPr/>
              <p:nvPr/>
            </p:nvSpPr>
            <p:spPr>
              <a:xfrm>
                <a:off x="4581525" y="26765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6" name="Ellipse 26"/>
              <p:cNvSpPr/>
              <p:nvPr/>
            </p:nvSpPr>
            <p:spPr>
              <a:xfrm>
                <a:off x="5153025" y="36290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4514850" y="4514850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3629025" y="48101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2638425" y="46196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2276475" y="36290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2562225" y="2562225"/>
                <a:ext cx="95250" cy="95250"/>
              </a:xfrm>
              <a:prstGeom prst="ellipse">
                <a:avLst/>
              </a:prstGeom>
              <a:solidFill>
                <a:srgbClr val="FFFFFF"/>
              </a:solidFill>
              <a:ln w="28575">
                <a:solidFill>
                  <a:srgbClr val="C96442"/>
                </a:solidFill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1051560" y="1680210"/>
              <a:ext cx="5160264" cy="4091940"/>
              <a:chOff x="1051560" y="1680210"/>
              <a:chExt cx="5160264" cy="4091940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3325368" y="16802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知识基础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5090160" y="22326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认知风格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509260" y="3604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学习目标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5052060" y="4937760"/>
                <a:ext cx="53454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易错点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325368" y="552831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学习节奏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1870710" y="4937760"/>
                <a:ext cx="36652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兴趣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51560" y="36042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编程能力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546860" y="2232660"/>
                <a:ext cx="7025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时间投入</a:t>
                </a:r>
                <a:endParaRPr lang="zh-CN" sz="120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7239000" y="1257300"/>
            <a:ext cx="4419600" cy="4686300"/>
            <a:chOff x="7239000" y="1257300"/>
            <a:chExt cx="4419600" cy="4686300"/>
          </a:xfrm>
        </p:grpSpPr>
        <p:sp>
          <p:nvSpPr>
            <p:cNvPr id="43" name="Rectangle 43"/>
            <p:cNvSpPr/>
            <p:nvPr/>
          </p:nvSpPr>
          <p:spPr>
            <a:xfrm>
              <a:off x="7239000" y="1257300"/>
              <a:ext cx="4419600" cy="4686300"/>
            </a:xfrm>
            <a:prstGeom prst="roundRect">
              <a:avLst>
                <a:gd name="adj" fmla="val 1724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38085" y="1503998"/>
              <a:ext cx="250683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画像如何驱动个性化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7562850" y="2076450"/>
              <a:ext cx="3676650" cy="723900"/>
              <a:chOff x="7562850" y="2076450"/>
              <a:chExt cx="3676650" cy="7239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7562850" y="2076450"/>
                <a:ext cx="36766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7562850" y="2076450"/>
                <a:ext cx="7620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849552" y="22274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讲解深度</a:t>
                </a:r>
                <a:endParaRPr lang="zh-CN" sz="14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853362" y="2507456"/>
                <a:ext cx="3178969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基础弱先补前置概念，目标强则加入高阶拓展。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7562850" y="2990850"/>
              <a:ext cx="3676650" cy="723900"/>
              <a:chOff x="7562850" y="2990850"/>
              <a:chExt cx="3676650" cy="7239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7562850" y="2990850"/>
                <a:ext cx="36766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7562850" y="2990850"/>
                <a:ext cx="7620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7849552" y="31418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题目难度</a:t>
                </a:r>
                <a:endParaRPr lang="zh-CN" sz="14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853362" y="3421856"/>
                <a:ext cx="272891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根据易错点、目标和节奏调整测验结构。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7562850" y="3905250"/>
              <a:ext cx="3676650" cy="723900"/>
              <a:chOff x="7562850" y="3905250"/>
              <a:chExt cx="3676650" cy="72390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7562850" y="3905250"/>
                <a:ext cx="36766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56" name="Rectangle 56"/>
              <p:cNvSpPr/>
              <p:nvPr/>
            </p:nvSpPr>
            <p:spPr>
              <a:xfrm>
                <a:off x="7562850" y="3905250"/>
                <a:ext cx="7620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849552" y="40562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资源形式</a:t>
                </a:r>
                <a:endParaRPr lang="zh-CN" sz="14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853362" y="4336256"/>
                <a:ext cx="289393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偏视觉给导图/动画，偏实践给代码/实验。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7562850" y="4819650"/>
              <a:ext cx="3676650" cy="723900"/>
              <a:chOff x="7562850" y="4819650"/>
              <a:chExt cx="3676650" cy="7239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7562850" y="4819650"/>
                <a:ext cx="3676650" cy="723900"/>
              </a:xfrm>
              <a:prstGeom prst="roundRect">
                <a:avLst>
                  <a:gd name="adj" fmla="val 10526"/>
                </a:avLst>
              </a:prstGeom>
              <a:solidFill>
                <a:srgbClr val="FFFFFF"/>
              </a:solidFill>
              <a:ln w="9525">
                <a:solidFill>
                  <a:srgbClr val="E8E6DC"/>
                </a:solidFill>
              </a:ln>
            </p:spPr>
          </p:sp>
          <p:sp>
            <p:nvSpPr>
              <p:cNvPr id="61" name="Rectangle 61"/>
              <p:cNvSpPr/>
              <p:nvPr/>
            </p:nvSpPr>
            <p:spPr>
              <a:xfrm>
                <a:off x="7562850" y="4819650"/>
                <a:ext cx="76200" cy="723900"/>
              </a:xfrm>
              <a:prstGeom prst="roundRect">
                <a:avLst>
                  <a:gd name="adj" fmla="val 50000"/>
                </a:avLst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849552" y="4970621"/>
                <a:ext cx="834295" cy="289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路径节奏</a:t>
                </a:r>
                <a:endParaRPr lang="zh-CN" sz="14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853362" y="5250656"/>
                <a:ext cx="3028950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结合每周学习时间和测验结果推进节点状态。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8" name="Group 68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66" name="TextBox 66"/>
            <p:cNvSpPr txBox="1"/>
            <p:nvPr/>
          </p:nvSpPr>
          <p:spPr>
            <a:xfrm>
              <a:off x="522922" y="6483191"/>
              <a:ext cx="124760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8 维学习画像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08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9347930" cy="718184"/>
            <a:chOff x="501015" y="372428"/>
            <a:chExt cx="9347930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934793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同一学习目标可以生成一组互补资源，而不是一段孤立文本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42018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8 类资源覆盖理解、练习、实践和拓展，并标注当前成熟度。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257300"/>
            <a:ext cx="11125200" cy="3143250"/>
            <a:chOff x="533400" y="1257300"/>
            <a:chExt cx="11125200" cy="3143250"/>
          </a:xfrm>
        </p:grpSpPr>
        <p:sp>
          <p:nvSpPr>
            <p:cNvPr id="8" name="Rectangle 8"/>
            <p:cNvSpPr/>
            <p:nvPr/>
          </p:nvSpPr>
          <p:spPr>
            <a:xfrm>
              <a:off x="533400" y="1257300"/>
              <a:ext cx="11125200" cy="3143250"/>
            </a:xfrm>
            <a:prstGeom prst="roundRect">
              <a:avLst>
                <a:gd name="adj" fmla="val 2424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rcRect t="27160" b="27160"/>
            <a:stretch>
              <a:fillRect/>
            </a:stretch>
          </p:blipFill>
          <p:spPr>
            <a:xfrm>
              <a:off x="723900" y="1447800"/>
              <a:ext cx="10744200" cy="276225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23900" y="1447800"/>
              <a:ext cx="10744200" cy="2762250"/>
            </a:xfrm>
            <a:prstGeom prst="rect">
              <a:avLst/>
            </a:prstGeom>
            <a:solidFill>
              <a:srgbClr val="F5F4ED">
                <a:alpha val="12000"/>
              </a:srgbClr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38200" y="1600200"/>
              <a:ext cx="3886200" cy="571500"/>
            </a:xfrm>
            <a:prstGeom prst="roundRect">
              <a:avLst>
                <a:gd name="adj" fmla="val 13333"/>
              </a:avLst>
            </a:prstGeom>
            <a:solidFill>
              <a:srgbClr val="F5F4ED">
                <a:alpha val="84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2035" y="1742122"/>
              <a:ext cx="359897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资源不是越多越好，而是互补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3900" y="4762500"/>
            <a:ext cx="5486400" cy="590550"/>
            <a:chOff x="723900" y="4762500"/>
            <a:chExt cx="5486400" cy="590550"/>
          </a:xfrm>
        </p:grpSpPr>
        <p:grpSp>
          <p:nvGrpSpPr>
            <p:cNvPr id="18" name="Group 18"/>
            <p:cNvGrpSpPr/>
            <p:nvPr/>
          </p:nvGrpSpPr>
          <p:grpSpPr>
            <a:xfrm>
              <a:off x="723900" y="4762500"/>
              <a:ext cx="1257300" cy="590550"/>
              <a:chOff x="723900" y="4762500"/>
              <a:chExt cx="1257300" cy="5905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7239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7239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496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讲义（核）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544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概念解释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2133600" y="4762500"/>
              <a:ext cx="1257300" cy="590550"/>
              <a:chOff x="2133600" y="4762500"/>
              <a:chExt cx="1257300" cy="5905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21336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21336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4593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导图（核）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24641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结构梳理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3543300" y="4762500"/>
              <a:ext cx="1257300" cy="590550"/>
              <a:chOff x="3543300" y="4762500"/>
              <a:chExt cx="1257300" cy="5905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5433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35433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38690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题目（核）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8738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即时练习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4953000" y="4762500"/>
              <a:ext cx="1257300" cy="590550"/>
              <a:chOff x="4953000" y="4762500"/>
              <a:chExt cx="1257300" cy="59055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49530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49530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30302E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2787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代码（核）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2835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实践任务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6362700" y="4762500"/>
            <a:ext cx="5105400" cy="590550"/>
            <a:chOff x="6362700" y="4762500"/>
            <a:chExt cx="5105400" cy="590550"/>
          </a:xfrm>
        </p:grpSpPr>
        <p:grpSp>
          <p:nvGrpSpPr>
            <p:cNvPr id="39" name="Group 39"/>
            <p:cNvGrpSpPr/>
            <p:nvPr/>
          </p:nvGrpSpPr>
          <p:grpSpPr>
            <a:xfrm>
              <a:off x="6362700" y="4762500"/>
              <a:ext cx="1257300" cy="590550"/>
              <a:chOff x="6362700" y="4762500"/>
              <a:chExt cx="1257300" cy="590550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63627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3627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88455" y="4864418"/>
                <a:ext cx="34617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PPT（辅）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932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图片/大纲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772400" y="4762500"/>
              <a:ext cx="1257300" cy="590550"/>
              <a:chOff x="7772400" y="4762500"/>
              <a:chExt cx="1257300" cy="5905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77724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41" name="Rectangle 41"/>
              <p:cNvSpPr/>
              <p:nvPr/>
            </p:nvSpPr>
            <p:spPr>
              <a:xfrm>
                <a:off x="77724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C4A35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80981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动画（辅）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029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脚本/包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182100" y="4762500"/>
              <a:ext cx="1257300" cy="590550"/>
              <a:chOff x="9182100" y="4762500"/>
              <a:chExt cx="1257300" cy="5905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182100" y="4762500"/>
                <a:ext cx="1257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91821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950785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阅读（核）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51261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拓展资料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0591800" y="4762500"/>
              <a:ext cx="876300" cy="590550"/>
              <a:chOff x="10591800" y="4762500"/>
              <a:chExt cx="876300" cy="5905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10591800" y="4762500"/>
                <a:ext cx="876300" cy="590550"/>
              </a:xfrm>
              <a:prstGeom prst="roundRect">
                <a:avLst>
                  <a:gd name="adj" fmla="val 12903"/>
                </a:avLst>
              </a:prstGeom>
              <a:solidFill>
                <a:srgbClr val="FAF9F5"/>
              </a:solidFill>
              <a:ln w="14288">
                <a:solidFill>
                  <a:srgbClr val="E8E6DC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10591800" y="4762500"/>
                <a:ext cx="76200" cy="590550"/>
              </a:xfrm>
              <a:prstGeom prst="roundRect">
                <a:avLst>
                  <a:gd name="adj" fmla="val 50000"/>
                </a:avLst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0860405" y="4864418"/>
                <a:ext cx="41233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视频（辅）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0865168" y="511444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B站推荐</a:t>
                </a:r>
                <a:endParaRPr lang="zh-CN" sz="9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723900" y="5638800"/>
            <a:ext cx="10744200" cy="361950"/>
            <a:chOff x="723900" y="5638800"/>
            <a:chExt cx="10744200" cy="361950"/>
          </a:xfrm>
        </p:grpSpPr>
        <p:sp>
          <p:nvSpPr>
            <p:cNvPr id="56" name="Rectangle 56"/>
            <p:cNvSpPr/>
            <p:nvPr/>
          </p:nvSpPr>
          <p:spPr>
            <a:xfrm>
              <a:off x="723900" y="5638800"/>
              <a:ext cx="10744200" cy="361950"/>
            </a:xfrm>
            <a:prstGeom prst="roundRect">
              <a:avLst>
                <a:gd name="adj" fmla="val 21053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160968" y="5739289"/>
              <a:ext cx="58700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核心已实现：讲义/导图/题目/代码/阅读；辅助：PPT图片、动画包、B站推荐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9" name="TextBox 59"/>
            <p:cNvSpPr txBox="1"/>
            <p:nvPr/>
          </p:nvSpPr>
          <p:spPr>
            <a:xfrm>
              <a:off x="522922" y="6483191"/>
              <a:ext cx="13741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多模态资源生成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09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4" grpId="0"/>
      <p:bldP spid="55" grpId="0"/>
      <p:bldP spid="5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276796" cy="718184"/>
            <a:chOff x="501015" y="372428"/>
            <a:chExt cx="8276796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27679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演示链路覆盖学生闭环，教师端数据接口作为增强证据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9750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测验结果写入错题、画像字段和路径节点，教师前端视图作为后续增强。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33400" y="1257300"/>
            <a:ext cx="7086600" cy="4686300"/>
            <a:chOff x="533400" y="1257300"/>
            <a:chExt cx="7086600" cy="4686300"/>
          </a:xfrm>
        </p:grpSpPr>
        <p:sp>
          <p:nvSpPr>
            <p:cNvPr id="8" name="Rectangle 8"/>
            <p:cNvSpPr/>
            <p:nvPr/>
          </p:nvSpPr>
          <p:spPr>
            <a:xfrm>
              <a:off x="533400" y="1257300"/>
              <a:ext cx="7086600" cy="4686300"/>
            </a:xfrm>
            <a:prstGeom prst="roundRect">
              <a:avLst>
                <a:gd name="adj" fmla="val 1626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1"/>
            <a:srcRect l="6171" r="6171"/>
            <a:stretch>
              <a:fillRect/>
            </a:stretch>
          </p:blipFill>
          <p:spPr>
            <a:xfrm>
              <a:off x="723900" y="1447800"/>
              <a:ext cx="6705600" cy="430530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723900" y="1447800"/>
              <a:ext cx="6705600" cy="4305300"/>
            </a:xfrm>
            <a:prstGeom prst="rect">
              <a:avLst/>
            </a:prstGeom>
            <a:solidFill>
              <a:srgbClr val="F5F4ED">
                <a:alpha val="14000"/>
              </a:srgbClr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2533650" y="2057400"/>
              <a:ext cx="3086100" cy="3086100"/>
            </a:xfrm>
            <a:prstGeom prst="ellipse">
              <a:avLst/>
            </a:prstGeom>
            <a:solidFill>
              <a:srgbClr val="F5F4ED">
                <a:alpha val="76000"/>
              </a:srgbClr>
            </a:solidFill>
            <a:ln w="19050">
              <a:solidFill>
                <a:srgbClr val="E8E6DC"/>
              </a:solidFill>
              <a:custDash>
                <a:ds d="400000" sp="300000"/>
              </a:custDash>
            </a:ln>
          </p:spPr>
        </p:sp>
        <p:sp>
          <p:nvSpPr>
            <p:cNvPr id="12" name="Ellipse 12"/>
            <p:cNvSpPr/>
            <p:nvPr/>
          </p:nvSpPr>
          <p:spPr>
            <a:xfrm>
              <a:off x="3200400" y="2724150"/>
              <a:ext cx="1752600" cy="1752600"/>
            </a:xfrm>
            <a:prstGeom prst="ellipse">
              <a:avLst/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461956" y="3249930"/>
              <a:ext cx="1229487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学习闭环</a:t>
              </a:r>
              <a:endParaRPr lang="zh-CN" sz="210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181350" y="36614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生成、练习、反馈、更新</a:t>
              </a:r>
              <a:endParaRPr lang="zh-CN" sz="12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2209800" y="1695450"/>
            <a:ext cx="3733800" cy="3705225"/>
            <a:chOff x="2209800" y="1695450"/>
            <a:chExt cx="3733800" cy="3705225"/>
          </a:xfrm>
        </p:grpSpPr>
        <p:grpSp>
          <p:nvGrpSpPr>
            <p:cNvPr id="19" name="Group 19"/>
            <p:cNvGrpSpPr/>
            <p:nvPr/>
          </p:nvGrpSpPr>
          <p:grpSpPr>
            <a:xfrm>
              <a:off x="3714750" y="1695450"/>
              <a:ext cx="723900" cy="723900"/>
              <a:chOff x="3714750" y="1695450"/>
              <a:chExt cx="723900" cy="723900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3714750" y="1695450"/>
                <a:ext cx="723900" cy="72390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3942136" y="1847850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01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923348" y="213455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画像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4924425" y="2276475"/>
              <a:ext cx="723900" cy="723900"/>
              <a:chOff x="4924425" y="2276475"/>
              <a:chExt cx="723900" cy="7239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4924425" y="2276475"/>
                <a:ext cx="723900" cy="723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5151811" y="2428875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02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133022" y="27155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资源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5219700" y="3600450"/>
              <a:ext cx="723900" cy="723900"/>
              <a:chOff x="5219700" y="3600450"/>
              <a:chExt cx="723900" cy="723900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5219700" y="3600450"/>
                <a:ext cx="723900" cy="72390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447086" y="3752850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03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428298" y="403955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测验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81500" y="4676775"/>
              <a:ext cx="723900" cy="723900"/>
              <a:chOff x="4381500" y="4676775"/>
              <a:chExt cx="723900" cy="723900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4381500" y="4676775"/>
                <a:ext cx="723900" cy="723900"/>
              </a:xfrm>
              <a:prstGeom prst="ellipse">
                <a:avLst/>
              </a:prstGeom>
              <a:solidFill>
                <a:srgbClr val="C4A35A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4608886" y="4829175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04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90098" y="51158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错题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3048000" y="4676775"/>
              <a:ext cx="723900" cy="723900"/>
              <a:chOff x="3048000" y="4676775"/>
              <a:chExt cx="723900" cy="723900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3048000" y="4676775"/>
                <a:ext cx="723900" cy="723900"/>
              </a:xfrm>
              <a:prstGeom prst="ellipse">
                <a:avLst/>
              </a:prstGeom>
              <a:solidFill>
                <a:srgbClr val="B07D62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3275386" y="4829175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05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256598" y="51158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路径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209800" y="3600450"/>
              <a:ext cx="723900" cy="723900"/>
              <a:chOff x="2209800" y="3600450"/>
              <a:chExt cx="723900" cy="723900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2209800" y="3600450"/>
                <a:ext cx="723900" cy="7239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2437186" y="3752850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06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418398" y="4039552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评估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3" name="Group 43"/>
            <p:cNvGrpSpPr/>
            <p:nvPr/>
          </p:nvGrpSpPr>
          <p:grpSpPr>
            <a:xfrm>
              <a:off x="2505075" y="2276475"/>
              <a:ext cx="723900" cy="723900"/>
              <a:chOff x="2505075" y="2276475"/>
              <a:chExt cx="723900" cy="723900"/>
            </a:xfrm>
          </p:grpSpPr>
          <p:sp>
            <p:nvSpPr>
              <p:cNvPr id="40" name="Ellipse 40"/>
              <p:cNvSpPr/>
              <p:nvPr/>
            </p:nvSpPr>
            <p:spPr>
              <a:xfrm>
                <a:off x="2505075" y="2276475"/>
                <a:ext cx="723900" cy="723900"/>
              </a:xfrm>
              <a:prstGeom prst="ellipse">
                <a:avLst/>
              </a:prstGeom>
              <a:solidFill>
                <a:srgbClr val="30302E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2732461" y="2428875"/>
                <a:ext cx="269129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50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07</a:t>
                </a:r>
                <a:endPara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2713673" y="2715578"/>
                <a:ext cx="30670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接口</a:t>
                </a:r>
                <a:endParaRPr lang="zh-CN" sz="105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2" name="Group 52"/>
          <p:cNvGrpSpPr/>
          <p:nvPr/>
        </p:nvGrpSpPr>
        <p:grpSpPr>
          <a:xfrm>
            <a:off x="7962900" y="1257300"/>
            <a:ext cx="3695700" cy="4686300"/>
            <a:chOff x="7962900" y="1257300"/>
            <a:chExt cx="3695700" cy="4686300"/>
          </a:xfrm>
        </p:grpSpPr>
        <p:sp>
          <p:nvSpPr>
            <p:cNvPr id="45" name="Rectangle 45"/>
            <p:cNvSpPr/>
            <p:nvPr/>
          </p:nvSpPr>
          <p:spPr>
            <a:xfrm>
              <a:off x="7962900" y="1257300"/>
              <a:ext cx="3695700" cy="4686300"/>
            </a:xfrm>
            <a:prstGeom prst="roundRect">
              <a:avLst>
                <a:gd name="adj" fmla="val 2062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61985" y="15039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答辩演示脚本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9605" y="1930718"/>
              <a:ext cx="32926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以“反向传播算法”为例，跑通完整链路。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Line 48"/>
            <p:cNvSpPr/>
            <p:nvPr/>
          </p:nvSpPr>
          <p:spPr>
            <a:xfrm>
              <a:off x="8286750" y="2343150"/>
              <a:ext cx="2990850" cy="9525"/>
            </a:xfrm>
            <a:custGeom>
              <a:avLst/>
              <a:gdLst/>
              <a:ahLst/>
              <a:cxnLst/>
              <a:rect l="l" t="t" r="r" b="b"/>
              <a:pathLst>
                <a:path w="2990850" h="9525">
                  <a:moveTo>
                    <a:pt x="0" y="0"/>
                  </a:moveTo>
                  <a:lnTo>
                    <a:pt x="2990850" y="0"/>
                  </a:lnTo>
                </a:path>
              </a:pathLst>
            </a:custGeom>
            <a:noFill/>
            <a:ln w="14288">
              <a:solidFill>
                <a:srgbClr val="E8E6D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269605" y="2616518"/>
              <a:ext cx="2674620" cy="18935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1. 登录后自然语言说明基础与目标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2. 生成画像并触发资源计划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3. 产出讲义、测验、代码和导图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4. 测验结果进入错题与复习队列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5. 路径节点与活动记录自动更新</a:t>
              </a:r>
              <a:r>
                <a:rPr lang="zh-CN" sz="1350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6. 教师端数据接口说明共性问题</a:t>
              </a:r>
              <a:endParaRPr lang="zh-CN" sz="1350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286750" y="5143500"/>
              <a:ext cx="2990850" cy="438150"/>
            </a:xfrm>
            <a:prstGeom prst="roundRect">
              <a:avLst>
                <a:gd name="adj" fmla="val 17391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38779" y="5282089"/>
              <a:ext cx="34867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页面、数据和 Agent 事件支撑</a:t>
              </a:r>
              <a:endParaRPr lang="zh-CN" sz="12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3" name="TextBox 53"/>
            <p:cNvSpPr txBox="1"/>
            <p:nvPr/>
          </p:nvSpPr>
          <p:spPr>
            <a:xfrm>
              <a:off x="522922" y="6483191"/>
              <a:ext cx="1264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学习闭环演示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4" grpId="0"/>
      <p:bldP spid="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990886" cy="718184"/>
            <a:chOff x="501015" y="372428"/>
            <a:chExt cx="8990886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99088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可信输出来自检索约束、引用核验和安全过滤的组合防线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三段防线：RAG 检索 → sources/confidence → 安全护栏/本地规则/eval。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33400" y="1428750"/>
            <a:ext cx="3448050" cy="2381250"/>
            <a:chOff x="533400" y="1428750"/>
            <a:chExt cx="3448050" cy="2381250"/>
          </a:xfrm>
        </p:grpSpPr>
        <p:sp>
          <p:nvSpPr>
            <p:cNvPr id="8" name="Rectangle 8"/>
            <p:cNvSpPr/>
            <p:nvPr/>
          </p:nvSpPr>
          <p:spPr>
            <a:xfrm>
              <a:off x="533400" y="1428750"/>
              <a:ext cx="3448050" cy="2381250"/>
            </a:xfrm>
            <a:prstGeom prst="roundRect">
              <a:avLst>
                <a:gd name="adj" fmla="val 32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428750"/>
              <a:ext cx="3448050" cy="762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762000" y="1733550"/>
              <a:ext cx="533400" cy="533400"/>
            </a:xfrm>
            <a:prstGeom prst="ellipse">
              <a:avLst/>
            </a:prstGeom>
            <a:solidFill>
              <a:srgbClr val="1565C0">
                <a:alpha val="12000"/>
              </a:srgbClr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895350" y="1866900"/>
              <a:ext cx="266700" cy="266700"/>
            </a:xfrm>
            <a:custGeom>
              <a:avLst/>
              <a:gdLst/>
              <a:ahLst/>
              <a:cxnLst/>
              <a:rect l="l" t="t" r="r" b="b"/>
              <a:pathLst>
                <a:path w="266700" h="266700">
                  <a:moveTo>
                    <a:pt x="0" y="133350"/>
                  </a:moveTo>
                  <a:lnTo>
                    <a:pt x="266700" y="133350"/>
                  </a:lnTo>
                  <a:moveTo>
                    <a:pt x="133350" y="0"/>
                  </a:moveTo>
                  <a:lnTo>
                    <a:pt x="133350" y="266700"/>
                  </a:lnTo>
                  <a:moveTo>
                    <a:pt x="38100" y="38100"/>
                  </a:moveTo>
                  <a:lnTo>
                    <a:pt x="228600" y="228600"/>
                  </a:lnTo>
                  <a:moveTo>
                    <a:pt x="228600" y="38100"/>
                  </a:moveTo>
                  <a:lnTo>
                    <a:pt x="38100" y="228600"/>
                  </a:lnTo>
                </a:path>
              </a:pathLst>
            </a:custGeom>
            <a:solidFill>
              <a:srgbClr val="000000"/>
            </a:solidFill>
            <a:ln w="28575">
              <a:solidFill>
                <a:srgbClr val="1565C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443990" y="1758315"/>
              <a:ext cx="204937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生成前：RAG 检索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0105" y="2426018"/>
              <a:ext cx="23488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先从课程 Wiki 检索相关片段，</a:t>
              </a: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再由 Agent 组织讲解与题目。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57250" y="3257550"/>
              <a:ext cx="27241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6D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330803" y="3355181"/>
              <a:ext cx="1777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减少“凭空编教材”的空间</a:t>
              </a:r>
              <a:endParaRPr lang="zh-CN" sz="112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371975" y="1428750"/>
            <a:ext cx="3448050" cy="2381250"/>
            <a:chOff x="4371975" y="1428750"/>
            <a:chExt cx="3448050" cy="2381250"/>
          </a:xfrm>
        </p:grpSpPr>
        <p:sp>
          <p:nvSpPr>
            <p:cNvPr id="17" name="Rectangle 17"/>
            <p:cNvSpPr/>
            <p:nvPr/>
          </p:nvSpPr>
          <p:spPr>
            <a:xfrm>
              <a:off x="4371975" y="1428750"/>
              <a:ext cx="3448050" cy="2381250"/>
            </a:xfrm>
            <a:prstGeom prst="roundRect">
              <a:avLst>
                <a:gd name="adj" fmla="val 32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371975" y="1428750"/>
              <a:ext cx="3448050" cy="76200"/>
            </a:xfrm>
            <a:prstGeom prst="roundRect">
              <a:avLst>
                <a:gd name="adj" fmla="val 50000"/>
              </a:avLst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4600575" y="1733550"/>
              <a:ext cx="533400" cy="533400"/>
            </a:xfrm>
            <a:prstGeom prst="ellipse">
              <a:avLst/>
            </a:prstGeom>
            <a:solidFill>
              <a:srgbClr val="6B8E6B">
                <a:alpha val="12000"/>
              </a:srgbClr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743450" y="1924050"/>
              <a:ext cx="228600" cy="171450"/>
            </a:xfrm>
            <a:custGeom>
              <a:avLst/>
              <a:gdLst/>
              <a:ahLst/>
              <a:cxnLst/>
              <a:rect l="l" t="t" r="r" b="b"/>
              <a:pathLst>
                <a:path w="228600" h="171450">
                  <a:moveTo>
                    <a:pt x="0" y="0"/>
                  </a:moveTo>
                  <a:lnTo>
                    <a:pt x="228600" y="0"/>
                  </a:lnTo>
                  <a:lnTo>
                    <a:pt x="228600" y="171450"/>
                  </a:lnTo>
                  <a:lnTo>
                    <a:pt x="0" y="171450"/>
                  </a:lnTo>
                  <a:close/>
                </a:path>
              </a:pathLst>
            </a:custGeom>
            <a:noFill/>
            <a:ln w="28575">
              <a:solidFill>
                <a:srgbClr val="6B8E6B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4800600" y="1981200"/>
              <a:ext cx="133350" cy="57150"/>
            </a:xfrm>
            <a:custGeom>
              <a:avLst/>
              <a:gdLst/>
              <a:ahLst/>
              <a:cxnLst/>
              <a:rect l="l" t="t" r="r" b="b"/>
              <a:pathLst>
                <a:path w="133350" h="57150">
                  <a:moveTo>
                    <a:pt x="0" y="0"/>
                  </a:moveTo>
                  <a:lnTo>
                    <a:pt x="114300" y="0"/>
                  </a:lnTo>
                  <a:moveTo>
                    <a:pt x="0" y="57150"/>
                  </a:moveTo>
                  <a:lnTo>
                    <a:pt x="133350" y="57150"/>
                  </a:lnTo>
                </a:path>
              </a:pathLst>
            </a:custGeom>
            <a:solidFill>
              <a:srgbClr val="000000"/>
            </a:solidFill>
            <a:ln w="19050">
              <a:solidFill>
                <a:srgbClr val="6B8E6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2565" y="1758315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生成中：sources/confidence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678680" y="2426018"/>
              <a:ext cx="2691765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资源携带 sources、confidence</a:t>
              </a: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和来源片段，便于回到 Wiki 核对。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95825" y="3257550"/>
              <a:ext cx="27241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6D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334774" y="3355181"/>
              <a:ext cx="14462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低置信内容显式提示</a:t>
              </a:r>
              <a:endParaRPr lang="zh-CN" sz="112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210550" y="1428750"/>
            <a:ext cx="3448050" cy="2381250"/>
            <a:chOff x="8210550" y="1428750"/>
            <a:chExt cx="3448050" cy="2381250"/>
          </a:xfrm>
        </p:grpSpPr>
        <p:sp>
          <p:nvSpPr>
            <p:cNvPr id="27" name="Rectangle 27"/>
            <p:cNvSpPr/>
            <p:nvPr/>
          </p:nvSpPr>
          <p:spPr>
            <a:xfrm>
              <a:off x="8210550" y="1428750"/>
              <a:ext cx="3448050" cy="2381250"/>
            </a:xfrm>
            <a:prstGeom prst="roundRect">
              <a:avLst>
                <a:gd name="adj" fmla="val 3200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10550" y="1428750"/>
              <a:ext cx="3448050" cy="76200"/>
            </a:xfrm>
            <a:prstGeom prst="roundRect">
              <a:avLst>
                <a:gd name="adj" fmla="val 50000"/>
              </a:avLst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8439150" y="1733550"/>
              <a:ext cx="533400" cy="533400"/>
            </a:xfrm>
            <a:prstGeom prst="ellipse">
              <a:avLst/>
            </a:prstGeom>
            <a:solidFill>
              <a:srgbClr val="C96442">
                <a:alpha val="12000"/>
              </a:srgbClr>
            </a:solidFill>
            <a:ln>
              <a:noFill/>
            </a:ln>
          </p:spPr>
        </p:sp>
        <p:sp>
          <p:nvSpPr>
            <p:cNvPr id="30" name="Freeform 30"/>
            <p:cNvSpPr/>
            <p:nvPr/>
          </p:nvSpPr>
          <p:spPr>
            <a:xfrm>
              <a:off x="8572500" y="1847850"/>
              <a:ext cx="266700" cy="400050"/>
            </a:xfrm>
            <a:custGeom>
              <a:avLst/>
              <a:gdLst/>
              <a:ahLst/>
              <a:cxnLst/>
              <a:rect l="l" t="t" r="r" b="b"/>
              <a:pathLst>
                <a:path w="266700" h="400050">
                  <a:moveTo>
                    <a:pt x="0" y="57150"/>
                  </a:moveTo>
                  <a:lnTo>
                    <a:pt x="133350" y="0"/>
                  </a:lnTo>
                  <a:lnTo>
                    <a:pt x="266700" y="57150"/>
                  </a:lnTo>
                  <a:lnTo>
                    <a:pt x="266700" y="190500"/>
                  </a:lnTo>
                  <a:cubicBezTo>
                    <a:pt x="266700" y="304800"/>
                    <a:pt x="190500" y="361950"/>
                    <a:pt x="133350" y="400050"/>
                  </a:cubicBezTo>
                  <a:cubicBezTo>
                    <a:pt x="76200" y="361950"/>
                    <a:pt x="0" y="304800"/>
                    <a:pt x="0" y="190500"/>
                  </a:cubicBezTo>
                  <a:close/>
                </a:path>
              </a:pathLst>
            </a:custGeom>
            <a:noFill/>
            <a:ln w="28575">
              <a:solidFill>
                <a:srgbClr val="C96442"/>
              </a:solidFill>
            </a:ln>
          </p:spPr>
        </p:sp>
        <p:sp>
          <p:nvSpPr>
            <p:cNvPr id="31" name="Freeform 31"/>
            <p:cNvSpPr/>
            <p:nvPr/>
          </p:nvSpPr>
          <p:spPr>
            <a:xfrm>
              <a:off x="8629650" y="1971675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76200"/>
                  </a:moveTo>
                  <a:lnTo>
                    <a:pt x="57150" y="133350"/>
                  </a:lnTo>
                  <a:lnTo>
                    <a:pt x="171450" y="0"/>
                  </a:lnTo>
                </a:path>
              </a:pathLst>
            </a:custGeom>
            <a:noFill/>
            <a:ln w="28575">
              <a:solidFill>
                <a:srgbClr val="C96442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21140" y="1758315"/>
              <a:ext cx="206197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生成后：安全 + eval</a:t>
              </a:r>
              <a:endParaRPr lang="zh-CN" sz="180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517255" y="2426018"/>
              <a:ext cx="22631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讯飞安全护栏与本地规则</a:t>
              </a:r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共同拦截风险和不合规内容。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534400" y="3257550"/>
              <a:ext cx="2724150" cy="323850"/>
            </a:xfrm>
            <a:prstGeom prst="roundRect">
              <a:avLst>
                <a:gd name="adj" fmla="val 23529"/>
              </a:avLst>
            </a:prstGeom>
            <a:solidFill>
              <a:srgbClr val="FFFFFF"/>
            </a:solidFill>
            <a:ln w="9525">
              <a:solidFill>
                <a:srgbClr val="E8E6DC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52109" y="3355181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教学场景安全可控</a:t>
              </a:r>
              <a:endParaRPr lang="zh-CN" sz="112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533400" y="4248150"/>
            <a:ext cx="11125200" cy="1447800"/>
            <a:chOff x="533400" y="4248150"/>
            <a:chExt cx="11125200" cy="1447800"/>
          </a:xfrm>
        </p:grpSpPr>
        <p:sp>
          <p:nvSpPr>
            <p:cNvPr id="37" name="Rectangle 37"/>
            <p:cNvSpPr/>
            <p:nvPr/>
          </p:nvSpPr>
          <p:spPr>
            <a:xfrm>
              <a:off x="533400" y="4248150"/>
              <a:ext cx="11125200" cy="1447800"/>
            </a:xfrm>
            <a:prstGeom prst="roundRect">
              <a:avLst>
                <a:gd name="adj" fmla="val 5263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51535" y="44948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自动评测基线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0108" y="4891564"/>
              <a:ext cx="504801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离线 eval 覆盖画像抽取、路由、RAG 命中、题目结构、安全规则与结构质量。</a:t>
              </a:r>
              <a:endParaRPr lang="zh-CN" sz="1275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876300" y="5314950"/>
              <a:ext cx="10115550" cy="326231"/>
              <a:chOff x="876300" y="5314950"/>
              <a:chExt cx="10115550" cy="326231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8763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3184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画像抽取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Rectangle 42"/>
              <p:cNvSpPr/>
              <p:nvPr/>
            </p:nvSpPr>
            <p:spPr>
              <a:xfrm>
                <a:off x="25908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30329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路由判断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43053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4751436" y="5412581"/>
                <a:ext cx="650778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RAG 命中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60198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4619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题目结构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Rectangle 48"/>
              <p:cNvSpPr/>
              <p:nvPr/>
            </p:nvSpPr>
            <p:spPr>
              <a:xfrm>
                <a:off x="77343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1764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内容安全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9448800" y="5314950"/>
                <a:ext cx="1543050" cy="323850"/>
              </a:xfrm>
              <a:prstGeom prst="roundRect">
                <a:avLst>
                  <a:gd name="adj" fmla="val 23529"/>
                </a:avLst>
              </a:prstGeom>
              <a:solidFill>
                <a:srgbClr val="FAF9F5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9890998" y="54125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结构质量</a:t>
                </a:r>
                <a:endParaRPr lang="zh-CN" sz="112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6" name="Group 56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54" name="TextBox 54"/>
            <p:cNvSpPr txBox="1"/>
            <p:nvPr/>
          </p:nvSpPr>
          <p:spPr>
            <a:xfrm>
              <a:off x="522922" y="6483191"/>
              <a:ext cx="1154097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可信与安全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11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6" grpId="0"/>
      <p:bldP spid="36" grpId="0"/>
      <p:bldP spid="5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7205662" cy="718184"/>
            <a:chOff x="501015" y="372428"/>
            <a:chExt cx="7205662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720566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工程实现围绕可运行、可观测、可回退来设计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585801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流式体验、并行生成、资源导出和 Agent 可观测让系统具备演示稳定性。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352550"/>
            <a:ext cx="3409950" cy="1428750"/>
            <a:chOff x="533400" y="1352550"/>
            <a:chExt cx="3409950" cy="1428750"/>
          </a:xfrm>
        </p:grpSpPr>
        <p:sp>
          <p:nvSpPr>
            <p:cNvPr id="8" name="Rectangle 8"/>
            <p:cNvSpPr/>
            <p:nvPr/>
          </p:nvSpPr>
          <p:spPr>
            <a:xfrm>
              <a:off x="533400" y="1352550"/>
              <a:ext cx="3409950" cy="1428750"/>
            </a:xfrm>
            <a:prstGeom prst="roundRect">
              <a:avLst>
                <a:gd name="adj" fmla="val 533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58115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92505" y="16449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Streaming UX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69645" y="1907858"/>
              <a:ext cx="807751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1565C0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SSE</a:t>
              </a:r>
              <a:endParaRPr lang="zh-CN" sz="3150" b="1" dirty="0">
                <a:solidFill>
                  <a:srgbClr val="1565C0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4410" y="2404110"/>
              <a:ext cx="28068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避免白屏等待，逐步展示 Agent 输出。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381500" y="1352550"/>
            <a:ext cx="3409950" cy="1428750"/>
            <a:chOff x="4381500" y="1352550"/>
            <a:chExt cx="3409950" cy="1428750"/>
          </a:xfrm>
        </p:grpSpPr>
        <p:sp>
          <p:nvSpPr>
            <p:cNvPr id="14" name="Rectangle 14"/>
            <p:cNvSpPr/>
            <p:nvPr/>
          </p:nvSpPr>
          <p:spPr>
            <a:xfrm>
              <a:off x="4381500" y="1352550"/>
              <a:ext cx="3409950" cy="1428750"/>
            </a:xfrm>
            <a:prstGeom prst="roundRect">
              <a:avLst>
                <a:gd name="adj" fmla="val 533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610100" y="158115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840605" y="1644968"/>
              <a:ext cx="15374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Resource Pipeline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817745" y="1907858"/>
              <a:ext cx="962120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6B8E6B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并行</a:t>
              </a:r>
              <a:endParaRPr lang="zh-CN" sz="3150" b="1" dirty="0">
                <a:solidFill>
                  <a:srgbClr val="6B8E6B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42510" y="24041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讲义、题目、代码和媒体可分工产出。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229600" y="1352550"/>
            <a:ext cx="3429000" cy="1428750"/>
            <a:chOff x="8229600" y="1352550"/>
            <a:chExt cx="3429000" cy="1428750"/>
          </a:xfrm>
        </p:grpSpPr>
        <p:sp>
          <p:nvSpPr>
            <p:cNvPr id="20" name="Rectangle 20"/>
            <p:cNvSpPr/>
            <p:nvPr/>
          </p:nvSpPr>
          <p:spPr>
            <a:xfrm>
              <a:off x="8229600" y="1352550"/>
              <a:ext cx="3429000" cy="1428750"/>
            </a:xfrm>
            <a:prstGeom prst="roundRect">
              <a:avLst>
                <a:gd name="adj" fmla="val 5333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458200" y="1581150"/>
              <a:ext cx="57150" cy="609600"/>
            </a:xfrm>
            <a:prstGeom prst="roundRect">
              <a:avLst>
                <a:gd name="adj" fmla="val 50000"/>
              </a:avLst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688705" y="1644968"/>
              <a:ext cx="107842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Agent Trace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65845" y="1907858"/>
              <a:ext cx="1403175" cy="640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C96442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可观测</a:t>
              </a:r>
              <a:endParaRPr lang="zh-CN" sz="3150" b="1" dirty="0">
                <a:solidFill>
                  <a:srgbClr val="C96442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90610" y="2404110"/>
              <a:ext cx="2750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节点耗时、输入输出、置信度可追踪。</a:t>
              </a:r>
              <a:endParaRPr lang="zh-CN" sz="120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33400" y="3105150"/>
            <a:ext cx="5429250" cy="2457450"/>
            <a:chOff x="533400" y="3105150"/>
            <a:chExt cx="5429250" cy="2457450"/>
          </a:xfrm>
        </p:grpSpPr>
        <p:sp>
          <p:nvSpPr>
            <p:cNvPr id="26" name="Rectangle 26"/>
            <p:cNvSpPr/>
            <p:nvPr/>
          </p:nvSpPr>
          <p:spPr>
            <a:xfrm>
              <a:off x="533400" y="3105150"/>
              <a:ext cx="5429250" cy="2457450"/>
            </a:xfrm>
            <a:prstGeom prst="roundRect">
              <a:avLst>
                <a:gd name="adj" fmla="val 3101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1535" y="33708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当前边界与兜底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7250" y="3767138"/>
              <a:ext cx="3977640" cy="12458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前端：Next.js / React / TypeScript / Tailwind</a:t>
              </a:r>
              <a:r>
                <a: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后端：FastAPI / SQLAlchemy / LangGraph边界：PPTX 为大纲型导出，图片型 PPT 单独展示</a:t>
              </a:r>
              <a:r>
                <a:rPr lang="zh-CN" sz="1200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增强：完整视频、OCR、生产级对象存储后续推进</a:t>
              </a:r>
              <a:endParaRPr lang="zh-CN" sz="1200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76300" y="5105400"/>
              <a:ext cx="4191000" cy="285750"/>
            </a:xfrm>
            <a:prstGeom prst="roundRect">
              <a:avLst>
                <a:gd name="adj" fmla="val 26667"/>
              </a:avLst>
            </a:prstGeom>
            <a:solidFill>
              <a:srgbClr val="FAF9F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61790" y="5192078"/>
              <a:ext cx="28200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动画：HTML+字幕+可选音频包，MP4/OCR/生产存储后续增强</a:t>
              </a:r>
              <a:endParaRPr lang="zh-CN" sz="10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343650" y="3105150"/>
            <a:ext cx="5314950" cy="2457450"/>
            <a:chOff x="6343650" y="3105150"/>
            <a:chExt cx="5314950" cy="2457450"/>
          </a:xfrm>
        </p:grpSpPr>
        <p:sp>
          <p:nvSpPr>
            <p:cNvPr id="32" name="Rectangle 32"/>
            <p:cNvSpPr/>
            <p:nvPr/>
          </p:nvSpPr>
          <p:spPr>
            <a:xfrm>
              <a:off x="6343650" y="3105150"/>
              <a:ext cx="5314950" cy="2457450"/>
            </a:xfrm>
            <a:prstGeom prst="roundRect">
              <a:avLst>
                <a:gd name="adj" fmla="val 3101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61785" y="3370898"/>
              <a:ext cx="27798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演示稳定性的三个设计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800850" y="4000500"/>
              <a:ext cx="3642360" cy="280988"/>
              <a:chOff x="6800850" y="4000500"/>
              <a:chExt cx="3642360" cy="280988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800850" y="4000500"/>
                <a:ext cx="190500" cy="19050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126605" y="400716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资源局部重生成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52510" y="4023360"/>
                <a:ext cx="179070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失败只影响单一资源卡。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800850" y="4533900"/>
              <a:ext cx="3467100" cy="280988"/>
              <a:chOff x="6800850" y="4533900"/>
              <a:chExt cx="3467100" cy="280988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6800850" y="4533900"/>
                <a:ext cx="190500" cy="19050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7126605" y="4540568"/>
                <a:ext cx="145196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大纲PPTX/动画包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957310" y="4556760"/>
                <a:ext cx="13106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导出可复查，边界清晰。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800850" y="5067300"/>
              <a:ext cx="3627120" cy="280988"/>
              <a:chOff x="6800850" y="5067300"/>
              <a:chExt cx="3627120" cy="280988"/>
            </a:xfrm>
          </p:grpSpPr>
          <p:sp>
            <p:nvSpPr>
              <p:cNvPr id="42" name="Ellipse 42"/>
              <p:cNvSpPr/>
              <p:nvPr/>
            </p:nvSpPr>
            <p:spPr>
              <a:xfrm>
                <a:off x="6800850" y="5067300"/>
                <a:ext cx="190500" cy="19050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7126605" y="5073968"/>
                <a:ext cx="17355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Eval 与本地规则</a:t>
                </a:r>
                <a:endPara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957310" y="5090160"/>
                <a:ext cx="14706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降低演示偶发风险。</a:t>
                </a:r>
                <a:endParaRPr lang="zh-CN" sz="120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47" name="TextBox 47"/>
            <p:cNvSpPr txBox="1"/>
            <p:nvPr/>
          </p:nvSpPr>
          <p:spPr>
            <a:xfrm>
              <a:off x="522922" y="6483191"/>
              <a:ext cx="126411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工程实现亮点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9" grpId="0"/>
      <p:bldP spid="25" grpId="0"/>
      <p:bldP spid="31" grpId="0"/>
      <p:bldP spid="4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7048500"/>
            <a:chOff x="0" y="0"/>
            <a:chExt cx="12192000" cy="7048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991600" y="57150"/>
              <a:ext cx="2400300" cy="2400300"/>
            </a:xfrm>
            <a:prstGeom prst="ellipse">
              <a:avLst/>
            </a:prstGeom>
            <a:solidFill>
              <a:srgbClr val="1565C0">
                <a:alpha val="6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5250" y="4191000"/>
              <a:ext cx="2857500" cy="2857500"/>
            </a:xfrm>
            <a:prstGeom prst="ellipse">
              <a:avLst/>
            </a:prstGeom>
            <a:solidFill>
              <a:srgbClr val="C96442">
                <a:alpha val="7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372428"/>
            <a:ext cx="9347930" cy="718184"/>
            <a:chOff x="501015" y="372428"/>
            <a:chExt cx="9347930" cy="718184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72428"/>
              <a:ext cx="934793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创新点不是多一个聊天窗口，而是可验证的学习过程编排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6255" y="816292"/>
              <a:ext cx="611004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将画像、RAG、Agent 编排和评估反馈组合为学习过程编排中枢。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28675" y="1841182"/>
            <a:ext cx="11040428" cy="2426018"/>
            <a:chOff x="828675" y="1841182"/>
            <a:chExt cx="11040428" cy="2426018"/>
          </a:xfrm>
        </p:grpSpPr>
        <p:sp>
          <p:nvSpPr>
            <p:cNvPr id="10" name="TextBox 10"/>
            <p:cNvSpPr txBox="1"/>
            <p:nvPr/>
          </p:nvSpPr>
          <p:spPr>
            <a:xfrm>
              <a:off x="855345" y="18411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画像闭环</a:t>
              </a:r>
              <a:endParaRPr lang="zh-CN" sz="1650" b="1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8675" y="2262188"/>
              <a:ext cx="21955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8 维画像</a:t>
              </a:r>
              <a:endParaRPr lang="zh-CN" sz="37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4398" y="2992279"/>
              <a:ext cx="3440430" cy="6438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自然语言抽取 + 规则兜底；</a:t>
              </a:r>
              <a:r>
                <a:rPr lang="zh-CN" sz="15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测验反馈更新掌握度与易错点。</a:t>
              </a:r>
              <a:endParaRPr lang="zh-CN" sz="1575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4724400" y="3048000"/>
              <a:ext cx="2971800" cy="1219200"/>
            </a:xfrm>
            <a:custGeom>
              <a:avLst/>
              <a:gdLst/>
              <a:ahLst/>
              <a:cxnLst/>
              <a:rect l="l" t="t" r="r" b="b"/>
              <a:pathLst>
                <a:path w="2971800" h="1219200">
                  <a:moveTo>
                    <a:pt x="0" y="304800"/>
                  </a:moveTo>
                  <a:lnTo>
                    <a:pt x="2038350" y="304800"/>
                  </a:lnTo>
                  <a:lnTo>
                    <a:pt x="2038350" y="0"/>
                  </a:lnTo>
                  <a:lnTo>
                    <a:pt x="2971800" y="609600"/>
                  </a:lnTo>
                  <a:lnTo>
                    <a:pt x="2038350" y="1219200"/>
                  </a:lnTo>
                  <a:lnTo>
                    <a:pt x="203835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C9644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57161" y="35528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可信生成</a:t>
              </a:r>
              <a:endPara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89595" y="1841182"/>
              <a:ext cx="5039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C9644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 + 引用</a:t>
              </a:r>
              <a:endParaRPr lang="zh-CN" sz="1650" b="1" dirty="0">
                <a:solidFill>
                  <a:srgbClr val="C9644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62925" y="2262188"/>
              <a:ext cx="219551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工程编排</a:t>
              </a:r>
              <a:endParaRPr lang="zh-CN" sz="37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8648" y="2992279"/>
              <a:ext cx="3640455" cy="64389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RAG 混合检索 + sources/confidence；</a:t>
              </a:r>
              <a:r>
                <a:rPr lang="zh-CN" sz="157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LangGraph 分层并行 + 节点观测。</a:t>
              </a:r>
              <a:endParaRPr lang="zh-CN" sz="1575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14400" y="4714875"/>
            <a:ext cx="10363200" cy="671513"/>
            <a:chOff x="914400" y="4714875"/>
            <a:chExt cx="10363200" cy="671513"/>
          </a:xfrm>
        </p:grpSpPr>
        <p:sp>
          <p:nvSpPr>
            <p:cNvPr id="19" name="Line 19"/>
            <p:cNvSpPr/>
            <p:nvPr/>
          </p:nvSpPr>
          <p:spPr>
            <a:xfrm>
              <a:off x="914400" y="4810125"/>
              <a:ext cx="10363200" cy="9525"/>
            </a:xfrm>
            <a:custGeom>
              <a:avLst/>
              <a:gdLst/>
              <a:ahLst/>
              <a:cxnLst/>
              <a:rect l="l" t="t" r="r" b="b"/>
              <a:pathLst>
                <a:path w="10363200" h="9525">
                  <a:moveTo>
                    <a:pt x="0" y="0"/>
                  </a:moveTo>
                  <a:lnTo>
                    <a:pt x="10363200" y="0"/>
                  </a:lnTo>
                </a:path>
              </a:pathLst>
            </a:custGeom>
            <a:noFill/>
            <a:ln w="19050">
              <a:solidFill>
                <a:srgbClr val="E8E6DC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1905000" y="4714875"/>
              <a:ext cx="190500" cy="190500"/>
            </a:xfrm>
            <a:prstGeom prst="ellipse">
              <a:avLst/>
            </a:prstGeom>
            <a:solidFill>
              <a:srgbClr val="C9644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4533900" y="4714875"/>
              <a:ext cx="190500" cy="190500"/>
            </a:xfrm>
            <a:prstGeom prst="ellipse">
              <a:avLst/>
            </a:prstGeom>
            <a:solidFill>
              <a:srgbClr val="1565C0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7162800" y="4714875"/>
              <a:ext cx="190500" cy="190500"/>
            </a:xfrm>
            <a:prstGeom prst="ellipse">
              <a:avLst/>
            </a:prstGeom>
            <a:solidFill>
              <a:srgbClr val="6B8E6B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9791700" y="4714875"/>
              <a:ext cx="190500" cy="190500"/>
            </a:xfrm>
            <a:prstGeom prst="ellipse">
              <a:avLst/>
            </a:prstGeom>
            <a:solidFill>
              <a:srgbClr val="B07D6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416034" y="51120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画像驱动资源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39446" y="5112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分析接口支撑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768346" y="5112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Wiki条目积累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397246" y="51120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失败可定位</a:t>
              </a:r>
              <a:endParaRPr lang="zh-CN" sz="1350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2400300" y="5734050"/>
            <a:ext cx="7391400" cy="476250"/>
            <a:chOff x="2400300" y="5734050"/>
            <a:chExt cx="7391400" cy="476250"/>
          </a:xfrm>
        </p:grpSpPr>
        <p:sp>
          <p:nvSpPr>
            <p:cNvPr id="29" name="Rectangle 29"/>
            <p:cNvSpPr/>
            <p:nvPr/>
          </p:nvSpPr>
          <p:spPr>
            <a:xfrm>
              <a:off x="2400300" y="5734050"/>
              <a:ext cx="7391400" cy="476250"/>
            </a:xfrm>
            <a:prstGeom prst="roundRect">
              <a:avLst>
                <a:gd name="adj" fmla="val 16000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062701" y="5885021"/>
              <a:ext cx="406659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从“生成一段答案”可信生成“运营一段学习过程”</a:t>
              </a:r>
              <a:endParaRPr lang="zh-CN" sz="142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32" name="TextBox 32"/>
            <p:cNvSpPr txBox="1"/>
            <p:nvPr/>
          </p:nvSpPr>
          <p:spPr>
            <a:xfrm>
              <a:off x="522922" y="6483191"/>
              <a:ext cx="1044083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创新价值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13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8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5F4ED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solidFill>
              <a:srgbClr val="C96442"/>
            </a:soli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501015" y="372428"/>
            <a:ext cx="8169683" cy="718184"/>
            <a:chOff x="501015" y="372428"/>
            <a:chExt cx="8169683" cy="718184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72428"/>
              <a:ext cx="816968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EduAgent 已覆盖核心要求，并保留清晰的增强路径</a:t>
              </a:r>
              <a:endParaRPr lang="zh-CN" sz="25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816292"/>
              <a:ext cx="63620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当前系统可展示核心学习链路，视频导出、OCR、教师前端和生产存储作为后续增强。</a:t>
              </a:r>
              <a:endParaRPr lang="zh-CN" sz="1350" dirty="0">
                <a:solidFill>
                  <a:srgbClr val="5E5D5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33400" y="1295400"/>
            <a:ext cx="7284243" cy="4191000"/>
            <a:chOff x="533400" y="1295400"/>
            <a:chExt cx="7284243" cy="4191000"/>
          </a:xfrm>
        </p:grpSpPr>
        <p:sp>
          <p:nvSpPr>
            <p:cNvPr id="8" name="Rectangle 8"/>
            <p:cNvSpPr/>
            <p:nvPr/>
          </p:nvSpPr>
          <p:spPr>
            <a:xfrm>
              <a:off x="533400" y="1295400"/>
              <a:ext cx="6953250" cy="4191000"/>
            </a:xfrm>
            <a:prstGeom prst="roundRect">
              <a:avLst>
                <a:gd name="adj" fmla="val 1818"/>
              </a:avLst>
            </a:prstGeom>
            <a:solidFill>
              <a:srgbClr val="FAF9F5"/>
            </a:solidFill>
            <a:ln w="14288">
              <a:solidFill>
                <a:srgbClr val="E8E6DC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2485" y="152304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41413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比赛需求覆盖</a:t>
              </a:r>
              <a:endParaRPr lang="zh-CN" sz="1950" b="1" dirty="0">
                <a:solidFill>
                  <a:srgbClr val="141413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857250" y="2000250"/>
              <a:ext cx="6229350" cy="361950"/>
              <a:chOff x="857250" y="2000250"/>
              <a:chExt cx="6229350" cy="3619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57250" y="2000250"/>
                <a:ext cx="6229350" cy="361950"/>
              </a:xfrm>
              <a:prstGeom prst="roundRect">
                <a:avLst>
                  <a:gd name="adj" fmla="val 21053"/>
                </a:avLst>
              </a:prstGeom>
              <a:solidFill>
                <a:srgbClr val="30302E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47762" y="211693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要求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205412" y="211693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状态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138862" y="2116931"/>
                <a:ext cx="34361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证据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145858" y="2457450"/>
              <a:ext cx="6671785" cy="311944"/>
              <a:chOff x="1145858" y="2457450"/>
              <a:chExt cx="6671785" cy="31194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145858" y="2510314"/>
                <a:ext cx="1052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多智能体协同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6" name="Rectangle 16"/>
              <p:cNvSpPr/>
              <p:nvPr/>
            </p:nvSpPr>
            <p:spPr>
              <a:xfrm>
                <a:off x="5048250" y="245745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5221272" y="25346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138862" y="2526506"/>
                <a:ext cx="1678781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LangGraph+10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0" name="Line 20"/>
            <p:cNvSpPr/>
            <p:nvPr/>
          </p:nvSpPr>
          <p:spPr>
            <a:xfrm>
              <a:off x="857250" y="287655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1145858" y="2971800"/>
              <a:ext cx="5899189" cy="311944"/>
              <a:chOff x="1145858" y="2971800"/>
              <a:chExt cx="5899189" cy="311944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1145858" y="3024664"/>
                <a:ext cx="1588079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不少于 6 维学生画像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5048250" y="297180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221272" y="30489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138862" y="304085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8 维动态画像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857250" y="339090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145858" y="3486150"/>
              <a:ext cx="5899189" cy="311944"/>
              <a:chOff x="1145858" y="3486150"/>
              <a:chExt cx="5899189" cy="311944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1145858" y="3539014"/>
                <a:ext cx="1367052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 类以上学习资源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5048250" y="348615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5221272" y="35633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138862" y="3555206"/>
                <a:ext cx="90618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8 类资源生成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2" name="Line 32"/>
            <p:cNvSpPr/>
            <p:nvPr/>
          </p:nvSpPr>
          <p:spPr>
            <a:xfrm>
              <a:off x="857250" y="390525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145858" y="4000500"/>
              <a:ext cx="6206727" cy="311944"/>
              <a:chOff x="1145858" y="4000500"/>
              <a:chExt cx="6206727" cy="311944"/>
            </a:xfrm>
          </p:grpSpPr>
          <p:sp>
            <p:nvSpPr>
              <p:cNvPr id="33" name="TextBox 33"/>
              <p:cNvSpPr txBox="1"/>
              <p:nvPr/>
            </p:nvSpPr>
            <p:spPr>
              <a:xfrm>
                <a:off x="1145858" y="4053364"/>
                <a:ext cx="139255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个性化路径与辅导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5048250" y="400050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5221272" y="40776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138862" y="4069556"/>
                <a:ext cx="121372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路径服务 + Tutor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8" name="Line 38"/>
            <p:cNvSpPr/>
            <p:nvPr/>
          </p:nvSpPr>
          <p:spPr>
            <a:xfrm>
              <a:off x="857250" y="441960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1145858" y="4514850"/>
              <a:ext cx="6371748" cy="311944"/>
              <a:chOff x="1145858" y="4514850"/>
              <a:chExt cx="6371748" cy="311944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1145858" y="4567714"/>
                <a:ext cx="1052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学习效果评估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5048250" y="451485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221272" y="459200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138862" y="4583906"/>
                <a:ext cx="137874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测验/错题/接口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4" name="Line 44"/>
            <p:cNvSpPr/>
            <p:nvPr/>
          </p:nvSpPr>
          <p:spPr>
            <a:xfrm>
              <a:off x="857250" y="493395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rgbClr val="E8E6DC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1145858" y="5029200"/>
              <a:ext cx="6386750" cy="311944"/>
              <a:chOff x="1145858" y="5029200"/>
              <a:chExt cx="6386750" cy="311944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1145858" y="5082064"/>
                <a:ext cx="1052513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4141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防幻觉与安全</a:t>
                </a:r>
                <a:endParaRPr lang="zh-CN" sz="1275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6" name="Rectangle 46"/>
              <p:cNvSpPr/>
              <p:nvPr/>
            </p:nvSpPr>
            <p:spPr>
              <a:xfrm>
                <a:off x="5048250" y="5029200"/>
                <a:ext cx="666750" cy="266700"/>
              </a:xfrm>
              <a:prstGeom prst="roundRect">
                <a:avLst>
                  <a:gd name="adj" fmla="val 28571"/>
                </a:avLst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5221272" y="51063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完成</a:t>
                </a:r>
                <a:endPara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138862" y="5098256"/>
                <a:ext cx="139374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5E5D5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RAG 引用 + 护栏</a:t>
                </a:r>
                <a:endParaRPr lang="zh-CN" sz="1125" dirty="0">
                  <a:solidFill>
                    <a:srgbClr val="5E5D5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7829550" y="1295400"/>
            <a:ext cx="3829050" cy="4191000"/>
            <a:chOff x="7829550" y="1295400"/>
            <a:chExt cx="3829050" cy="4191000"/>
          </a:xfrm>
        </p:grpSpPr>
        <p:sp>
          <p:nvSpPr>
            <p:cNvPr id="51" name="Rectangle 51"/>
            <p:cNvSpPr/>
            <p:nvPr/>
          </p:nvSpPr>
          <p:spPr>
            <a:xfrm>
              <a:off x="7829550" y="1295400"/>
              <a:ext cx="3829050" cy="4191000"/>
            </a:xfrm>
            <a:prstGeom prst="roundRect">
              <a:avLst>
                <a:gd name="adj" fmla="val 1990"/>
              </a:avLst>
            </a:prstGeom>
            <a:solidFill>
              <a:srgbClr val="30302E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147685" y="15420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Arial" panose="020B0604020202020204"/>
                  <a:ea typeface="黑体" panose="02010609060101010101" charset="-122"/>
                  <a:cs typeface="Arial" panose="020B0604020202020204"/>
                </a:rPr>
                <a:t>后续增强路径</a:t>
              </a:r>
              <a:endParaRPr lang="zh-CN" sz="1950" b="1" dirty="0">
                <a:solidFill>
                  <a:srgbClr val="FFFFFF"/>
                </a:solidFill>
                <a:latin typeface="Arial" panose="020B0604020202020204"/>
                <a:ea typeface="黑体" panose="02010609060101010101" charset="-122"/>
                <a:cs typeface="Arial" panose="020B0604020202020204"/>
              </a:endParaRP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8277225" y="2216468"/>
              <a:ext cx="2747962" cy="500538"/>
              <a:chOff x="8277225" y="2216468"/>
              <a:chExt cx="2747962" cy="500538"/>
            </a:xfrm>
          </p:grpSpPr>
          <p:sp>
            <p:nvSpPr>
              <p:cNvPr id="53" name="Ellipse 53"/>
              <p:cNvSpPr/>
              <p:nvPr/>
            </p:nvSpPr>
            <p:spPr>
              <a:xfrm>
                <a:off x="8277225" y="2219325"/>
                <a:ext cx="171450" cy="171450"/>
              </a:xfrm>
              <a:prstGeom prst="ellipse">
                <a:avLst/>
              </a:prstGeom>
              <a:solidFill>
                <a:srgbClr val="C96442"/>
              </a:solidFill>
              <a:ln>
                <a:noFill/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8593455" y="2216468"/>
                <a:ext cx="1168432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完整视频导出增强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596312" y="248840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基于脚本、字幕、旁白包继续自动化。</a:t>
                </a:r>
                <a:endParaRPr lang="zh-CN" sz="112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8277225" y="3016568"/>
              <a:ext cx="2747962" cy="500538"/>
              <a:chOff x="8277225" y="3016568"/>
              <a:chExt cx="2747962" cy="500538"/>
            </a:xfrm>
          </p:grpSpPr>
          <p:sp>
            <p:nvSpPr>
              <p:cNvPr id="57" name="Ellipse 57"/>
              <p:cNvSpPr/>
              <p:nvPr/>
            </p:nvSpPr>
            <p:spPr>
              <a:xfrm>
                <a:off x="8277225" y="3019425"/>
                <a:ext cx="171450" cy="171450"/>
              </a:xfrm>
              <a:prstGeom prst="ellipse">
                <a:avLst/>
              </a:prstGeom>
              <a:solidFill>
                <a:srgbClr val="1565C0"/>
              </a:solidFill>
              <a:ln>
                <a:noFill/>
              </a:ln>
            </p:spPr>
          </p:sp>
          <p:sp>
            <p:nvSpPr>
              <p:cNvPr id="58" name="TextBox 58"/>
              <p:cNvSpPr txBox="1"/>
              <p:nvPr/>
            </p:nvSpPr>
            <p:spPr>
              <a:xfrm>
                <a:off x="8593455" y="3016568"/>
                <a:ext cx="1763856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OCR 与资料解析增强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596312" y="3288506"/>
                <a:ext cx="2428875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覆盖更多课件、扫描件和手写题型。</a:t>
                </a:r>
                <a:endParaRPr lang="zh-CN" sz="112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4" name="Group 64"/>
            <p:cNvGrpSpPr/>
            <p:nvPr/>
          </p:nvGrpSpPr>
          <p:grpSpPr>
            <a:xfrm>
              <a:off x="8277225" y="3816668"/>
              <a:ext cx="2597943" cy="500538"/>
              <a:chOff x="8277225" y="3816668"/>
              <a:chExt cx="2597943" cy="500538"/>
            </a:xfrm>
          </p:grpSpPr>
          <p:sp>
            <p:nvSpPr>
              <p:cNvPr id="61" name="Ellipse 61"/>
              <p:cNvSpPr/>
              <p:nvPr/>
            </p:nvSpPr>
            <p:spPr>
              <a:xfrm>
                <a:off x="8277225" y="3819525"/>
                <a:ext cx="171450" cy="171450"/>
              </a:xfrm>
              <a:prstGeom prst="ellipse">
                <a:avLst/>
              </a:prstGeom>
              <a:solidFill>
                <a:srgbClr val="6B8E6B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8593455" y="3816668"/>
                <a:ext cx="135745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教师前端与存储</a:t>
                </a:r>
                <a:endParaRPr lang="zh-CN" sz="13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8596312" y="4088606"/>
                <a:ext cx="2278856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教师视图和大班级存储继续增强。</a:t>
                </a:r>
                <a:endParaRPr lang="zh-CN" sz="1125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65" name="Rectangle 65"/>
            <p:cNvSpPr/>
            <p:nvPr/>
          </p:nvSpPr>
          <p:spPr>
            <a:xfrm>
              <a:off x="8172450" y="4762500"/>
              <a:ext cx="3048000" cy="400050"/>
            </a:xfrm>
            <a:prstGeom prst="roundRect">
              <a:avLst>
                <a:gd name="adj" fmla="val 19048"/>
              </a:avLst>
            </a:prstGeom>
            <a:solidFill>
              <a:srgbClr val="FAF9F5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341340" y="4882039"/>
              <a:ext cx="271022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4141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答辩主张：核心闭环可演示，边界说清楚</a:t>
              </a:r>
              <a:endParaRPr lang="zh-CN" sz="1275" b="1" dirty="0">
                <a:solidFill>
                  <a:srgbClr val="141413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22922" y="6483191"/>
            <a:ext cx="11146155" cy="167640"/>
            <a:chOff x="522922" y="6483191"/>
            <a:chExt cx="11146155" cy="167640"/>
          </a:xfrm>
        </p:grpSpPr>
        <p:sp>
          <p:nvSpPr>
            <p:cNvPr id="68" name="TextBox 68"/>
            <p:cNvSpPr txBox="1"/>
            <p:nvPr/>
          </p:nvSpPr>
          <p:spPr>
            <a:xfrm>
              <a:off x="522922" y="6483191"/>
              <a:ext cx="82405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EduAgent | 总结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27107" y="6483191"/>
              <a:ext cx="141970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87867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14</a:t>
              </a:r>
              <a:endParaRPr lang="zh-CN" sz="825" dirty="0">
                <a:solidFill>
                  <a:srgbClr val="87867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6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3768</Words>
  <Application>WPS 演示</Application>
  <PresentationFormat>On-screen Show (16:9)</PresentationFormat>
  <Paragraphs>602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Arial</vt:lpstr>
      <vt:lpstr>黑体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魏康康</cp:lastModifiedBy>
  <cp:revision>2</cp:revision>
  <dcterms:created xsi:type="dcterms:W3CDTF">2026-06-12T06:42:00Z</dcterms:created>
  <dcterms:modified xsi:type="dcterms:W3CDTF">2026-06-12T07:36:23Z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2DF59BE64CB14B1B9D12865E522F93D6_12</vt:lpwstr>
  </property>
  <property fmtid="{D5CDD505-2E9C-101B-9397-08002B2CF9AE}" pid="3" name="KSOProductBuildVer">
    <vt:lpwstr>2052-12.1.0.22529</vt:lpwstr>
  </property>
</Properties>
</file>