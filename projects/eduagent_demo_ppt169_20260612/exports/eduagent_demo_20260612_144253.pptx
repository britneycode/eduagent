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开场直接给结论：EduAgent 不是一个问答机器人，而是一个围绕学生画像、知识中枢、多 Agent 协同和学习反馈构建的智能学习系统。今天的展示重点是它如何把赛题中的个性化、多模态、多智能体和防幻觉要求落到一个可运行的工程链路中。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高等教育不是缺资源，而是资源和学生状态之间缺少匹配机制。学生基础、目标和节奏差异很大，传统课堂和通用问答工具都很难持续理解学生，也很难把生成内容沉淀为后续可复用的学习资产。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EduAgent 的核心价值可以概括成四步：先理解学生，再组织知识，再生成资源，再陪伴学习。每一步都有对应的工程模块，不是停留在概念层面。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系统全景里，前端负责流式交互和多模态卡片，FastAPI 提供 API 层，LangGraph 编排多个 Agent，LLM Wiki 统一提供知识图谱和 RAG 检索，底层数据和资产服务沉淀学习记录、资源和向量索引。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前沿 AI 技术在这里不是简单堆叠，而是拆成可控组件。讯飞星火承担主要推理，RAG 和知识图谱限定学术内容边界，TTS 和安全护栏扩展多模态体验，image2 用于高质量教学视觉资产。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的价值在于分工和可观测。Router 负责识别意图，Profile 更新画像，Planner 拆解资源任务，Doc、Quiz、Code、Media、Video 和 Tutor 分别生成不同学习支持，并记录节点耗时和状态。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Wiki 是全系统的共享知识中枢。它包含课程知识图谱、向量检索、来源片段和内容回写。这样每个 Agent 都不是凭空回答，而是在统一知识底座上生成、引用和沉淀内容。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画像设计满足赛题不少于 6 维的要求，当前实现为 8 维。它来自自然语言和学习行为，不需要学生先填长表单，并会反过来影响讲解深度、题目难度、路径节奏和资源形式。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资源生成覆盖讲义、导图、题目、代码、PPT、动画、拓展阅读和相关视频。重点不是资源类型数量，而是同一个学习目标可以同时得到理解、练习、实操和展示材料。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演示脚本围绕反向传播算法跑通完整闭环：登录、画像、资源生成、测验答题、错题复习、学习路径、分析仪表盘、Wiki 搜索和教师视图。每个环节都有页面和数据支撑。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可信和安全由多层机制共同承担。生成前优先检索课程知识，生成中保留来源覆盖率和片段，生成后通过安全护栏、本地规则和自动评测基线检查风险与结构质量。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工程实现强调可运行和可观测。SSE 避免白屏等待，资源生成并行降低等待时间，Agent 事件记录让评委能看到系统内部链路，资源支持局部重生成、PPTX 导出和动画包导出。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EduAgent 的创新点不是增加一个聊天窗口，而是把知识、画像、Agent 和评估组合成一个可以持续演化的学习操作系统。它同时服务学生个性化学习和教师助教观察。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最后总结：系统已覆盖比赛核心要求，包括多智能体、8 维画像、5 类以上资源、个性化路径、智能辅导、效果评估、防幻觉和流式体验。后续增强方向也很清楚，包括完整视频导出、OCR 和生产级对象存储。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5F4ED">
                    <a:alpha val="96000"/>
                  </a:srgbClr>
                </a:gs>
                <a:gs pos="48000">
                  <a:srgbClr val="F5F4ED">
                    <a:alpha val="84000"/>
                  </a:srgbClr>
                </a:gs>
                <a:gs pos="100000">
                  <a:srgbClr val="F5F4ED">
                    <a:alpha val="24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81025" y="1259205"/>
            <a:ext cx="5352940" cy="2817495"/>
            <a:chOff x="581025" y="1259205"/>
            <a:chExt cx="5352940" cy="2817495"/>
          </a:xfrm>
        </p:grpSpPr>
        <p:sp>
          <p:nvSpPr>
            <p:cNvPr id="7" name="TextBox 7"/>
            <p:cNvSpPr txBox="1"/>
            <p:nvPr/>
          </p:nvSpPr>
          <p:spPr>
            <a:xfrm>
              <a:off x="621030" y="12592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智能体应用演示</a:t>
              </a:r>
              <a:endParaRPr lang="zh-CN" sz="2100" b="1" dirty="0">
                <a:solidFill>
                  <a:srgbClr val="C9644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1025" y="1795462"/>
              <a:ext cx="3367754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EduAgent</a:t>
              </a:r>
              <a:endParaRPr lang="zh-CN" sz="52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5790" y="2710815"/>
              <a:ext cx="532817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个性化多 Agent 学习系统</a:t>
              </a:r>
              <a:endParaRPr lang="zh-CN" sz="33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2940" y="3368040"/>
              <a:ext cx="403479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把单轮 AI 问答升级为面向学习全过程的</a:t>
              </a:r>
              <a:r>
                <a:rPr lang="zh-CN" sz="180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智能学习中枢</a:t>
              </a:r>
              <a:endParaRPr lang="zh-CN" sz="1800" b="1" dirty="0">
                <a:solidFill>
                  <a:srgbClr val="C9644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4476750"/>
            <a:ext cx="7848600" cy="476250"/>
            <a:chOff x="685800" y="4476750"/>
            <a:chExt cx="7848600" cy="476250"/>
          </a:xfrm>
        </p:grpSpPr>
        <p:sp>
          <p:nvSpPr>
            <p:cNvPr id="12" name="Rectangle 12"/>
            <p:cNvSpPr/>
            <p:nvPr/>
          </p:nvSpPr>
          <p:spPr>
            <a:xfrm>
              <a:off x="685800" y="4476750"/>
              <a:ext cx="161925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" y="4638675"/>
              <a:ext cx="152400" cy="152400"/>
            </a:xfrm>
            <a:prstGeom prst="ellipse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4635818"/>
              <a:ext cx="7998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Wiki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76500" y="4476750"/>
              <a:ext cx="180975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647950" y="4638675"/>
              <a:ext cx="152400" cy="1524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5605" y="4635818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 Agent 协同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57700" y="4476750"/>
              <a:ext cx="180975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629150" y="4638675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16805" y="46358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维画像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38900" y="4476750"/>
              <a:ext cx="209550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610350" y="4638675"/>
              <a:ext cx="152400" cy="152400"/>
            </a:xfrm>
            <a:prstGeom prst="ellipse">
              <a:avLst/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98005" y="46358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多模态资源闭环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" y="5381625"/>
            <a:ext cx="5334000" cy="781050"/>
            <a:chOff x="685800" y="5381625"/>
            <a:chExt cx="5334000" cy="781050"/>
          </a:xfrm>
        </p:grpSpPr>
        <p:sp>
          <p:nvSpPr>
            <p:cNvPr id="25" name="Rectangle 25"/>
            <p:cNvSpPr/>
            <p:nvPr/>
          </p:nvSpPr>
          <p:spPr>
            <a:xfrm>
              <a:off x="685800" y="5381625"/>
              <a:ext cx="5334000" cy="781050"/>
            </a:xfrm>
            <a:prstGeom prst="roundRect">
              <a:avLst>
                <a:gd name="adj" fmla="val 9756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450" y="5553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核心判断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5355" y="585501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以知识中枢固定事实边界，以智能体协同完成学习闭环。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5322" y="6483191"/>
            <a:ext cx="10841355" cy="167640"/>
            <a:chOff x="675322" y="6483191"/>
            <a:chExt cx="10841355" cy="167640"/>
          </a:xfrm>
        </p:grpSpPr>
        <p:sp>
          <p:nvSpPr>
            <p:cNvPr id="29" name="TextBox 29"/>
            <p:cNvSpPr txBox="1"/>
            <p:nvPr/>
          </p:nvSpPr>
          <p:spPr>
            <a:xfrm>
              <a:off x="675322" y="6483191"/>
              <a:ext cx="18636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多 Agent 学习系统 | 2026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47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10547985" cy="718184"/>
            <a:chOff x="501015" y="372428"/>
            <a:chExt cx="10547985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72056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高等教育的关键矛盾不是缺资源，而是缺匹配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海量资源与学生差异之间，缺少持续理解、解释与个性化组织机制。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143000" cy="285750"/>
            </a:xfrm>
            <a:prstGeom prst="roundRect">
              <a:avLst>
                <a:gd name="adj" fmla="val 26667"/>
              </a:avLst>
            </a:prstGeom>
            <a:solidFill>
              <a:srgbClr val="FAF9F5"/>
            </a:solidFill>
            <a:ln w="9525">
              <a:solidFill>
                <a:srgbClr val="E8E6D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14996" y="543878"/>
              <a:ext cx="7250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Pain Point</a:t>
              </a:r>
              <a:endParaRPr lang="zh-CN" sz="1050" b="1" dirty="0">
                <a:solidFill>
                  <a:srgbClr val="C9644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28750"/>
            <a:ext cx="4210050" cy="4095750"/>
            <a:chOff x="533400" y="1428750"/>
            <a:chExt cx="4210050" cy="4095750"/>
          </a:xfrm>
        </p:grpSpPr>
        <p:sp>
          <p:nvSpPr>
            <p:cNvPr id="10" name="Rectangle 10"/>
            <p:cNvSpPr/>
            <p:nvPr/>
          </p:nvSpPr>
          <p:spPr>
            <a:xfrm>
              <a:off x="533400" y="1428750"/>
              <a:ext cx="4210050" cy="4095750"/>
            </a:xfrm>
            <a:prstGeom prst="roundRect">
              <a:avLst>
                <a:gd name="adj" fmla="val 1860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7720" y="1655445"/>
              <a:ext cx="299322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不是</a:t>
              </a:r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资源少</a:t>
              </a:r>
              <a:endParaRPr lang="zh-CN" sz="3900" b="1" dirty="0">
                <a:solidFill>
                  <a:srgbClr val="C9644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857250" y="24193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F5F4ED">
                  <a:alpha val="55000"/>
                </a:srgbClr>
              </a:solidFill>
              <a:prstDash val="lg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7720" y="2722245"/>
              <a:ext cx="299322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而是</a:t>
              </a:r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匹配弱</a:t>
              </a:r>
              <a:endParaRPr lang="zh-CN" sz="3900" b="1" dirty="0">
                <a:solidFill>
                  <a:srgbClr val="6B8E6B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7250" y="3695700"/>
              <a:ext cx="2514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学生基础、目标、节奏与兴趣</a:t>
              </a:r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不断变化，但传统资源组织</a:t>
              </a:r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很少能跟着变化。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4857750"/>
              <a:ext cx="323850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6190" y="497871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个性化不是功能点，是组织方式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05400" y="1428750"/>
            <a:ext cx="3683318" cy="1200150"/>
            <a:chOff x="5105400" y="1428750"/>
            <a:chExt cx="3683318" cy="1200150"/>
          </a:xfrm>
        </p:grpSpPr>
        <p:sp>
          <p:nvSpPr>
            <p:cNvPr id="18" name="Rectangle 18"/>
            <p:cNvSpPr/>
            <p:nvPr/>
          </p:nvSpPr>
          <p:spPr>
            <a:xfrm>
              <a:off x="5105400" y="1428750"/>
              <a:ext cx="3048000" cy="1200150"/>
            </a:xfrm>
            <a:prstGeom prst="roundRect">
              <a:avLst>
                <a:gd name="adj" fmla="val 6349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05400" y="1428750"/>
              <a:ext cx="76200" cy="120015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391150" y="1657350"/>
              <a:ext cx="457200" cy="457200"/>
            </a:xfrm>
            <a:prstGeom prst="ellipse">
              <a:avLst/>
            </a:prstGeom>
            <a:solidFill>
              <a:srgbClr val="C96442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505450" y="1790700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0" y="0"/>
                  </a:moveTo>
                  <a:lnTo>
                    <a:pt x="228600" y="0"/>
                  </a:lnTo>
                  <a:lnTo>
                    <a:pt x="228600" y="190500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28575">
              <a:solidFill>
                <a:srgbClr val="C9644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543550" y="1847850"/>
              <a:ext cx="152400" cy="66675"/>
            </a:xfrm>
            <a:custGeom>
              <a:avLst/>
              <a:gdLst/>
              <a:ahLst/>
              <a:cxnLst/>
              <a:rect l="l" t="t" r="r" b="b"/>
              <a:pathLst>
                <a:path w="152400" h="66675">
                  <a:moveTo>
                    <a:pt x="0" y="0"/>
                  </a:moveTo>
                  <a:lnTo>
                    <a:pt x="152400" y="0"/>
                  </a:lnTo>
                  <a:moveTo>
                    <a:pt x="0" y="66675"/>
                  </a:moveTo>
                  <a:lnTo>
                    <a:pt x="114300" y="6667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9644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96940" y="164401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资源繁杂难筛选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3608" y="2015014"/>
              <a:ext cx="2785110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学生不知道该看什么、按什么顺序看，</a:t>
              </a: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更难判断内容是否可信。</a:t>
              </a:r>
              <a:endParaRPr lang="zh-CN" sz="12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20100" y="1428750"/>
            <a:ext cx="3048000" cy="1200150"/>
            <a:chOff x="8420100" y="1428750"/>
            <a:chExt cx="3048000" cy="1200150"/>
          </a:xfrm>
        </p:grpSpPr>
        <p:sp>
          <p:nvSpPr>
            <p:cNvPr id="26" name="Rectangle 26"/>
            <p:cNvSpPr/>
            <p:nvPr/>
          </p:nvSpPr>
          <p:spPr>
            <a:xfrm>
              <a:off x="8420100" y="1428750"/>
              <a:ext cx="3048000" cy="1200150"/>
            </a:xfrm>
            <a:prstGeom prst="roundRect">
              <a:avLst>
                <a:gd name="adj" fmla="val 6349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20100" y="1428750"/>
              <a:ext cx="76200" cy="1200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705850" y="1657350"/>
              <a:ext cx="457200" cy="457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820150" y="17907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152400"/>
                  </a:moveTo>
                  <a:cubicBezTo>
                    <a:pt x="57150" y="0"/>
                    <a:pt x="171450" y="0"/>
                    <a:pt x="228600" y="152400"/>
                  </a:cubicBez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858250" y="1733550"/>
              <a:ext cx="152400" cy="152400"/>
            </a:xfrm>
            <a:prstGeom prst="ellipse">
              <a:avLst/>
            </a:prstGeom>
            <a:noFill/>
            <a:ln w="28575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11640" y="164401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标准课堂难适配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18308" y="2015014"/>
              <a:ext cx="1975485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同一讲法覆盖不同基础，</a:t>
              </a: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进度与难度难以实时调整。</a:t>
              </a:r>
              <a:endParaRPr lang="zh-CN" sz="12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05400" y="2933700"/>
            <a:ext cx="6362700" cy="1524000"/>
            <a:chOff x="5105400" y="2933700"/>
            <a:chExt cx="6362700" cy="1524000"/>
          </a:xfrm>
        </p:grpSpPr>
        <p:sp>
          <p:nvSpPr>
            <p:cNvPr id="34" name="Rectangle 34"/>
            <p:cNvSpPr/>
            <p:nvPr/>
          </p:nvSpPr>
          <p:spPr>
            <a:xfrm>
              <a:off x="5105400" y="2933700"/>
              <a:ext cx="6362700" cy="1524000"/>
            </a:xfrm>
            <a:prstGeom prst="roundRect">
              <a:avLst>
                <a:gd name="adj" fmla="val 5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05400" y="2933700"/>
              <a:ext cx="76200" cy="15240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429250" y="3238500"/>
              <a:ext cx="571500" cy="571500"/>
            </a:xfrm>
            <a:prstGeom prst="ellipse">
              <a:avLst/>
            </a:prstGeom>
            <a:solidFill>
              <a:srgbClr val="6B8E6B">
                <a:alpha val="13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461000" y="3327400"/>
              <a:ext cx="514350" cy="400050"/>
            </a:xfrm>
            <a:custGeom>
              <a:avLst/>
              <a:gdLst/>
              <a:ahLst/>
              <a:cxnLst/>
              <a:rect l="l" t="t" r="r" b="b"/>
              <a:pathLst>
                <a:path w="514350" h="400050">
                  <a:moveTo>
                    <a:pt x="82550" y="101600"/>
                  </a:moveTo>
                  <a:cubicBezTo>
                    <a:pt x="196850" y="0"/>
                    <a:pt x="311150" y="0"/>
                    <a:pt x="425450" y="101600"/>
                  </a:cubicBezTo>
                  <a:cubicBezTo>
                    <a:pt x="514350" y="190500"/>
                    <a:pt x="508000" y="279400"/>
                    <a:pt x="406400" y="368300"/>
                  </a:cubicBezTo>
                  <a:lnTo>
                    <a:pt x="311150" y="349250"/>
                  </a:lnTo>
                  <a:cubicBezTo>
                    <a:pt x="222250" y="400050"/>
                    <a:pt x="139700" y="387350"/>
                    <a:pt x="63500" y="311150"/>
                  </a:cubicBezTo>
                  <a:cubicBezTo>
                    <a:pt x="0" y="234950"/>
                    <a:pt x="6350" y="165100"/>
                    <a:pt x="82550" y="101600"/>
                  </a:cubicBezTo>
                  <a:close/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6485" y="3199448"/>
              <a:ext cx="496414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通用问答不理解学生，也不沉淀教学资产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74105" y="3635692"/>
              <a:ext cx="46634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一次回答解决不了持续学习：没有画像记忆、没有课程边界、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没有从资源到测验再到路径调整的闭环。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105400" y="4857750"/>
            <a:ext cx="6787515" cy="666750"/>
            <a:chOff x="5105400" y="4857750"/>
            <a:chExt cx="6787515" cy="666750"/>
          </a:xfrm>
        </p:grpSpPr>
        <p:sp>
          <p:nvSpPr>
            <p:cNvPr id="41" name="Rectangle 41"/>
            <p:cNvSpPr/>
            <p:nvPr/>
          </p:nvSpPr>
          <p:spPr>
            <a:xfrm>
              <a:off x="5105400" y="4857750"/>
              <a:ext cx="63627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E6D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06390" y="5063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系统命题：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70345" y="507968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持续理解学生</a:t>
              </a:r>
              <a:r>
                <a:rPr lang="zh-CN" sz="16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，再让知识、资源与评估围绕学生流动。</a:t>
              </a:r>
              <a:endParaRPr lang="zh-CN" sz="16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22922" y="648319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教育痛点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3" grpId="0"/>
      <p:bldP spid="40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266700" y="0"/>
            <a:ext cx="12458700" cy="7048500"/>
            <a:chOff x="-266700" y="0"/>
            <a:chExt cx="124587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858250" y="428625"/>
              <a:ext cx="2286000" cy="2286000"/>
            </a:xfrm>
            <a:prstGeom prst="ellipse">
              <a:avLst/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266700" y="4381500"/>
              <a:ext cx="2667000" cy="2667000"/>
            </a:xfrm>
            <a:prstGeom prst="ellipse">
              <a:avLst/>
            </a:prstGeom>
            <a:solidFill>
              <a:srgbClr val="6B8E6B">
                <a:alpha val="7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91478"/>
            <a:ext cx="10419064" cy="737234"/>
            <a:chOff x="501015" y="391478"/>
            <a:chExt cx="10419064" cy="73723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91478"/>
              <a:ext cx="1041906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一句话价值：先理解学生，再组织知识，再生成资源，再陪伴学习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543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系统价值来自连续协作，而不是一次回答。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6270" y="1560195"/>
            <a:ext cx="10201323" cy="1016317"/>
            <a:chOff x="636270" y="1560195"/>
            <a:chExt cx="10201323" cy="1016317"/>
          </a:xfrm>
        </p:grpSpPr>
        <p:sp>
          <p:nvSpPr>
            <p:cNvPr id="10" name="TextBox 10"/>
            <p:cNvSpPr txBox="1"/>
            <p:nvPr/>
          </p:nvSpPr>
          <p:spPr>
            <a:xfrm>
              <a:off x="636270" y="1560195"/>
              <a:ext cx="1020132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从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学生画像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到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1565C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知识组织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，再到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学习反馈</a:t>
              </a:r>
              <a:endParaRPr lang="zh-CN" sz="3900" b="1" dirty="0">
                <a:solidFill>
                  <a:srgbClr val="6B8E6B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2945" y="2241232"/>
              <a:ext cx="57406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把教育中的“内容生成”扩展为“学习过程编排”。</a:t>
              </a:r>
              <a:endParaRPr lang="zh-CN" sz="16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8200" y="3333750"/>
            <a:ext cx="10515600" cy="1143000"/>
            <a:chOff x="838200" y="3333750"/>
            <a:chExt cx="10515600" cy="1143000"/>
          </a:xfrm>
        </p:grpSpPr>
        <p:sp>
          <p:nvSpPr>
            <p:cNvPr id="13" name="Rectangle 13"/>
            <p:cNvSpPr/>
            <p:nvPr/>
          </p:nvSpPr>
          <p:spPr>
            <a:xfrm>
              <a:off x="838200" y="3333750"/>
              <a:ext cx="10515600" cy="1143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96442">
                    <a:alpha val="18000"/>
                  </a:srgbClr>
                </a:gs>
                <a:gs pos="55000">
                  <a:srgbClr val="6B8E6B">
                    <a:alpha val="12000"/>
                  </a:srgbClr>
                </a:gs>
                <a:gs pos="100000">
                  <a:srgbClr val="1565C0">
                    <a:alpha val="14000"/>
                  </a:srgbClr>
                </a:gs>
              </a:gsLst>
              <a:lin ang="0" scaled="1"/>
            </a:gradFill>
            <a:ln w="9525">
              <a:solidFill>
                <a:srgbClr val="E8E6D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038350" y="3905250"/>
              <a:ext cx="8115300" cy="9525"/>
            </a:xfrm>
            <a:custGeom>
              <a:avLst/>
              <a:gdLst/>
              <a:ahLst/>
              <a:cxnLst/>
              <a:rect l="l" t="t" r="r" b="b"/>
              <a:pathLst>
                <a:path w="8115300" h="9525">
                  <a:moveTo>
                    <a:pt x="0" y="0"/>
                  </a:moveTo>
                  <a:lnTo>
                    <a:pt x="8115300" y="0"/>
                  </a:lnTo>
                </a:path>
              </a:pathLst>
            </a:custGeom>
            <a:noFill/>
            <a:ln w="38100" cap="rnd">
              <a:solidFill>
                <a:srgbClr val="C96442">
                  <a:alpha val="55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9982200" y="38100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C9644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524000" y="3390900"/>
              <a:ext cx="1028700" cy="1028700"/>
              <a:chOff x="1524000" y="3390900"/>
              <a:chExt cx="1028700" cy="10287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5240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C96442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499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C96442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01</a:t>
                </a:r>
                <a:endParaRPr lang="zh-CN" sz="21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870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理解学生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229100" y="3390900"/>
              <a:ext cx="1028700" cy="1028700"/>
              <a:chOff x="4229100" y="3390900"/>
              <a:chExt cx="1028700" cy="10287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2291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1565C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550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565C0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02</a:t>
                </a:r>
                <a:endParaRPr lang="zh-CN" sz="2100" b="1" dirty="0">
                  <a:solidFill>
                    <a:srgbClr val="1565C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921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组织知识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934200" y="3390900"/>
              <a:ext cx="1028700" cy="1028700"/>
              <a:chOff x="6934200" y="3390900"/>
              <a:chExt cx="1028700" cy="10287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9342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B07D6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2601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B07D62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03</a:t>
                </a:r>
                <a:endParaRPr lang="zh-CN" sz="2100" b="1" dirty="0">
                  <a:solidFill>
                    <a:srgbClr val="B07D6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0972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生成资源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639300" y="3390900"/>
              <a:ext cx="1028700" cy="1028700"/>
              <a:chOff x="9639300" y="3390900"/>
              <a:chExt cx="1028700" cy="10287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96393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6B8E6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9652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6B8E6B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04</a:t>
                </a:r>
                <a:endParaRPr lang="zh-CN" sz="210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8023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陪伴学习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1565910" y="4937760"/>
            <a:ext cx="8907780" cy="472440"/>
            <a:chOff x="1565910" y="4937760"/>
            <a:chExt cx="8907780" cy="472440"/>
          </a:xfrm>
        </p:grpSpPr>
        <p:sp>
          <p:nvSpPr>
            <p:cNvPr id="33" name="TextBox 33"/>
            <p:cNvSpPr txBox="1"/>
            <p:nvPr/>
          </p:nvSpPr>
          <p:spPr>
            <a:xfrm>
              <a:off x="1565910" y="4937760"/>
              <a:ext cx="9448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自然语言抽取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维画像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51020" y="4937760"/>
              <a:ext cx="78486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Wiki 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与图谱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52310" y="4937760"/>
              <a:ext cx="7924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讲义、测验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代码与媒体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33610" y="4937760"/>
              <a:ext cx="6400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错题复习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路径更新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22922" y="6483191"/>
              <a:ext cx="11540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一句话价值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2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l="14310" r="14310"/>
            <a:stretch>
              <a:fillRect/>
            </a:stretch>
          </p:blipFill>
          <p:spPr>
            <a:xfrm>
              <a:off x="6667500" y="1095375"/>
              <a:ext cx="4953000" cy="390525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6572250" y="1000125"/>
              <a:ext cx="5143500" cy="4095750"/>
            </a:xfrm>
            <a:prstGeom prst="rect">
              <a:avLst/>
            </a:prstGeom>
            <a:solidFill>
              <a:srgbClr val="F5F4ED">
                <a:alpha val="38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8705250" cy="718184"/>
            <a:chOff x="501015" y="372428"/>
            <a:chExt cx="8705250" cy="71818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72428"/>
              <a:ext cx="87052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系统以 LLM Wiki 为中枢，用 LangGraph 编排学习任务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16292"/>
              <a:ext cx="56239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前端体验、Agent 编排、知识检索和数据沉淀被连接成一条工程链路。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" y="1381125"/>
            <a:ext cx="8191500" cy="4229100"/>
            <a:chOff x="666750" y="1381125"/>
            <a:chExt cx="8191500" cy="4229100"/>
          </a:xfrm>
        </p:grpSpPr>
        <p:grpSp>
          <p:nvGrpSpPr>
            <p:cNvPr id="15" name="Group 15"/>
            <p:cNvGrpSpPr/>
            <p:nvPr/>
          </p:nvGrpSpPr>
          <p:grpSpPr>
            <a:xfrm>
              <a:off x="666750" y="1381125"/>
              <a:ext cx="8191500" cy="685800"/>
              <a:chOff x="666750" y="1381125"/>
              <a:chExt cx="8191500" cy="6858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66750" y="1381125"/>
                <a:ext cx="8191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66750" y="1381125"/>
                <a:ext cx="8763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7402" y="1622108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体验层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88795" y="1479232"/>
                <a:ext cx="14049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Next.js 前端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94510" y="1794510"/>
                <a:ext cx="40629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聊天流、资源卡片、画像页、知识 Wiki、路径与教师视图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66750" y="2238375"/>
              <a:ext cx="8191500" cy="685800"/>
              <a:chOff x="666750" y="2238375"/>
              <a:chExt cx="8191500" cy="6858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238375"/>
                <a:ext cx="8191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66750" y="2238375"/>
                <a:ext cx="8763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37402" y="2479358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服务层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88795" y="2336482"/>
                <a:ext cx="152049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FastAPI + SSE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4510" y="2651760"/>
                <a:ext cx="41429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对话、资源、测验、路径、分析和导出 API，支持流式体验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66750" y="3095625"/>
              <a:ext cx="8191500" cy="742950"/>
              <a:chOff x="666750" y="3095625"/>
              <a:chExt cx="8191500" cy="7429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" y="3095625"/>
                <a:ext cx="81915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66750" y="3095625"/>
                <a:ext cx="8763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37402" y="3365182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编排层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88795" y="3203258"/>
                <a:ext cx="282580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LangGraph Orchestrator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94510" y="3528060"/>
                <a:ext cx="48150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Router、Profile、Planner 与专业 Agent 分工协作，记录节点状态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66750" y="4010025"/>
              <a:ext cx="8191500" cy="742950"/>
              <a:chOff x="666750" y="4010025"/>
              <a:chExt cx="8191500" cy="7429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6750" y="4010025"/>
                <a:ext cx="81915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66750" y="4010025"/>
                <a:ext cx="8763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37402" y="4279582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知识层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788795" y="4117658"/>
                <a:ext cx="1971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LLM Wiki 知识中枢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94510" y="4442460"/>
                <a:ext cx="38709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课程隔离、语义检索、知识图谱、可信来源与内容回写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6750" y="4924425"/>
              <a:ext cx="8191500" cy="685800"/>
              <a:chOff x="666750" y="4924425"/>
              <a:chExt cx="8191500" cy="685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66750" y="4924425"/>
                <a:ext cx="8191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66750" y="4924425"/>
                <a:ext cx="8763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37402" y="5165408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数据层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88795" y="502253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数据库、向量索引与资产存储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794510" y="5337810"/>
                <a:ext cx="46630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PostgreSQL/SQLite、Redis、MinIO 适配、本地资源与运行事件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9239250" y="1381125"/>
            <a:ext cx="2324862" cy="4229100"/>
            <a:chOff x="9239250" y="1381125"/>
            <a:chExt cx="2324862" cy="4229100"/>
          </a:xfrm>
        </p:grpSpPr>
        <p:sp>
          <p:nvSpPr>
            <p:cNvPr id="41" name="Rectangle 41"/>
            <p:cNvSpPr/>
            <p:nvPr/>
          </p:nvSpPr>
          <p:spPr>
            <a:xfrm>
              <a:off x="9239250" y="1381125"/>
              <a:ext cx="2266950" cy="4229100"/>
            </a:xfrm>
            <a:prstGeom prst="roundRect">
              <a:avLst>
                <a:gd name="adj" fmla="val 336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02140" y="16154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面向学习闭环输出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9525000" y="20002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FAF9F5">
                  <a:alpha val="35000"/>
                </a:srgbClr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591675" y="2330768"/>
              <a:ext cx="1553528" cy="274320"/>
              <a:chOff x="9591675" y="2330768"/>
              <a:chExt cx="1553528" cy="27432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9591675" y="2352675"/>
                <a:ext cx="133350" cy="13335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850755" y="233076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个性化资源生成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91675" y="2845118"/>
              <a:ext cx="1553528" cy="274320"/>
              <a:chOff x="9591675" y="2845118"/>
              <a:chExt cx="1553528" cy="274320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9591675" y="2867025"/>
                <a:ext cx="133350" cy="1333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850755" y="284511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可信引用与核对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91675" y="3359468"/>
              <a:ext cx="1373505" cy="274320"/>
              <a:chOff x="9591675" y="3359468"/>
              <a:chExt cx="1373505" cy="27432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9591675" y="3381375"/>
                <a:ext cx="133350" cy="13335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850755" y="3359468"/>
                <a:ext cx="11144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路径动态更新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591675" y="3873818"/>
              <a:ext cx="1373505" cy="274320"/>
              <a:chOff x="9591675" y="3873818"/>
              <a:chExt cx="1373505" cy="274320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9591675" y="3895725"/>
                <a:ext cx="133350" cy="13335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850755" y="3873818"/>
                <a:ext cx="11144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教师分析视图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6" name="Rectangle 56"/>
            <p:cNvSpPr/>
            <p:nvPr/>
          </p:nvSpPr>
          <p:spPr>
            <a:xfrm>
              <a:off x="9525000" y="4686300"/>
              <a:ext cx="1676400" cy="514350"/>
            </a:xfrm>
            <a:prstGeom prst="roundRect">
              <a:avLst>
                <a:gd name="adj" fmla="val 14815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65135" y="4872514"/>
              <a:ext cx="19961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可运行、可观测、可沉淀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9" name="TextBox 59"/>
            <p:cNvSpPr txBox="1"/>
            <p:nvPr/>
          </p:nvSpPr>
          <p:spPr>
            <a:xfrm>
              <a:off x="522922" y="648319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系统全景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667125" y="1285875"/>
              <a:ext cx="4857750" cy="4857750"/>
            </a:xfrm>
            <a:prstGeom prst="ellipse">
              <a:avLst/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429125" y="2047875"/>
              <a:ext cx="3333750" cy="333375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 w="9525">
              <a:solidFill>
                <a:srgbClr val="1565C0">
                  <a:alpha val="35000"/>
                </a:srgbClr>
              </a:solidFill>
              <a:custDash>
                <a:ds d="800000" sp="600000"/>
              </a:custDash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9508600" cy="718184"/>
            <a:chOff x="501015" y="372428"/>
            <a:chExt cx="9508600" cy="71818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72428"/>
              <a:ext cx="950860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前沿 AI 能力被拆成可控组件，而不是堆在一个大模型调用里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16292"/>
              <a:ext cx="65151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讯飞星火、RAG、知识图谱、多智能体、安全/TTS 与 image2 共同服务教学闭环。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81600" y="2800350"/>
            <a:ext cx="1828800" cy="1828800"/>
            <a:chOff x="5181600" y="2800350"/>
            <a:chExt cx="1828800" cy="1828800"/>
          </a:xfrm>
        </p:grpSpPr>
        <p:sp>
          <p:nvSpPr>
            <p:cNvPr id="10" name="Ellipse 10"/>
            <p:cNvSpPr/>
            <p:nvPr/>
          </p:nvSpPr>
          <p:spPr>
            <a:xfrm>
              <a:off x="5181600" y="2800350"/>
              <a:ext cx="1828800" cy="1828800"/>
            </a:xfrm>
            <a:prstGeom prst="ellipse">
              <a:avLst/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22449" y="3202305"/>
              <a:ext cx="13471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EduAgent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46478" y="3615214"/>
              <a:ext cx="12990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可控 AI 教学闭环</a:t>
              </a:r>
              <a:endParaRPr lang="zh-CN" sz="12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80025" y="3925252"/>
              <a:ext cx="163195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知识边界 + 任务分工 + 安全评估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14650" y="1780540"/>
            <a:ext cx="6362700" cy="3686810"/>
            <a:chOff x="2914650" y="1780540"/>
            <a:chExt cx="6362700" cy="3686810"/>
          </a:xfrm>
        </p:grpSpPr>
        <p:sp>
          <p:nvSpPr>
            <p:cNvPr id="15" name="Line 15"/>
            <p:cNvSpPr/>
            <p:nvPr/>
          </p:nvSpPr>
          <p:spPr>
            <a:xfrm>
              <a:off x="2914650" y="2000250"/>
              <a:ext cx="2420620" cy="1202055"/>
            </a:xfrm>
            <a:custGeom>
              <a:avLst/>
              <a:gdLst/>
              <a:ahLst/>
              <a:cxnLst/>
              <a:rect l="l" t="t" r="r" b="b"/>
              <a:pathLst>
                <a:path w="3181350" h="1714500">
                  <a:moveTo>
                    <a:pt x="3181350" y="1714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105525" y="1780540"/>
              <a:ext cx="76200" cy="101981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63715" y="2000250"/>
              <a:ext cx="2413635" cy="1201420"/>
            </a:xfrm>
            <a:custGeom>
              <a:avLst/>
              <a:gdLst/>
              <a:ahLst/>
              <a:cxnLst/>
              <a:rect l="l" t="t" r="r" b="b"/>
              <a:pathLst>
                <a:path w="3181350" h="1714500">
                  <a:moveTo>
                    <a:pt x="0" y="1714500"/>
                  </a:moveTo>
                  <a:lnTo>
                    <a:pt x="318135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2914650" y="4137660"/>
              <a:ext cx="2343150" cy="1082040"/>
            </a:xfrm>
            <a:custGeom>
              <a:avLst/>
              <a:gdLst/>
              <a:ahLst/>
              <a:cxnLst/>
              <a:rect l="l" t="t" r="r" b="b"/>
              <a:pathLst>
                <a:path w="3181350" h="1504950">
                  <a:moveTo>
                    <a:pt x="3181350" y="0"/>
                  </a:moveTo>
                  <a:lnTo>
                    <a:pt x="0" y="150495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19" name="Line 19"/>
            <p:cNvSpPr/>
            <p:nvPr/>
          </p:nvSpPr>
          <p:spPr>
            <a:xfrm flipH="1">
              <a:off x="6029325" y="4629785"/>
              <a:ext cx="76200" cy="837565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934835" y="4138295"/>
              <a:ext cx="2342515" cy="1081405"/>
            </a:xfrm>
            <a:custGeom>
              <a:avLst/>
              <a:gdLst/>
              <a:ahLst/>
              <a:cxnLst/>
              <a:rect l="l" t="t" r="r" b="b"/>
              <a:pathLst>
                <a:path w="3181350" h="1504950">
                  <a:moveTo>
                    <a:pt x="0" y="0"/>
                  </a:moveTo>
                  <a:lnTo>
                    <a:pt x="3181350" y="150495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7300" y="1466850"/>
            <a:ext cx="3314700" cy="1066800"/>
            <a:chOff x="1257300" y="1466850"/>
            <a:chExt cx="3314700" cy="1066800"/>
          </a:xfrm>
        </p:grpSpPr>
        <p:sp>
          <p:nvSpPr>
            <p:cNvPr id="22" name="Rectangle 22"/>
            <p:cNvSpPr/>
            <p:nvPr/>
          </p:nvSpPr>
          <p:spPr>
            <a:xfrm>
              <a:off x="1257300" y="14668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57300" y="14668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581150" y="1885950"/>
              <a:ext cx="476250" cy="571500"/>
            </a:xfrm>
            <a:custGeom>
              <a:avLst/>
              <a:gdLst/>
              <a:ahLst/>
              <a:cxnLst/>
              <a:rect l="l" t="t" r="r" b="b"/>
              <a:pathLst>
                <a:path w="476250" h="571500">
                  <a:moveTo>
                    <a:pt x="152400" y="0"/>
                  </a:moveTo>
                  <a:lnTo>
                    <a:pt x="361950" y="0"/>
                  </a:lnTo>
                  <a:lnTo>
                    <a:pt x="228600" y="285750"/>
                  </a:lnTo>
                  <a:lnTo>
                    <a:pt x="476250" y="285750"/>
                  </a:lnTo>
                  <a:lnTo>
                    <a:pt x="76200" y="571500"/>
                  </a:lnTo>
                  <a:lnTo>
                    <a:pt x="20955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C9644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45995" y="1669732"/>
              <a:ext cx="1462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讯飞星火 LLM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51710" y="2013585"/>
              <a:ext cx="18592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主推理与教学表达生成，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开发模式支持可回退内容。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38650" y="1276350"/>
            <a:ext cx="3314700" cy="1066800"/>
            <a:chOff x="4438650" y="1276350"/>
            <a:chExt cx="3314700" cy="1066800"/>
          </a:xfrm>
        </p:grpSpPr>
        <p:sp>
          <p:nvSpPr>
            <p:cNvPr id="28" name="Rectangle 28"/>
            <p:cNvSpPr/>
            <p:nvPr/>
          </p:nvSpPr>
          <p:spPr>
            <a:xfrm>
              <a:off x="4438650" y="12763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38650" y="12763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743450" y="1581150"/>
              <a:ext cx="457200" cy="457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838700" y="1676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133350"/>
                  </a:lnTo>
                  <a:moveTo>
                    <a:pt x="133350" y="0"/>
                  </a:moveTo>
                  <a:lnTo>
                    <a:pt x="133350" y="266700"/>
                  </a:lnTo>
                  <a:moveTo>
                    <a:pt x="38100" y="38100"/>
                  </a:moveTo>
                  <a:lnTo>
                    <a:pt x="228600" y="228600"/>
                  </a:lnTo>
                  <a:moveTo>
                    <a:pt x="228600" y="38100"/>
                  </a:moveTo>
                  <a:lnTo>
                    <a:pt x="38100" y="2286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65C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46395" y="1479232"/>
              <a:ext cx="14165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RAG 语义检索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52110" y="1823085"/>
              <a:ext cx="15544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先检索课程材料，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再限制生成事实边界。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0" y="1466850"/>
            <a:ext cx="3314700" cy="1066800"/>
            <a:chOff x="7620000" y="1466850"/>
            <a:chExt cx="3314700" cy="1066800"/>
          </a:xfrm>
        </p:grpSpPr>
        <p:sp>
          <p:nvSpPr>
            <p:cNvPr id="35" name="Rectangle 35"/>
            <p:cNvSpPr/>
            <p:nvPr/>
          </p:nvSpPr>
          <p:spPr>
            <a:xfrm>
              <a:off x="7620000" y="14668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0" y="14668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039100" y="1752600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43900" y="1962150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020050" y="2190750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8172450" y="1866900"/>
              <a:ext cx="171450" cy="123825"/>
            </a:xfrm>
            <a:custGeom>
              <a:avLst/>
              <a:gdLst/>
              <a:ahLst/>
              <a:cxnLst/>
              <a:rect l="l" t="t" r="r" b="b"/>
              <a:pathLst>
                <a:path w="171450" h="123825">
                  <a:moveTo>
                    <a:pt x="0" y="0"/>
                  </a:moveTo>
                  <a:lnTo>
                    <a:pt x="171450" y="123825"/>
                  </a:lnTo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172450" y="2085975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190500" y="0"/>
                  </a:moveTo>
                  <a:lnTo>
                    <a:pt x="0" y="142875"/>
                  </a:lnTo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42045" y="16697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知识图谱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47760" y="2013585"/>
              <a:ext cx="17068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课程前置关系、关联概念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和路径节点可计算。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57300" y="4686300"/>
            <a:ext cx="3314700" cy="1066800"/>
            <a:chOff x="1257300" y="4686300"/>
            <a:chExt cx="3314700" cy="1066800"/>
          </a:xfrm>
        </p:grpSpPr>
        <p:sp>
          <p:nvSpPr>
            <p:cNvPr id="45" name="Rectangle 45"/>
            <p:cNvSpPr/>
            <p:nvPr/>
          </p:nvSpPr>
          <p:spPr>
            <a:xfrm>
              <a:off x="1257300" y="468630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257300" y="468630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543050" y="4972050"/>
              <a:ext cx="495300" cy="4953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657350" y="5067300"/>
              <a:ext cx="266700" cy="2286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rgbClr val="1565C0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704975" y="51530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819275" y="51530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45995" y="48891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多智能体分工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51710" y="5233035"/>
              <a:ext cx="211836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Router、Planner、Doc、Quiz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等节点按任务协同。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38650" y="5086350"/>
            <a:ext cx="3314700" cy="1066800"/>
            <a:chOff x="4438650" y="5086350"/>
            <a:chExt cx="3314700" cy="1066800"/>
          </a:xfrm>
        </p:grpSpPr>
        <p:sp>
          <p:nvSpPr>
            <p:cNvPr id="54" name="Rectangle 54"/>
            <p:cNvSpPr/>
            <p:nvPr/>
          </p:nvSpPr>
          <p:spPr>
            <a:xfrm>
              <a:off x="4438650" y="50863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438650" y="50863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C4A35A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4686300" y="5314950"/>
              <a:ext cx="571500" cy="685800"/>
            </a:xfrm>
            <a:custGeom>
              <a:avLst/>
              <a:gdLst/>
              <a:ahLst/>
              <a:cxnLst/>
              <a:rect l="l" t="t" r="r" b="b"/>
              <a:pathLst>
                <a:path w="571500" h="685800">
                  <a:moveTo>
                    <a:pt x="285750" y="0"/>
                  </a:moveTo>
                  <a:lnTo>
                    <a:pt x="571500" y="95250"/>
                  </a:lnTo>
                  <a:lnTo>
                    <a:pt x="571500" y="304800"/>
                  </a:lnTo>
                  <a:cubicBezTo>
                    <a:pt x="571500" y="514350"/>
                    <a:pt x="409575" y="628650"/>
                    <a:pt x="285750" y="685800"/>
                  </a:cubicBezTo>
                  <a:cubicBezTo>
                    <a:pt x="161925" y="628650"/>
                    <a:pt x="0" y="514350"/>
                    <a:pt x="0" y="304800"/>
                  </a:cubicBezTo>
                  <a:lnTo>
                    <a:pt x="0" y="95250"/>
                  </a:lnTo>
                  <a:close/>
                </a:path>
              </a:pathLst>
            </a:custGeom>
            <a:noFill/>
            <a:ln w="28575">
              <a:solidFill>
                <a:srgbClr val="C4A35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4838700" y="5505450"/>
              <a:ext cx="285750" cy="219075"/>
            </a:xfrm>
            <a:custGeom>
              <a:avLst/>
              <a:gdLst/>
              <a:ahLst/>
              <a:cxnLst/>
              <a:rect l="l" t="t" r="r" b="b"/>
              <a:pathLst>
                <a:path w="285750" h="219075">
                  <a:moveTo>
                    <a:pt x="0" y="123825"/>
                  </a:moveTo>
                  <a:lnTo>
                    <a:pt x="95250" y="219075"/>
                  </a:ln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C4A35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46395" y="5289232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安全护栏 + TTS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452110" y="5633085"/>
              <a:ext cx="15544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内容风险过滤，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并扩展语音学习体验。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0" y="4686300"/>
            <a:ext cx="3314700" cy="1066800"/>
            <a:chOff x="7620000" y="4686300"/>
            <a:chExt cx="3314700" cy="1066800"/>
          </a:xfrm>
        </p:grpSpPr>
        <p:sp>
          <p:nvSpPr>
            <p:cNvPr id="61" name="Rectangle 61"/>
            <p:cNvSpPr/>
            <p:nvPr/>
          </p:nvSpPr>
          <p:spPr>
            <a:xfrm>
              <a:off x="7620000" y="468630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0" y="468630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924800" y="5010150"/>
              <a:ext cx="495300" cy="400050"/>
            </a:xfrm>
            <a:prstGeom prst="roundRect">
              <a:avLst>
                <a:gd name="adj" fmla="val 19048"/>
              </a:avLst>
            </a:prstGeom>
            <a:noFill/>
            <a:ln w="28575">
              <a:solidFill>
                <a:srgbClr val="B07D62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020050" y="5086350"/>
              <a:ext cx="114300" cy="114300"/>
            </a:xfrm>
            <a:prstGeom prst="ellipse">
              <a:avLst/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962900" y="5162550"/>
              <a:ext cx="438150" cy="247650"/>
            </a:xfrm>
            <a:custGeom>
              <a:avLst/>
              <a:gdLst/>
              <a:ahLst/>
              <a:cxnLst/>
              <a:rect l="l" t="t" r="r" b="b"/>
              <a:pathLst>
                <a:path w="438150" h="247650">
                  <a:moveTo>
                    <a:pt x="0" y="190500"/>
                  </a:moveTo>
                  <a:lnTo>
                    <a:pt x="152400" y="57150"/>
                  </a:lnTo>
                  <a:lnTo>
                    <a:pt x="266700" y="152400"/>
                  </a:lnTo>
                  <a:lnTo>
                    <a:pt x="381000" y="0"/>
                  </a:lnTo>
                  <a:lnTo>
                    <a:pt x="4381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B07D62">
                <a:alpha val="24000"/>
              </a:srgbClr>
            </a:solidFill>
            <a:ln w="19050">
              <a:solidFill>
                <a:srgbClr val="B07D6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742045" y="4889182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image2 多模态视觉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47760" y="5233035"/>
              <a:ext cx="15544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生成教学视觉资产，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正文标签保持可编辑。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9" name="TextBox 69"/>
            <p:cNvSpPr txBox="1"/>
            <p:nvPr/>
          </p:nvSpPr>
          <p:spPr>
            <a:xfrm>
              <a:off x="522922" y="6483191"/>
              <a:ext cx="12036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前沿 AI 融合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  <p:bldP spid="34" grpId="0"/>
      <p:bldP spid="44" grpId="0"/>
      <p:bldP spid="53" grpId="0"/>
      <p:bldP spid="60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401762" cy="718184"/>
            <a:chOff x="501015" y="372428"/>
            <a:chExt cx="8401762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4017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多 Agent 不是概念展示，而是一次请求中的真实分工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9480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Router 识别意图，Planner 拆解任务，专业 Agent 并行产出并记录状态。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276350"/>
            <a:ext cx="6896100" cy="4667250"/>
            <a:chOff x="533400" y="1276350"/>
            <a:chExt cx="6896100" cy="4667250"/>
          </a:xfrm>
        </p:grpSpPr>
        <p:sp>
          <p:nvSpPr>
            <p:cNvPr id="8" name="Rectangle 8"/>
            <p:cNvSpPr/>
            <p:nvPr/>
          </p:nvSpPr>
          <p:spPr>
            <a:xfrm>
              <a:off x="533400" y="1276350"/>
              <a:ext cx="6896100" cy="4667250"/>
            </a:xfrm>
            <a:prstGeom prst="roundRect">
              <a:avLst>
                <a:gd name="adj" fmla="val 16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l="7356" r="7356"/>
            <a:stretch>
              <a:fillRect/>
            </a:stretch>
          </p:blipFill>
          <p:spPr>
            <a:xfrm>
              <a:off x="704850" y="1447800"/>
              <a:ext cx="6553200" cy="43243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04850" y="1447800"/>
              <a:ext cx="6553200" cy="4324350"/>
            </a:xfrm>
            <a:prstGeom prst="rect">
              <a:avLst/>
            </a:prstGeom>
            <a:solidFill>
              <a:srgbClr val="F5F4ED">
                <a:alpha val="16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76600" y="2914650"/>
              <a:ext cx="1409700" cy="1409700"/>
            </a:xfrm>
            <a:prstGeom prst="ellipse">
              <a:avLst/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01683" y="3329940"/>
              <a:ext cx="17595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Orchestrator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48335" y="3707606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LangGraph 状态图</a:t>
              </a:r>
              <a:endParaRPr lang="zh-CN" sz="112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9650" y="1562100"/>
            <a:ext cx="5924550" cy="4057650"/>
            <a:chOff x="1009650" y="1562100"/>
            <a:chExt cx="5924550" cy="4057650"/>
          </a:xfrm>
        </p:grpSpPr>
        <p:sp>
          <p:nvSpPr>
            <p:cNvPr id="15" name="Rectangle 15"/>
            <p:cNvSpPr/>
            <p:nvPr/>
          </p:nvSpPr>
          <p:spPr>
            <a:xfrm>
              <a:off x="3143250" y="1562100"/>
              <a:ext cx="1676400" cy="419100"/>
            </a:xfrm>
            <a:prstGeom prst="roundRect">
              <a:avLst>
                <a:gd name="adj" fmla="val 18182"/>
              </a:avLst>
            </a:prstGeom>
            <a:solidFill>
              <a:srgbClr val="FAF9F5"/>
            </a:solidFill>
            <a:ln w="19050">
              <a:solidFill>
                <a:srgbClr val="1565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46015" y="1683068"/>
              <a:ext cx="1470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Router 意图路由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2400300"/>
              <a:ext cx="1695450" cy="419100"/>
            </a:xfrm>
            <a:prstGeom prst="roundRect">
              <a:avLst>
                <a:gd name="adj" fmla="val 18182"/>
              </a:avLst>
            </a:prstGeom>
            <a:solidFill>
              <a:srgbClr val="FAF9F5"/>
            </a:solidFill>
            <a:ln w="19050">
              <a:solidFill>
                <a:srgbClr val="6B8E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9588" y="2521268"/>
              <a:ext cx="1102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Profile 画像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05400" y="2400300"/>
              <a:ext cx="1695450" cy="419100"/>
            </a:xfrm>
            <a:prstGeom prst="roundRect">
              <a:avLst>
                <a:gd name="adj" fmla="val 18182"/>
              </a:avLst>
            </a:prstGeom>
            <a:solidFill>
              <a:srgbClr val="FAF9F5"/>
            </a:solidFill>
            <a:ln w="19050">
              <a:solidFill>
                <a:srgbClr val="C9644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78360" y="252126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Planner 规划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09650" y="3905250"/>
              <a:ext cx="15049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B07D6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93351" y="4024789"/>
              <a:ext cx="7375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 讲义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429250" y="3905250"/>
              <a:ext cx="15049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B07D6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8320" y="4024789"/>
              <a:ext cx="8268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Quiz 题目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524000" y="4681855"/>
              <a:ext cx="14287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20507" y="4772184"/>
              <a:ext cx="8357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 实践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257550" y="5219700"/>
              <a:ext cx="144780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6B8E6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18952" y="53392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Media 媒体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010150" y="4679315"/>
              <a:ext cx="14287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C9644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6929" y="4772184"/>
              <a:ext cx="933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Tutor 辅导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810500" y="1276350"/>
            <a:ext cx="3848100" cy="4667250"/>
            <a:chOff x="7810500" y="1276350"/>
            <a:chExt cx="3848100" cy="4667250"/>
          </a:xfrm>
        </p:grpSpPr>
        <p:sp>
          <p:nvSpPr>
            <p:cNvPr id="32" name="Rectangle 32"/>
            <p:cNvSpPr/>
            <p:nvPr/>
          </p:nvSpPr>
          <p:spPr>
            <a:xfrm>
              <a:off x="7810500" y="1276350"/>
              <a:ext cx="3848100" cy="4667250"/>
            </a:xfrm>
            <a:prstGeom prst="roundRect">
              <a:avLst>
                <a:gd name="adj" fmla="val 198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90535" y="152304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一次请求内的协作链路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8134350" y="2064068"/>
              <a:ext cx="3488054" cy="500538"/>
              <a:chOff x="8134350" y="2064068"/>
              <a:chExt cx="3488054" cy="50053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8134350" y="20764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244354" y="21850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50605" y="2064068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识别意图与学生上下文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653462" y="2336006"/>
                <a:ext cx="29689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Router 判断是问答、资源、测验还是路径。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134350" y="2845118"/>
              <a:ext cx="3375540" cy="500538"/>
              <a:chOff x="8134350" y="2845118"/>
              <a:chExt cx="3375540" cy="500538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8134350" y="2857500"/>
                <a:ext cx="342900" cy="3429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244354" y="29660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50605" y="284511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更新画像与拆解任务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53462" y="3117056"/>
                <a:ext cx="28564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Profile 与 Planner 把需求转成资源计划。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134350" y="3626168"/>
              <a:ext cx="3398043" cy="500538"/>
              <a:chOff x="8134350" y="3626168"/>
              <a:chExt cx="3398043" cy="500538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8134350" y="3638550"/>
                <a:ext cx="342900" cy="3429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244354" y="3747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650605" y="3626168"/>
                <a:ext cx="1801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专业 Agent 并行产出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53462" y="3898106"/>
                <a:ext cx="2878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讲义、题目、代码、媒体和视频分别生成。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134350" y="4407218"/>
              <a:ext cx="3398043" cy="500538"/>
              <a:chOff x="8134350" y="4407218"/>
              <a:chExt cx="3398043" cy="500538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134350" y="4419600"/>
                <a:ext cx="342900" cy="34290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244354" y="45281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650605" y="4407218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记录状态与可观测事件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53462" y="4679156"/>
                <a:ext cx="2878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每个节点保留耗时、输入、输出和置信度。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4" name="Rectangle 54"/>
            <p:cNvSpPr/>
            <p:nvPr/>
          </p:nvSpPr>
          <p:spPr>
            <a:xfrm>
              <a:off x="8115300" y="5257800"/>
              <a:ext cx="316230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95034" y="538686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价值：分工明确，失败可定位，资源可重生成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7" name="TextBox 57"/>
            <p:cNvSpPr txBox="1"/>
            <p:nvPr/>
          </p:nvSpPr>
          <p:spPr>
            <a:xfrm>
              <a:off x="522922" y="6483191"/>
              <a:ext cx="13026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多 Agent 协同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7330628" cy="718184"/>
            <a:chOff x="501015" y="372428"/>
            <a:chExt cx="7330628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733062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LLM Wiki 让生成内容有边界、有来源、可沉淀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65691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 Agent 共享课程图谱、RAG 检索和内容回写机制，降低幻觉并积累知识资产。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14450"/>
            <a:ext cx="6572250" cy="4457700"/>
            <a:chOff x="533400" y="1314450"/>
            <a:chExt cx="6572250" cy="4457700"/>
          </a:xfrm>
        </p:grpSpPr>
        <p:sp>
          <p:nvSpPr>
            <p:cNvPr id="8" name="Rectangle 8"/>
            <p:cNvSpPr/>
            <p:nvPr/>
          </p:nvSpPr>
          <p:spPr>
            <a:xfrm>
              <a:off x="533400" y="1314450"/>
              <a:ext cx="6572250" cy="4457700"/>
            </a:xfrm>
            <a:prstGeom prst="roundRect">
              <a:avLst>
                <a:gd name="adj" fmla="val 1709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t="2162" b="2162"/>
            <a:stretch>
              <a:fillRect/>
            </a:stretch>
          </p:blipFill>
          <p:spPr>
            <a:xfrm>
              <a:off x="723900" y="1504950"/>
              <a:ext cx="6191250" cy="3333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23900" y="1504950"/>
              <a:ext cx="6191250" cy="3333750"/>
            </a:xfrm>
            <a:prstGeom prst="rect">
              <a:avLst/>
            </a:prstGeom>
            <a:solidFill>
              <a:srgbClr val="F5F4ED">
                <a:alpha val="10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5048250"/>
              <a:ext cx="180975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05616" y="51773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课程知识图谱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28950" y="5048250"/>
              <a:ext cx="180975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82066" y="51773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向量检索片段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105400" y="5048250"/>
              <a:ext cx="158115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22738" y="51773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可信引用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86650" y="1314450"/>
            <a:ext cx="4171950" cy="4457700"/>
            <a:chOff x="7486650" y="1314450"/>
            <a:chExt cx="4171950" cy="4457700"/>
          </a:xfrm>
        </p:grpSpPr>
        <p:sp>
          <p:nvSpPr>
            <p:cNvPr id="18" name="Rectangle 18"/>
            <p:cNvSpPr/>
            <p:nvPr/>
          </p:nvSpPr>
          <p:spPr>
            <a:xfrm>
              <a:off x="7486650" y="1314450"/>
              <a:ext cx="4171950" cy="4457700"/>
            </a:xfrm>
            <a:prstGeom prst="roundRect">
              <a:avLst>
                <a:gd name="adj" fmla="val 1826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85735" y="154209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四个机制保证可信生成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810500" y="2095500"/>
              <a:ext cx="3524250" cy="628650"/>
              <a:chOff x="7810500" y="2095500"/>
              <a:chExt cx="3524250" cy="6286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810500" y="20955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962900" y="2276475"/>
                <a:ext cx="266700" cy="2667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42485" y="23536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64855" y="22164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课程隔离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67712" y="246935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不同课程模板、资料和图谱独立管理。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10500" y="2895600"/>
              <a:ext cx="3524250" cy="628650"/>
              <a:chOff x="7810500" y="2895600"/>
              <a:chExt cx="3524250" cy="6286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10500" y="28956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7962900" y="3076575"/>
                <a:ext cx="266700" cy="2667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42485" y="31537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64855" y="30165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语义检索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67712" y="3269456"/>
                <a:ext cx="263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先检索课程片段，再交给 Agent 生成。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810500" y="3695700"/>
              <a:ext cx="3691175" cy="628650"/>
              <a:chOff x="7810500" y="3695700"/>
              <a:chExt cx="3691175" cy="6286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810500" y="36957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962900" y="3876675"/>
                <a:ext cx="266700" cy="2667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042485" y="39538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64855" y="38166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来源片段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7712" y="4069556"/>
                <a:ext cx="313396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资源携带 sources、confidence 和核对入口。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810500" y="4495800"/>
              <a:ext cx="3524250" cy="628650"/>
              <a:chOff x="7810500" y="4495800"/>
              <a:chExt cx="3524250" cy="6286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810500" y="44958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962900" y="4676775"/>
                <a:ext cx="266700" cy="26670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042485" y="47539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64855" y="46167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内容回写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67712" y="486965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高质量资源沉淀为后续可复用资产。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4" name="Rectangle 44"/>
            <p:cNvSpPr/>
            <p:nvPr/>
          </p:nvSpPr>
          <p:spPr>
            <a:xfrm>
              <a:off x="7810500" y="53149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9098" y="53921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生成不是凭空回答，而是在统一知识底座上协同。</a:t>
              </a:r>
              <a:endPara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483191"/>
              <a:ext cx="15226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LLM Wiki 知识中枢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276796" cy="718184"/>
            <a:chOff x="501015" y="372428"/>
            <a:chExt cx="8276796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2767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学生画像从对话中生成，并驱动后续每一次资源编排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4079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维画像把个体差异转成可执行的内容深度、题目难度和路径节奏。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1257300"/>
            <a:ext cx="6286500" cy="4686300"/>
            <a:chOff x="533400" y="1257300"/>
            <a:chExt cx="6286500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6286500" cy="4686300"/>
            </a:xfrm>
            <a:prstGeom prst="roundRect">
              <a:avLst>
                <a:gd name="adj" fmla="val 1626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981200" y="1981200"/>
              <a:ext cx="3390900" cy="3390900"/>
              <a:chOff x="1981200" y="1981200"/>
              <a:chExt cx="3390900" cy="3390900"/>
            </a:xfrm>
          </p:grpSpPr>
          <p:sp>
            <p:nvSpPr>
              <p:cNvPr id="9" name="Polygon 9"/>
              <p:cNvSpPr/>
              <p:nvPr/>
            </p:nvSpPr>
            <p:spPr>
              <a:xfrm>
                <a:off x="1981200" y="1981200"/>
                <a:ext cx="3390900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390900">
                    <a:moveTo>
                      <a:pt x="1695450" y="0"/>
                    </a:moveTo>
                    <a:lnTo>
                      <a:pt x="2895600" y="495300"/>
                    </a:lnTo>
                    <a:lnTo>
                      <a:pt x="3390900" y="1695450"/>
                    </a:lnTo>
                    <a:lnTo>
                      <a:pt x="2895600" y="2895600"/>
                    </a:lnTo>
                    <a:lnTo>
                      <a:pt x="1695450" y="3390900"/>
                    </a:lnTo>
                    <a:lnTo>
                      <a:pt x="495300" y="2895600"/>
                    </a:lnTo>
                    <a:lnTo>
                      <a:pt x="0" y="1695450"/>
                    </a:lnTo>
                    <a:lnTo>
                      <a:pt x="495300" y="495300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0" name="Polygon 10"/>
              <p:cNvSpPr/>
              <p:nvPr/>
            </p:nvSpPr>
            <p:spPr>
              <a:xfrm>
                <a:off x="2324100" y="2324100"/>
                <a:ext cx="2705100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2705100" h="2705100">
                    <a:moveTo>
                      <a:pt x="1352550" y="0"/>
                    </a:moveTo>
                    <a:lnTo>
                      <a:pt x="2314575" y="390525"/>
                    </a:lnTo>
                    <a:lnTo>
                      <a:pt x="2705100" y="1352550"/>
                    </a:lnTo>
                    <a:lnTo>
                      <a:pt x="2314575" y="2314575"/>
                    </a:lnTo>
                    <a:lnTo>
                      <a:pt x="1352550" y="2705100"/>
                    </a:lnTo>
                    <a:lnTo>
                      <a:pt x="390525" y="2314575"/>
                    </a:lnTo>
                    <a:lnTo>
                      <a:pt x="0" y="1352550"/>
                    </a:lnTo>
                    <a:lnTo>
                      <a:pt x="390525" y="390525"/>
                    </a:lnTo>
                    <a:close/>
                  </a:path>
                </a:pathLst>
              </a:custGeom>
              <a:solidFill>
                <a:srgbClr val="F5F4ED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1" name="Polygon 11"/>
              <p:cNvSpPr/>
              <p:nvPr/>
            </p:nvSpPr>
            <p:spPr>
              <a:xfrm>
                <a:off x="2657475" y="2657475"/>
                <a:ext cx="20383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038350" h="2038350">
                    <a:moveTo>
                      <a:pt x="1019175" y="0"/>
                    </a:moveTo>
                    <a:lnTo>
                      <a:pt x="1743075" y="295275"/>
                    </a:lnTo>
                    <a:lnTo>
                      <a:pt x="2038350" y="1019175"/>
                    </a:lnTo>
                    <a:lnTo>
                      <a:pt x="1743075" y="1743075"/>
                    </a:lnTo>
                    <a:lnTo>
                      <a:pt x="1019175" y="2038350"/>
                    </a:lnTo>
                    <a:lnTo>
                      <a:pt x="295275" y="1743075"/>
                    </a:lnTo>
                    <a:lnTo>
                      <a:pt x="0" y="1019175"/>
                    </a:lnTo>
                    <a:lnTo>
                      <a:pt x="295275" y="2952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2" name="Polygon 12"/>
              <p:cNvSpPr/>
              <p:nvPr/>
            </p:nvSpPr>
            <p:spPr>
              <a:xfrm>
                <a:off x="3000375" y="3000375"/>
                <a:ext cx="1352550" cy="13525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1352550">
                    <a:moveTo>
                      <a:pt x="676275" y="0"/>
                    </a:moveTo>
                    <a:lnTo>
                      <a:pt x="1152525" y="200025"/>
                    </a:lnTo>
                    <a:lnTo>
                      <a:pt x="1352550" y="676275"/>
                    </a:lnTo>
                    <a:lnTo>
                      <a:pt x="1152525" y="1152525"/>
                    </a:lnTo>
                    <a:lnTo>
                      <a:pt x="676275" y="1352550"/>
                    </a:lnTo>
                    <a:lnTo>
                      <a:pt x="200025" y="1152525"/>
                    </a:lnTo>
                    <a:lnTo>
                      <a:pt x="0" y="676275"/>
                    </a:lnTo>
                    <a:lnTo>
                      <a:pt x="200025" y="200025"/>
                    </a:lnTo>
                    <a:close/>
                  </a:path>
                </a:pathLst>
              </a:custGeom>
              <a:solidFill>
                <a:srgbClr val="F5F4ED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3" name="Polygon 13"/>
              <p:cNvSpPr/>
              <p:nvPr/>
            </p:nvSpPr>
            <p:spPr>
              <a:xfrm>
                <a:off x="3333750" y="3333750"/>
                <a:ext cx="6858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685800">
                    <a:moveTo>
                      <a:pt x="342900" y="0"/>
                    </a:moveTo>
                    <a:lnTo>
                      <a:pt x="581025" y="104775"/>
                    </a:lnTo>
                    <a:lnTo>
                      <a:pt x="685800" y="342900"/>
                    </a:lnTo>
                    <a:lnTo>
                      <a:pt x="581025" y="581025"/>
                    </a:lnTo>
                    <a:lnTo>
                      <a:pt x="342900" y="685800"/>
                    </a:lnTo>
                    <a:lnTo>
                      <a:pt x="104775" y="581025"/>
                    </a:lnTo>
                    <a:lnTo>
                      <a:pt x="0" y="342900"/>
                    </a:lnTo>
                    <a:lnTo>
                      <a:pt x="104775" y="1047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676650" y="1981200"/>
                <a:ext cx="9525" cy="1695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95450">
                    <a:moveTo>
                      <a:pt x="0" y="1695450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676650" y="247650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0" y="1200150"/>
                    </a:moveTo>
                    <a:lnTo>
                      <a:pt x="120015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676650" y="3676650"/>
                <a:ext cx="1695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95450" h="9525">
                    <a:moveTo>
                      <a:pt x="0" y="0"/>
                    </a:moveTo>
                    <a:lnTo>
                      <a:pt x="169545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676650" y="367665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0" y="0"/>
                    </a:moveTo>
                    <a:lnTo>
                      <a:pt x="1200150" y="120015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3676650" y="3676650"/>
                <a:ext cx="9525" cy="1695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95450">
                    <a:moveTo>
                      <a:pt x="0" y="0"/>
                    </a:moveTo>
                    <a:lnTo>
                      <a:pt x="0" y="169545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476500" y="367665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1200150" y="0"/>
                    </a:moveTo>
                    <a:lnTo>
                      <a:pt x="0" y="120015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981200" y="3676650"/>
                <a:ext cx="1695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95450" h="9525">
                    <a:moveTo>
                      <a:pt x="16954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2476500" y="247650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1200150" y="1200150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2276475" y="2105025"/>
              <a:ext cx="2971800" cy="2800350"/>
              <a:chOff x="2276475" y="2105025"/>
              <a:chExt cx="2971800" cy="2800350"/>
            </a:xfrm>
          </p:grpSpPr>
          <p:sp>
            <p:nvSpPr>
              <p:cNvPr id="23" name="Polygon 23"/>
              <p:cNvSpPr/>
              <p:nvPr/>
            </p:nvSpPr>
            <p:spPr>
              <a:xfrm>
                <a:off x="2324100" y="2152650"/>
                <a:ext cx="2876550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2876550" h="2705100">
                    <a:moveTo>
                      <a:pt x="1352550" y="0"/>
                    </a:moveTo>
                    <a:lnTo>
                      <a:pt x="2305050" y="571500"/>
                    </a:lnTo>
                    <a:lnTo>
                      <a:pt x="2876550" y="1524000"/>
                    </a:lnTo>
                    <a:lnTo>
                      <a:pt x="2238375" y="2409825"/>
                    </a:lnTo>
                    <a:lnTo>
                      <a:pt x="1352550" y="2705100"/>
                    </a:lnTo>
                    <a:lnTo>
                      <a:pt x="361950" y="2514600"/>
                    </a:lnTo>
                    <a:lnTo>
                      <a:pt x="0" y="1524000"/>
                    </a:lnTo>
                    <a:lnTo>
                      <a:pt x="285750" y="457200"/>
                    </a:lnTo>
                    <a:close/>
                  </a:path>
                </a:pathLst>
              </a:custGeom>
              <a:solidFill>
                <a:srgbClr val="C96442">
                  <a:alpha val="22000"/>
                </a:srgbClr>
              </a:solidFill>
              <a:ln w="38100">
                <a:solidFill>
                  <a:srgbClr val="C96442"/>
                </a:solidFill>
                <a:round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629025" y="21050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4581525" y="26765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153025" y="36290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514850" y="45148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3629025" y="48101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638425" y="4619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2276475" y="36290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562225" y="25622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051560" y="1680210"/>
              <a:ext cx="5160264" cy="4091940"/>
              <a:chOff x="1051560" y="1680210"/>
              <a:chExt cx="5160264" cy="409194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3325368" y="1680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知识基础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090160" y="22326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认知风格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09260" y="3604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学习目标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052060" y="4937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易错点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325368" y="5528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学习节奏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870710" y="49377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兴趣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51560" y="3604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编程能力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546860" y="22326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时间投入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7239000" y="1257300"/>
            <a:ext cx="4419600" cy="4686300"/>
            <a:chOff x="7239000" y="1257300"/>
            <a:chExt cx="4419600" cy="4686300"/>
          </a:xfrm>
        </p:grpSpPr>
        <p:sp>
          <p:nvSpPr>
            <p:cNvPr id="43" name="Rectangle 43"/>
            <p:cNvSpPr/>
            <p:nvPr/>
          </p:nvSpPr>
          <p:spPr>
            <a:xfrm>
              <a:off x="7239000" y="1257300"/>
              <a:ext cx="4419600" cy="4686300"/>
            </a:xfrm>
            <a:prstGeom prst="roundRect">
              <a:avLst>
                <a:gd name="adj" fmla="val 1724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38085" y="1503998"/>
              <a:ext cx="250683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画像如何驱动个性化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562850" y="2076450"/>
              <a:ext cx="3676650" cy="723900"/>
              <a:chOff x="7562850" y="2076450"/>
              <a:chExt cx="3676650" cy="7239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562850" y="20764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7562850" y="20764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849552" y="22274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讲解深度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853362" y="2507456"/>
                <a:ext cx="31789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基础弱先补前置概念，目标强则加入高阶拓展。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562850" y="2990850"/>
              <a:ext cx="3676650" cy="723900"/>
              <a:chOff x="7562850" y="2990850"/>
              <a:chExt cx="3676650" cy="7239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562850" y="29908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7562850" y="29908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849552" y="31418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题目难度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853362" y="342185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根据易错点、目标和节奏调整测验结构。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562850" y="3905250"/>
              <a:ext cx="3676650" cy="723900"/>
              <a:chOff x="7562850" y="3905250"/>
              <a:chExt cx="3676650" cy="7239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562850" y="39052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562850" y="39052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849552" y="40562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资源形式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53362" y="4336256"/>
                <a:ext cx="289393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偏视觉给导图/动画，偏实践给代码/实验。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562850" y="4819650"/>
              <a:ext cx="3676650" cy="723900"/>
              <a:chOff x="7562850" y="4819650"/>
              <a:chExt cx="3676650" cy="7239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7562850" y="48196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7562850" y="48196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849552" y="49706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路径节奏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53362" y="52506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结合每周学习时间和测验结果推进节点状态。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22922" y="6483191"/>
              <a:ext cx="12476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8 维学习画像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9347930" cy="718184"/>
            <a:chOff x="501015" y="372428"/>
            <a:chExt cx="9347930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同一学习目标可以生成一组互补资源，而不是一段孤立文本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4201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至少 8 类资源覆盖理解、练习、实践、展示和拓展。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257300"/>
            <a:ext cx="11125200" cy="3143250"/>
            <a:chOff x="533400" y="1257300"/>
            <a:chExt cx="11125200" cy="314325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11125200" cy="3143250"/>
            </a:xfrm>
            <a:prstGeom prst="roundRect">
              <a:avLst>
                <a:gd name="adj" fmla="val 2424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t="27160" b="27160"/>
            <a:stretch>
              <a:fillRect/>
            </a:stretch>
          </p:blipFill>
          <p:spPr>
            <a:xfrm>
              <a:off x="723900" y="1447800"/>
              <a:ext cx="10744200" cy="27622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23900" y="1447800"/>
              <a:ext cx="10744200" cy="2762250"/>
            </a:xfrm>
            <a:prstGeom prst="rect">
              <a:avLst/>
            </a:prstGeom>
            <a:solidFill>
              <a:srgbClr val="F5F4ED">
                <a:alpha val="12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8200" y="1600200"/>
              <a:ext cx="3886200" cy="571500"/>
            </a:xfrm>
            <a:prstGeom prst="roundRect">
              <a:avLst>
                <a:gd name="adj" fmla="val 13333"/>
              </a:avLst>
            </a:prstGeom>
            <a:solidFill>
              <a:srgbClr val="F5F4ED">
                <a:alpha val="84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2035" y="1742122"/>
              <a:ext cx="35989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资源不是越多越好，而是互补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" y="4762500"/>
            <a:ext cx="5486400" cy="590550"/>
            <a:chOff x="723900" y="4762500"/>
            <a:chExt cx="5486400" cy="590550"/>
          </a:xfrm>
        </p:grpSpPr>
        <p:grpSp>
          <p:nvGrpSpPr>
            <p:cNvPr id="18" name="Group 18"/>
            <p:cNvGrpSpPr/>
            <p:nvPr/>
          </p:nvGrpSpPr>
          <p:grpSpPr>
            <a:xfrm>
              <a:off x="723900" y="4762500"/>
              <a:ext cx="1257300" cy="590550"/>
              <a:chOff x="723900" y="4762500"/>
              <a:chExt cx="1257300" cy="590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239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239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496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44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概念解释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133600" y="4762500"/>
              <a:ext cx="1257300" cy="590550"/>
              <a:chOff x="2133600" y="4762500"/>
              <a:chExt cx="1257300" cy="590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1336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1336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4593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导图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4641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结构梳理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543300" y="4762500"/>
              <a:ext cx="1257300" cy="590550"/>
              <a:chOff x="3543300" y="4762500"/>
              <a:chExt cx="1257300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433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35433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8690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题目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738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即时练习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953000" y="4762500"/>
              <a:ext cx="1257300" cy="590550"/>
              <a:chOff x="4953000" y="4762500"/>
              <a:chExt cx="1257300" cy="5905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9530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9530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2787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代码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2835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实践任务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362700" y="4762500"/>
            <a:ext cx="5105400" cy="590550"/>
            <a:chOff x="6362700" y="4762500"/>
            <a:chExt cx="5105400" cy="590550"/>
          </a:xfrm>
        </p:grpSpPr>
        <p:grpSp>
          <p:nvGrpSpPr>
            <p:cNvPr id="39" name="Group 39"/>
            <p:cNvGrpSpPr/>
            <p:nvPr/>
          </p:nvGrpSpPr>
          <p:grpSpPr>
            <a:xfrm>
              <a:off x="6362700" y="4762500"/>
              <a:ext cx="1257300" cy="590550"/>
              <a:chOff x="6362700" y="4762500"/>
              <a:chExt cx="1257300" cy="5905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3627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3627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88455" y="4864418"/>
                <a:ext cx="3461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PPT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932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展示材料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772400" y="4762500"/>
              <a:ext cx="1257300" cy="590550"/>
              <a:chOff x="7772400" y="4762500"/>
              <a:chExt cx="1257300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7724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7724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C4A35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0981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动画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029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过程演示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182100" y="4762500"/>
              <a:ext cx="1257300" cy="590550"/>
              <a:chOff x="9182100" y="4762500"/>
              <a:chExt cx="1257300" cy="5905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1821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1821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5078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阅读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5126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拓展资料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0591800" y="4762500"/>
              <a:ext cx="876300" cy="590550"/>
              <a:chOff x="10591800" y="4762500"/>
              <a:chExt cx="876300" cy="5905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0591800" y="4762500"/>
                <a:ext cx="876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05918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86040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视频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86516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关联推荐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723900" y="5638800"/>
            <a:ext cx="10744200" cy="361950"/>
            <a:chOff x="723900" y="5638800"/>
            <a:chExt cx="10744200" cy="361950"/>
          </a:xfrm>
        </p:grpSpPr>
        <p:sp>
          <p:nvSpPr>
            <p:cNvPr id="56" name="Rectangle 56"/>
            <p:cNvSpPr/>
            <p:nvPr/>
          </p:nvSpPr>
          <p:spPr>
            <a:xfrm>
              <a:off x="723900" y="5638800"/>
              <a:ext cx="10744200" cy="361950"/>
            </a:xfrm>
            <a:prstGeom prst="roundRect">
              <a:avLst>
                <a:gd name="adj" fmla="val 21053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60968" y="5739289"/>
              <a:ext cx="58700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同一个学习目标，同时获得“讲解 + 练习 + 实践 + 展示 + 拓展”的组合支持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9" name="TextBox 59"/>
            <p:cNvSpPr txBox="1"/>
            <p:nvPr/>
          </p:nvSpPr>
          <p:spPr>
            <a:xfrm>
              <a:off x="522922" y="6483191"/>
              <a:ext cx="1374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多模态资源生成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/>
      <p:bldP spid="55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276796" cy="718184"/>
            <a:chOff x="501015" y="372428"/>
            <a:chExt cx="8276796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2767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演示链路从注册登录走到教师视图，闭环完整可复现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学习结果会反哺错题、路径、仪表盘和助教干预，而不是停留在聊天窗口。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57300"/>
            <a:ext cx="7086600" cy="4686300"/>
            <a:chOff x="533400" y="1257300"/>
            <a:chExt cx="7086600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7086600" cy="4686300"/>
            </a:xfrm>
            <a:prstGeom prst="roundRect">
              <a:avLst>
                <a:gd name="adj" fmla="val 1626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l="6171" r="6171"/>
            <a:stretch>
              <a:fillRect/>
            </a:stretch>
          </p:blipFill>
          <p:spPr>
            <a:xfrm>
              <a:off x="723900" y="1447800"/>
              <a:ext cx="6705600" cy="430530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23900" y="1447800"/>
              <a:ext cx="6705600" cy="4305300"/>
            </a:xfrm>
            <a:prstGeom prst="rect">
              <a:avLst/>
            </a:prstGeom>
            <a:solidFill>
              <a:srgbClr val="F5F4ED">
                <a:alpha val="14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33650" y="2057400"/>
              <a:ext cx="3086100" cy="3086100"/>
            </a:xfrm>
            <a:prstGeom prst="ellipse">
              <a:avLst/>
            </a:prstGeom>
            <a:solidFill>
              <a:srgbClr val="F5F4ED">
                <a:alpha val="76000"/>
              </a:srgbClr>
            </a:solidFill>
            <a:ln w="19050">
              <a:solidFill>
                <a:srgbClr val="E8E6DC"/>
              </a:solidFill>
              <a:custDash>
                <a:ds d="400000" sp="3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3200400" y="2724150"/>
              <a:ext cx="1752600" cy="1752600"/>
            </a:xfrm>
            <a:prstGeom prst="ellipse">
              <a:avLst/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61956" y="32499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学习闭环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81350" y="36614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生成、练习、反馈、更新</a:t>
              </a:r>
              <a:endParaRPr lang="zh-CN" sz="12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209800" y="1695450"/>
            <a:ext cx="3733800" cy="3705225"/>
            <a:chOff x="2209800" y="1695450"/>
            <a:chExt cx="3733800" cy="3705225"/>
          </a:xfrm>
        </p:grpSpPr>
        <p:grpSp>
          <p:nvGrpSpPr>
            <p:cNvPr id="19" name="Group 19"/>
            <p:cNvGrpSpPr/>
            <p:nvPr/>
          </p:nvGrpSpPr>
          <p:grpSpPr>
            <a:xfrm>
              <a:off x="3714750" y="1695450"/>
              <a:ext cx="723900" cy="723900"/>
              <a:chOff x="3714750" y="1695450"/>
              <a:chExt cx="723900" cy="7239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3714750" y="1695450"/>
                <a:ext cx="723900" cy="7239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42136" y="1847850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01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23348" y="21345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画像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924425" y="2276475"/>
              <a:ext cx="723900" cy="723900"/>
              <a:chOff x="4924425" y="2276475"/>
              <a:chExt cx="723900" cy="7239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924425" y="2276475"/>
                <a:ext cx="723900" cy="723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151811" y="24288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02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133022" y="27155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219700" y="3600450"/>
              <a:ext cx="723900" cy="723900"/>
              <a:chOff x="5219700" y="3600450"/>
              <a:chExt cx="723900" cy="7239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5219700" y="3600450"/>
                <a:ext cx="723900" cy="7239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447086" y="3752850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03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428298" y="40395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测验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81500" y="4676775"/>
              <a:ext cx="723900" cy="723900"/>
              <a:chOff x="4381500" y="4676775"/>
              <a:chExt cx="723900" cy="7239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381500" y="4676775"/>
                <a:ext cx="723900" cy="723900"/>
              </a:xfrm>
              <a:prstGeom prst="ellipse">
                <a:avLst/>
              </a:prstGeom>
              <a:solidFill>
                <a:srgbClr val="C4A35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608886" y="48291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04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90098" y="51158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错题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048000" y="4676775"/>
              <a:ext cx="723900" cy="723900"/>
              <a:chOff x="3048000" y="4676775"/>
              <a:chExt cx="723900" cy="7239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3048000" y="4676775"/>
                <a:ext cx="723900" cy="72390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275386" y="48291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05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256598" y="51158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209800" y="3600450"/>
              <a:ext cx="723900" cy="723900"/>
              <a:chOff x="2209800" y="3600450"/>
              <a:chExt cx="723900" cy="7239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2209800" y="3600450"/>
                <a:ext cx="723900" cy="723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437186" y="3752850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06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18398" y="40395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评估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505075" y="2276475"/>
              <a:ext cx="723900" cy="723900"/>
              <a:chOff x="2505075" y="2276475"/>
              <a:chExt cx="723900" cy="723900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2505075" y="2276475"/>
                <a:ext cx="723900" cy="723900"/>
              </a:xfrm>
              <a:prstGeom prst="ellipse">
                <a:avLst/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732461" y="24288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07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713673" y="27155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962900" y="1257300"/>
            <a:ext cx="3695700" cy="4686300"/>
            <a:chOff x="7962900" y="1257300"/>
            <a:chExt cx="3695700" cy="4686300"/>
          </a:xfrm>
        </p:grpSpPr>
        <p:sp>
          <p:nvSpPr>
            <p:cNvPr id="45" name="Rectangle 45"/>
            <p:cNvSpPr/>
            <p:nvPr/>
          </p:nvSpPr>
          <p:spPr>
            <a:xfrm>
              <a:off x="7962900" y="1257300"/>
              <a:ext cx="3695700" cy="4686300"/>
            </a:xfrm>
            <a:prstGeom prst="roundRect">
              <a:avLst>
                <a:gd name="adj" fmla="val 2062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61985" y="15039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答辩演示脚本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9605" y="1930718"/>
              <a:ext cx="32926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以“反向传播算法”为例，跑通完整链路。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8286750" y="23431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14288">
              <a:solidFill>
                <a:srgbClr val="E8E6D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9605" y="2616518"/>
              <a:ext cx="2674620" cy="1893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登录后自然语言说明基础与目标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生成画像并触发资源计划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产出讲义、测验、代码和导图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测验结果进入错题与复习队列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5. 路径节点与学习分析自动更新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 教师视图查看班级共性问题</a:t>
              </a:r>
              <a:endParaRPr lang="zh-CN" sz="1350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86750" y="5143500"/>
              <a:ext cx="2990850" cy="438150"/>
            </a:xfrm>
            <a:prstGeom prst="roundRect">
              <a:avLst>
                <a:gd name="adj" fmla="val 1739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38779" y="5282089"/>
              <a:ext cx="34867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每个环节都有页面、数据和 Agent 事件支撑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22922" y="648319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学习闭环演示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4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990886" cy="718184"/>
            <a:chOff x="501015" y="372428"/>
            <a:chExt cx="8990886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99088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可信输出来自检索约束、引用核验和安全过滤的组合防线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系统在生成前、中、后分别约束事实、展示来源并过滤风险内容。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428750"/>
            <a:ext cx="3448050" cy="2381250"/>
            <a:chOff x="533400" y="1428750"/>
            <a:chExt cx="3448050" cy="2381250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3448050" cy="2381250"/>
            </a:xfrm>
            <a:prstGeom prst="roundRect">
              <a:avLst>
                <a:gd name="adj" fmla="val 32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428750"/>
              <a:ext cx="3448050" cy="762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62000" y="1733550"/>
              <a:ext cx="533400" cy="5334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95350" y="18669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133350"/>
                  </a:lnTo>
                  <a:moveTo>
                    <a:pt x="133350" y="0"/>
                  </a:moveTo>
                  <a:lnTo>
                    <a:pt x="133350" y="266700"/>
                  </a:lnTo>
                  <a:moveTo>
                    <a:pt x="38100" y="38100"/>
                  </a:moveTo>
                  <a:lnTo>
                    <a:pt x="228600" y="228600"/>
                  </a:lnTo>
                  <a:moveTo>
                    <a:pt x="228600" y="38100"/>
                  </a:moveTo>
                  <a:lnTo>
                    <a:pt x="38100" y="2286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43990" y="1758315"/>
              <a:ext cx="20493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生成前：RAG 优先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0105" y="2426018"/>
              <a:ext cx="2348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先从课程 Wiki 检索相关片段，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再由 Agent 组织讲解与题目。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3257550"/>
              <a:ext cx="27241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6D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30803" y="335518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减少“凭空编教材”的空间</a:t>
              </a:r>
              <a:endParaRPr lang="zh-CN" sz="112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71975" y="1428750"/>
            <a:ext cx="3448050" cy="2381250"/>
            <a:chOff x="4371975" y="1428750"/>
            <a:chExt cx="3448050" cy="2381250"/>
          </a:xfrm>
        </p:grpSpPr>
        <p:sp>
          <p:nvSpPr>
            <p:cNvPr id="17" name="Rectangle 17"/>
            <p:cNvSpPr/>
            <p:nvPr/>
          </p:nvSpPr>
          <p:spPr>
            <a:xfrm>
              <a:off x="4371975" y="1428750"/>
              <a:ext cx="3448050" cy="2381250"/>
            </a:xfrm>
            <a:prstGeom prst="roundRect">
              <a:avLst>
                <a:gd name="adj" fmla="val 32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71975" y="1428750"/>
              <a:ext cx="3448050" cy="762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600575" y="1733550"/>
              <a:ext cx="533400" cy="533400"/>
            </a:xfrm>
            <a:prstGeom prst="ellipse">
              <a:avLst/>
            </a:prstGeom>
            <a:solidFill>
              <a:srgbClr val="6B8E6B">
                <a:alpha val="12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743450" y="1924050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0" y="0"/>
                  </a:moveTo>
                  <a:lnTo>
                    <a:pt x="228600" y="0"/>
                  </a:lnTo>
                  <a:lnTo>
                    <a:pt x="228600" y="171450"/>
                  </a:lnTo>
                  <a:lnTo>
                    <a:pt x="0" y="171450"/>
                  </a:lnTo>
                  <a:close/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800600" y="1981200"/>
              <a:ext cx="133350" cy="57150"/>
            </a:xfrm>
            <a:custGeom>
              <a:avLst/>
              <a:gdLst/>
              <a:ahLst/>
              <a:cxnLst/>
              <a:rect l="l" t="t" r="r" b="b"/>
              <a:pathLst>
                <a:path w="133350" h="57150">
                  <a:moveTo>
                    <a:pt x="0" y="0"/>
                  </a:moveTo>
                  <a:lnTo>
                    <a:pt x="114300" y="0"/>
                  </a:lnTo>
                  <a:moveTo>
                    <a:pt x="0" y="57150"/>
                  </a:moveTo>
                  <a:lnTo>
                    <a:pt x="133350" y="571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6B8E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2565" y="1758315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生成中：引用核验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78680" y="2426018"/>
              <a:ext cx="2691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资源携带 sources、confidence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和来源片段，便于回到 Wiki 核对。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95825" y="3257550"/>
              <a:ext cx="27241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6D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34774" y="3355181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低置信内容显式提示</a:t>
              </a:r>
              <a:endParaRPr lang="zh-CN" sz="112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10550" y="1428750"/>
            <a:ext cx="3448050" cy="2381250"/>
            <a:chOff x="8210550" y="1428750"/>
            <a:chExt cx="3448050" cy="2381250"/>
          </a:xfrm>
        </p:grpSpPr>
        <p:sp>
          <p:nvSpPr>
            <p:cNvPr id="27" name="Rectangle 27"/>
            <p:cNvSpPr/>
            <p:nvPr/>
          </p:nvSpPr>
          <p:spPr>
            <a:xfrm>
              <a:off x="8210550" y="1428750"/>
              <a:ext cx="3448050" cy="2381250"/>
            </a:xfrm>
            <a:prstGeom prst="roundRect">
              <a:avLst>
                <a:gd name="adj" fmla="val 32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10550" y="1428750"/>
              <a:ext cx="3448050" cy="7620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439150" y="1733550"/>
              <a:ext cx="533400" cy="533400"/>
            </a:xfrm>
            <a:prstGeom prst="ellipse">
              <a:avLst/>
            </a:prstGeom>
            <a:solidFill>
              <a:srgbClr val="C96442">
                <a:alpha val="12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572500" y="1847850"/>
              <a:ext cx="266700" cy="400050"/>
            </a:xfrm>
            <a:custGeom>
              <a:avLst/>
              <a:gdLst/>
              <a:ahLst/>
              <a:cxnLst/>
              <a:rect l="l" t="t" r="r" b="b"/>
              <a:pathLst>
                <a:path w="266700" h="400050">
                  <a:moveTo>
                    <a:pt x="0" y="57150"/>
                  </a:moveTo>
                  <a:lnTo>
                    <a:pt x="133350" y="0"/>
                  </a:lnTo>
                  <a:lnTo>
                    <a:pt x="266700" y="57150"/>
                  </a:lnTo>
                  <a:lnTo>
                    <a:pt x="266700" y="190500"/>
                  </a:lnTo>
                  <a:cubicBezTo>
                    <a:pt x="266700" y="304800"/>
                    <a:pt x="190500" y="361950"/>
                    <a:pt x="133350" y="400050"/>
                  </a:cubicBezTo>
                  <a:cubicBezTo>
                    <a:pt x="76200" y="361950"/>
                    <a:pt x="0" y="304800"/>
                    <a:pt x="0" y="190500"/>
                  </a:cubicBezTo>
                  <a:close/>
                </a:path>
              </a:pathLst>
            </a:custGeom>
            <a:noFill/>
            <a:ln w="28575">
              <a:solidFill>
                <a:srgbClr val="C9644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629650" y="197167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>
              <a:solidFill>
                <a:srgbClr val="C9644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21140" y="1758315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生成后：安全过滤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17255" y="2426018"/>
              <a:ext cx="2263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讯飞安全护栏与本地规则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共同拦截风险和不合规内容。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34400" y="3257550"/>
              <a:ext cx="27241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6D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52109" y="3355181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教学场景安全可控</a:t>
              </a:r>
              <a:endParaRPr lang="zh-CN" sz="112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4248150"/>
            <a:ext cx="11125200" cy="1447800"/>
            <a:chOff x="533400" y="4248150"/>
            <a:chExt cx="11125200" cy="1447800"/>
          </a:xfrm>
        </p:grpSpPr>
        <p:sp>
          <p:nvSpPr>
            <p:cNvPr id="37" name="Rectangle 37"/>
            <p:cNvSpPr/>
            <p:nvPr/>
          </p:nvSpPr>
          <p:spPr>
            <a:xfrm>
              <a:off x="533400" y="4248150"/>
              <a:ext cx="11125200" cy="1447800"/>
            </a:xfrm>
            <a:prstGeom prst="roundRect">
              <a:avLst>
                <a:gd name="adj" fmla="val 5263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1535" y="44948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自动评测基线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0108" y="4891564"/>
              <a:ext cx="50480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离线 eval 覆盖画像抽取、路由、RAG 命中、题目结构和内容安全。</a:t>
              </a:r>
              <a:endParaRPr lang="zh-CN" sz="12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76300" y="5314950"/>
              <a:ext cx="10115550" cy="326231"/>
              <a:chOff x="876300" y="5314950"/>
              <a:chExt cx="10115550" cy="326231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763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3184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画像抽取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25908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0329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路由判断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3053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751436" y="5412581"/>
                <a:ext cx="6507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 命中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60198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4619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题目结构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7343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1764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内容安全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94488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8909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结构质量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22922" y="6483191"/>
              <a:ext cx="11540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可信与安全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6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7205662" cy="718184"/>
            <a:chOff x="501015" y="372428"/>
            <a:chExt cx="7205662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72056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工程实现围绕可运行、可观测、可回退来设计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858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流式体验、并行生成、资源导出和 Agent 可观测让系统具备演示稳定性。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352550"/>
            <a:ext cx="3409950" cy="1428750"/>
            <a:chOff x="533400" y="1352550"/>
            <a:chExt cx="3409950" cy="1428750"/>
          </a:xfrm>
        </p:grpSpPr>
        <p:sp>
          <p:nvSpPr>
            <p:cNvPr id="8" name="Rectangle 8"/>
            <p:cNvSpPr/>
            <p:nvPr/>
          </p:nvSpPr>
          <p:spPr>
            <a:xfrm>
              <a:off x="533400" y="1352550"/>
              <a:ext cx="3409950" cy="1428750"/>
            </a:xfrm>
            <a:prstGeom prst="roundRect">
              <a:avLst>
                <a:gd name="adj" fmla="val 53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811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2505" y="16449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Streaming UX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9645" y="19078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65C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SSE</a:t>
              </a:r>
              <a:endParaRPr lang="zh-CN" sz="3150" b="1" dirty="0">
                <a:solidFill>
                  <a:srgbClr val="1565C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410" y="2404110"/>
              <a:ext cx="28068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避免白屏等待，逐步展示 Agent 输出。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352550"/>
            <a:ext cx="3409950" cy="1428750"/>
            <a:chOff x="4381500" y="1352550"/>
            <a:chExt cx="3409950" cy="14287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352550"/>
              <a:ext cx="3409950" cy="1428750"/>
            </a:xfrm>
            <a:prstGeom prst="roundRect">
              <a:avLst>
                <a:gd name="adj" fmla="val 53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10100" y="15811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40605" y="1644968"/>
              <a:ext cx="1537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Resource Pipeline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17745" y="1907858"/>
              <a:ext cx="962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并行</a:t>
              </a:r>
              <a:endParaRPr lang="zh-CN" sz="3150" b="1" dirty="0">
                <a:solidFill>
                  <a:srgbClr val="6B8E6B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2510" y="24041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讲义、题目、代码和媒体可分工产出。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0" y="1352550"/>
            <a:ext cx="3429000" cy="1428750"/>
            <a:chOff x="8229600" y="1352550"/>
            <a:chExt cx="3429000" cy="1428750"/>
          </a:xfrm>
        </p:grpSpPr>
        <p:sp>
          <p:nvSpPr>
            <p:cNvPr id="20" name="Rectangle 20"/>
            <p:cNvSpPr/>
            <p:nvPr/>
          </p:nvSpPr>
          <p:spPr>
            <a:xfrm>
              <a:off x="8229600" y="13525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458200" y="15811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8705" y="1644968"/>
              <a:ext cx="10784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Trace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5845" y="1907858"/>
              <a:ext cx="140317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可观测</a:t>
              </a:r>
              <a:endParaRPr lang="zh-CN" sz="3150" b="1" dirty="0">
                <a:solidFill>
                  <a:srgbClr val="C9644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0610" y="24041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节点耗时、输入输出、置信度可追踪。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3105150"/>
            <a:ext cx="5429250" cy="2457450"/>
            <a:chOff x="533400" y="3105150"/>
            <a:chExt cx="5429250" cy="2457450"/>
          </a:xfrm>
        </p:grpSpPr>
        <p:sp>
          <p:nvSpPr>
            <p:cNvPr id="26" name="Rectangle 26"/>
            <p:cNvSpPr/>
            <p:nvPr/>
          </p:nvSpPr>
          <p:spPr>
            <a:xfrm>
              <a:off x="533400" y="3105150"/>
              <a:ext cx="5429250" cy="2457450"/>
            </a:xfrm>
            <a:prstGeom prst="roundRect">
              <a:avLst>
                <a:gd name="adj" fmla="val 310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1535" y="33708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实现栈与边界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250" y="3767138"/>
              <a:ext cx="3977640" cy="1245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前端：Next.js / React / TypeScript / Tailwind</a:t>
              </a:r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后端：FastAPI / SQLAlchemy / LangGraph数据：PostgreSQL 或 SQLite、Redis、MinIO 适配</a:t>
              </a:r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模型：讯飞星火为主，开发模式可回退模拟内容</a:t>
              </a:r>
              <a:endParaRPr lang="zh-CN" sz="12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" y="5105400"/>
              <a:ext cx="4191000" cy="285750"/>
            </a:xfrm>
            <a:prstGeom prst="roundRect">
              <a:avLst>
                <a:gd name="adj" fmla="val 26667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61790" y="5192078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范围清晰：只新增演示材料，不改业务代码</a:t>
              </a:r>
              <a:endParaRPr lang="zh-CN" sz="10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343650" y="3105150"/>
            <a:ext cx="5314950" cy="2457450"/>
            <a:chOff x="6343650" y="3105150"/>
            <a:chExt cx="5314950" cy="2457450"/>
          </a:xfrm>
        </p:grpSpPr>
        <p:sp>
          <p:nvSpPr>
            <p:cNvPr id="32" name="Rectangle 32"/>
            <p:cNvSpPr/>
            <p:nvPr/>
          </p:nvSpPr>
          <p:spPr>
            <a:xfrm>
              <a:off x="6343650" y="3105150"/>
              <a:ext cx="5314950" cy="2457450"/>
            </a:xfrm>
            <a:prstGeom prst="roundRect">
              <a:avLst>
                <a:gd name="adj" fmla="val 3101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61785" y="337089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演示稳定性的三个设计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800850" y="4000500"/>
              <a:ext cx="3642360" cy="280988"/>
              <a:chOff x="6800850" y="4000500"/>
              <a:chExt cx="3642360" cy="28098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800850" y="4000500"/>
                <a:ext cx="190500" cy="190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126605" y="40071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资源局部重生成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52510" y="402336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失败只影响单一资源卡。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800850" y="4533900"/>
              <a:ext cx="3467100" cy="280988"/>
              <a:chOff x="6800850" y="4533900"/>
              <a:chExt cx="3467100" cy="280988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800850" y="4533900"/>
                <a:ext cx="190500" cy="1905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126605" y="4540568"/>
                <a:ext cx="145196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PPTX 与动画导出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57310" y="455676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成果可离线提交。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800850" y="5067300"/>
              <a:ext cx="3627120" cy="280988"/>
              <a:chOff x="6800850" y="5067300"/>
              <a:chExt cx="3627120" cy="280988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00850" y="5067300"/>
                <a:ext cx="190500" cy="1905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126605" y="507396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自动评测与本地规则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57310" y="5090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降低演示偶发风险。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48319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工程实现亮点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5" grpId="0"/>
      <p:bldP spid="31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991600" y="57150"/>
              <a:ext cx="2400300" cy="2400300"/>
            </a:xfrm>
            <a:prstGeom prst="ellipse">
              <a:avLst/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" y="4191000"/>
              <a:ext cx="2857500" cy="2857500"/>
            </a:xfrm>
            <a:prstGeom prst="ellipse">
              <a:avLst/>
            </a:prstGeom>
            <a:solidFill>
              <a:srgbClr val="C96442">
                <a:alpha val="7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9347930" cy="718184"/>
            <a:chOff x="501015" y="372428"/>
            <a:chExt cx="9347930" cy="71818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7242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创新点不是多一个聊天窗口，而是重构学习资源的生产方式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16292"/>
              <a:ext cx="61100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将知识、画像、Agent 和评估组合为可持续演化的学习操作系统。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8675" y="1841182"/>
            <a:ext cx="11040428" cy="2426018"/>
            <a:chOff x="828675" y="1841182"/>
            <a:chExt cx="11040428" cy="2426018"/>
          </a:xfrm>
        </p:grpSpPr>
        <p:sp>
          <p:nvSpPr>
            <p:cNvPr id="10" name="TextBox 10"/>
            <p:cNvSpPr txBox="1"/>
            <p:nvPr/>
          </p:nvSpPr>
          <p:spPr>
            <a:xfrm>
              <a:off x="855345" y="18411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过去</a:t>
              </a:r>
              <a:endParaRPr lang="zh-CN" sz="1650" b="1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8675" y="2262188"/>
              <a:ext cx="21955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单轮问答</a:t>
              </a:r>
              <a:endParaRPr lang="zh-CN" sz="37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4398" y="2992279"/>
              <a:ext cx="3440430" cy="6438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回答一次，学习状态不被理解；</a:t>
              </a: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内容生成后，难以沉淀、评估和协同。</a:t>
              </a:r>
              <a:endParaRPr lang="zh-CN" sz="15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724400" y="3048000"/>
              <a:ext cx="2971800" cy="1219200"/>
            </a:xfrm>
            <a:custGeom>
              <a:avLst/>
              <a:gdLst/>
              <a:ahLst/>
              <a:cxnLst/>
              <a:rect l="l" t="t" r="r" b="b"/>
              <a:pathLst>
                <a:path w="2971800" h="1219200">
                  <a:moveTo>
                    <a:pt x="0" y="304800"/>
                  </a:moveTo>
                  <a:lnTo>
                    <a:pt x="2038350" y="304800"/>
                  </a:lnTo>
                  <a:lnTo>
                    <a:pt x="2038350" y="0"/>
                  </a:lnTo>
                  <a:lnTo>
                    <a:pt x="2971800" y="609600"/>
                  </a:lnTo>
                  <a:lnTo>
                    <a:pt x="2038350" y="1219200"/>
                  </a:lnTo>
                  <a:lnTo>
                    <a:pt x="20383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C964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7161" y="3552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升级为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89595" y="18411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现在</a:t>
              </a:r>
              <a:endParaRPr lang="zh-CN" sz="1650" b="1" dirty="0">
                <a:solidFill>
                  <a:srgbClr val="C9644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62925" y="2262188"/>
              <a:ext cx="21955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学习中枢</a:t>
              </a:r>
              <a:endParaRPr lang="zh-CN" sz="37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8648" y="2992279"/>
              <a:ext cx="3640455" cy="6438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先理解学生，再组织知识与资源；</a:t>
              </a: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测验、错题、路径和教师视图持续回流。</a:t>
              </a:r>
              <a:endParaRPr lang="zh-CN" sz="15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4714875"/>
            <a:ext cx="10363200" cy="671513"/>
            <a:chOff x="914400" y="4714875"/>
            <a:chExt cx="10363200" cy="671513"/>
          </a:xfrm>
        </p:grpSpPr>
        <p:sp>
          <p:nvSpPr>
            <p:cNvPr id="19" name="Line 19"/>
            <p:cNvSpPr/>
            <p:nvPr/>
          </p:nvSpPr>
          <p:spPr>
            <a:xfrm>
              <a:off x="914400" y="4810125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905000" y="4714875"/>
              <a:ext cx="190500" cy="190500"/>
            </a:xfrm>
            <a:prstGeom prst="ellipse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533900" y="47148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162800" y="4714875"/>
              <a:ext cx="190500" cy="1905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791700" y="4714875"/>
              <a:ext cx="190500" cy="190500"/>
            </a:xfrm>
            <a:prstGeom prst="ellipse">
              <a:avLst/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16034" y="5112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学生侧个性化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39446" y="5112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教师侧洞察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8346" y="5112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知识侧沉淀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7246" y="5112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工程侧扩展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00300" y="5734050"/>
            <a:ext cx="7391400" cy="476250"/>
            <a:chOff x="2400300" y="5734050"/>
            <a:chExt cx="7391400" cy="476250"/>
          </a:xfrm>
        </p:grpSpPr>
        <p:sp>
          <p:nvSpPr>
            <p:cNvPr id="29" name="Rectangle 29"/>
            <p:cNvSpPr/>
            <p:nvPr/>
          </p:nvSpPr>
          <p:spPr>
            <a:xfrm>
              <a:off x="2400300" y="5734050"/>
              <a:ext cx="7391400" cy="476250"/>
            </a:xfrm>
            <a:prstGeom prst="roundRect">
              <a:avLst>
                <a:gd name="adj" fmla="val 16000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62701" y="5885021"/>
              <a:ext cx="406659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从“生成一段答案”升级为“运营一段学习过程”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2" name="TextBox 32"/>
            <p:cNvSpPr txBox="1"/>
            <p:nvPr/>
          </p:nvSpPr>
          <p:spPr>
            <a:xfrm>
              <a:off x="522922" y="648319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创新价值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169683" cy="718184"/>
            <a:chOff x="501015" y="372428"/>
            <a:chExt cx="8169683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16968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EduAgent 已覆盖核心要求，并保留清晰的增强路径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6362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当前系统可完整展示比赛核心链路，后续可增强视频导出、OCR 和生产级存储。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1295400"/>
            <a:ext cx="7284243" cy="4191000"/>
            <a:chOff x="533400" y="1295400"/>
            <a:chExt cx="7284243" cy="4191000"/>
          </a:xfrm>
        </p:grpSpPr>
        <p:sp>
          <p:nvSpPr>
            <p:cNvPr id="8" name="Rectangle 8"/>
            <p:cNvSpPr/>
            <p:nvPr/>
          </p:nvSpPr>
          <p:spPr>
            <a:xfrm>
              <a:off x="533400" y="1295400"/>
              <a:ext cx="6953250" cy="4191000"/>
            </a:xfrm>
            <a:prstGeom prst="roundRect">
              <a:avLst>
                <a:gd name="adj" fmla="val 1818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485" y="15230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比赛需求覆盖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57250" y="2000250"/>
              <a:ext cx="6229350" cy="361950"/>
              <a:chOff x="857250" y="2000250"/>
              <a:chExt cx="6229350" cy="3619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57250" y="2000250"/>
                <a:ext cx="622935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47762" y="21169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要求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05412" y="21169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状态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138862" y="21169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证据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145858" y="2457450"/>
              <a:ext cx="6671785" cy="311944"/>
              <a:chOff x="1145858" y="2457450"/>
              <a:chExt cx="6671785" cy="31194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145858" y="251031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多智能体协同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048250" y="245745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221272" y="25346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38862" y="2526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LangGraph + 9 类 Agent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857250" y="28765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145858" y="2971800"/>
              <a:ext cx="5899189" cy="311944"/>
              <a:chOff x="1145858" y="2971800"/>
              <a:chExt cx="5899189" cy="3119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145858" y="3024664"/>
                <a:ext cx="158807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不少于 6 维学生画像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048250" y="297180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221272" y="30489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38862" y="304085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 维动态画像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857250" y="33909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145858" y="3486150"/>
              <a:ext cx="5899189" cy="311944"/>
              <a:chOff x="1145858" y="3486150"/>
              <a:chExt cx="5899189" cy="31194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145858" y="3539014"/>
                <a:ext cx="13670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类以上学习资源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048250" y="348615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221272" y="35633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138862" y="35552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 类资源生成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857250" y="39052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145858" y="4000500"/>
              <a:ext cx="6206727" cy="311944"/>
              <a:chOff x="1145858" y="4000500"/>
              <a:chExt cx="6206727" cy="311944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1145858" y="405336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个性化路径与辅导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048250" y="400050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221272" y="40776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38862" y="406955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路径服务 + Tutor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857250" y="44196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145858" y="4514850"/>
              <a:ext cx="6371748" cy="311944"/>
              <a:chOff x="1145858" y="4514850"/>
              <a:chExt cx="6371748" cy="311944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1145858" y="456771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学习效果评估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048250" y="451485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221272" y="45920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138862" y="4583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测验、错题、仪表盘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857250" y="49339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145858" y="5029200"/>
              <a:ext cx="6386750" cy="311944"/>
              <a:chOff x="1145858" y="5029200"/>
              <a:chExt cx="6386750" cy="311944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1145858" y="508206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防幻觉与安全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5048250" y="502920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221272" y="51063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138862" y="5098256"/>
                <a:ext cx="139374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 引用 + 安全护栏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7829550" y="1295400"/>
            <a:ext cx="3829050" cy="4191000"/>
            <a:chOff x="7829550" y="1295400"/>
            <a:chExt cx="3829050" cy="4191000"/>
          </a:xfrm>
        </p:grpSpPr>
        <p:sp>
          <p:nvSpPr>
            <p:cNvPr id="51" name="Rectangle 51"/>
            <p:cNvSpPr/>
            <p:nvPr/>
          </p:nvSpPr>
          <p:spPr>
            <a:xfrm>
              <a:off x="7829550" y="1295400"/>
              <a:ext cx="3829050" cy="4191000"/>
            </a:xfrm>
            <a:prstGeom prst="roundRect">
              <a:avLst>
                <a:gd name="adj" fmla="val 1990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47685" y="15420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后续增强路径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277225" y="2216468"/>
              <a:ext cx="2747962" cy="500538"/>
              <a:chOff x="8277225" y="2216468"/>
              <a:chExt cx="2747962" cy="500538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8277225" y="2219325"/>
                <a:ext cx="171450" cy="17145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593455" y="22164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完整视频导出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596312" y="248840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动画、字幕、旁白包进一步自动化。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277225" y="3016568"/>
              <a:ext cx="2747962" cy="500538"/>
              <a:chOff x="8277225" y="3016568"/>
              <a:chExt cx="2747962" cy="500538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8277225" y="3019425"/>
                <a:ext cx="171450" cy="1714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593455" y="3016568"/>
                <a:ext cx="17638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OCR 与资料解析增强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596312" y="328850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覆盖更多课件、扫描件和手写题型。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8277225" y="3816668"/>
              <a:ext cx="2597943" cy="500538"/>
              <a:chOff x="8277225" y="3816668"/>
              <a:chExt cx="2597943" cy="500538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8277225" y="3819525"/>
                <a:ext cx="171450" cy="17145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593455" y="38166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生产级对象存储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596312" y="40886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大班级、多课程场景下稳定扩展。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65" name="Rectangle 65"/>
            <p:cNvSpPr/>
            <p:nvPr/>
          </p:nvSpPr>
          <p:spPr>
            <a:xfrm>
              <a:off x="8172450" y="4762500"/>
              <a:ext cx="304800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41340" y="4882039"/>
              <a:ext cx="27102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答辩主张：系统已可演示核心闭环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22922" y="6483191"/>
              <a:ext cx="8240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总结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14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</Words>
  <Application>WPS 演示</Application>
  <PresentationFormat>On-screen Show (16:9)</PresentationFormat>
  <Paragraphs>602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黑体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魏康康</cp:lastModifiedBy>
  <cp:revision>2</cp:revision>
  <dcterms:created xsi:type="dcterms:W3CDTF">2026-06-12T06:42:00Z</dcterms:created>
  <dcterms:modified xsi:type="dcterms:W3CDTF">2026-06-12T07:36:23Z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2DF59BE64CB14B1B9D12865E522F93D6_12</vt:lpwstr>
  </property>
  <property fmtid="{D5CDD505-2E9C-101B-9397-08002B2CF9AE}" pid="3" name="KSOProductBuildVer">
    <vt:lpwstr>2052-12.1.0.22529</vt:lpwstr>
  </property>
</Properties>
</file>